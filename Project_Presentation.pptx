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FFFFFF"/>
                </a:solidFill>
                <a:latin typeface="Arial"/>
              </a:defRPr>
            </a:pPr>
            <a:r>
              <a:rPr sz="1100" b="0" i="0" u="none" strike="noStrike">
                <a:solidFill>
                  <a:srgbClr val="FFFFFF"/>
                </a:solidFill>
                <a:latin typeface="Arial"/>
              </a:rPr>
              <a:t>Recall vs Threshold Trade-off</a:t>
            </a:r>
          </a:p>
        </c:rich>
      </c:tx>
      <c:layout/>
      <c:overlay val="0"/>
    </c:title>
    <c:autoTitleDeleted val="0"/>
    <c:plotArea>
      <c:layout/>
      <c:lineChart>
        <c:varyColors val="0"/>
        <c:ser>
          <c:idx val="0"/>
          <c:order val="0"/>
          <c:tx>
            <c:strRef>
              <c:f>Sheet1!$B$1</c:f>
              <c:strCache>
                <c:ptCount val="1"/>
                <c:pt idx="0">
                  <c:v>Attack Recall (%)</c:v>
                </c:pt>
              </c:strCache>
            </c:strRef>
          </c:tx>
          <c:spPr>
            <a:solidFill>
              <a:srgbClr val="FF6B35"/>
            </a:solidFill>
            <a:ln w="31750" cap="flat">
              <a:solidFill>
                <a:srgbClr val="FF6B3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6B35"/>
              </a:solidFill>
              <a:ln w="9525" cap="flat">
                <a:solidFill>
                  <a:srgbClr val="FF6B35"/>
                </a:solidFill>
                <a:prstDash val="solid"/>
                <a:round/>
              </a:ln>
              <a:effectLst/>
            </c:spPr>
          </c:marker>
          <c:cat>
            <c:multiLvlStrRef>
              <c:f>Sheet1!$A$2:$A$7</c:f>
              <c:multiLvlStrCache>
                <c:ptCount val="6"/>
                <c:lvl>
                  <c:pt idx="0">
                    <c:v>80%</c:v>
                  </c:pt>
                  <c:pt idx="1">
                    <c:v>85%</c:v>
                  </c:pt>
                  <c:pt idx="2">
                    <c:v>90%</c:v>
                  </c:pt>
                  <c:pt idx="3">
                    <c:v>95%</c:v>
                  </c:pt>
                  <c:pt idx="4">
                    <c:v>98%</c:v>
                  </c:pt>
                  <c:pt idx="5">
                    <c:v>99%</c:v>
                  </c:pt>
                </c:lvl>
              </c:multiLvlStrCache>
            </c:multiLvlStrRef>
          </c:cat>
          <c:val>
            <c:numRef>
              <c:f>Sheet1!$B$2:$B$7</c:f>
              <c:numCache>
                <c:formatCode>General</c:formatCode>
                <c:ptCount val="6"/>
                <c:pt idx="0">
                  <c:v>98</c:v>
                </c:pt>
                <c:pt idx="1">
                  <c:v>96</c:v>
                </c:pt>
                <c:pt idx="2">
                  <c:v>93</c:v>
                </c:pt>
                <c:pt idx="3">
                  <c:v>88</c:v>
                </c:pt>
                <c:pt idx="4">
                  <c:v>80</c:v>
                </c:pt>
                <c:pt idx="5">
                  <c:v>72</c:v>
                </c:pt>
              </c:numCache>
            </c:numRef>
          </c:val>
          <c:smooth val="1"/>
        </c:ser>
        <c:ser>
          <c:idx val="1"/>
          <c:order val="1"/>
          <c:tx>
            <c:strRef>
              <c:f>Sheet1!$C$1</c:f>
              <c:strCache>
                <c:ptCount val="1"/>
                <c:pt idx="0">
                  <c:v>Normal Recall (%)</c:v>
                </c:pt>
              </c:strCache>
            </c:strRef>
          </c:tx>
          <c:spPr>
            <a:solidFill>
              <a:srgbClr val="00FF9D"/>
            </a:solidFill>
            <a:ln w="31750" cap="flat">
              <a:solidFill>
                <a:srgbClr val="00FF9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FF9D"/>
              </a:solidFill>
              <a:ln w="9525" cap="flat">
                <a:solidFill>
                  <a:srgbClr val="00FF9D"/>
                </a:solidFill>
                <a:prstDash val="solid"/>
                <a:round/>
              </a:ln>
              <a:effectLst/>
            </c:spPr>
          </c:marker>
          <c:cat>
            <c:multiLvlStrRef>
              <c:f>Sheet1!$A$2:$A$7</c:f>
              <c:multiLvlStrCache>
                <c:ptCount val="6"/>
                <c:lvl>
                  <c:pt idx="0">
                    <c:v>80%</c:v>
                  </c:pt>
                  <c:pt idx="1">
                    <c:v>85%</c:v>
                  </c:pt>
                  <c:pt idx="2">
                    <c:v>90%</c:v>
                  </c:pt>
                  <c:pt idx="3">
                    <c:v>95%</c:v>
                  </c:pt>
                  <c:pt idx="4">
                    <c:v>98%</c:v>
                  </c:pt>
                  <c:pt idx="5">
                    <c:v>99%</c:v>
                  </c:pt>
                </c:lvl>
              </c:multiLvlStrCache>
            </c:multiLvlStrRef>
          </c:cat>
          <c:val>
            <c:numRef>
              <c:f>Sheet1!$C$2:$C$7</c:f>
              <c:numCache>
                <c:formatCode>General</c:formatCode>
                <c:ptCount val="6"/>
                <c:pt idx="0">
                  <c:v>72</c:v>
                </c:pt>
                <c:pt idx="1">
                  <c:v>78</c:v>
                </c:pt>
                <c:pt idx="2">
                  <c:v>84</c:v>
                </c:pt>
                <c:pt idx="3">
                  <c:v>90</c:v>
                </c:pt>
                <c:pt idx="4">
                  <c:v>95</c:v>
                </c:pt>
                <c:pt idx="5">
                  <c:v>97</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6350" cap="flat">
              <a:solidFill>
                <a:srgbClr val="1A3A5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111C35"/>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the project: detecting ARP Man-in-the-Middle attacks using the Kitsune unsupervised ML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ARP poisoning works: attacker broadcasts fake ARP replies, mapping their MAC to a legitimate IP, intercepting traffic. Traditional signature-based systems fail because the attack looks like normal network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objective. Emphasize that this is an unsupervised approach — no attack data needed during training. The 115 features per packet is a key technical requirement of the Kitsune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Kitsune was published at NDSS 2018 and is unique in that it only needs normal traffic to learn. The ensemble of autoencoders each handle subsets of features. High reconstruction error flags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5-stage pipeline. Packets are captured, features extracted via TShark, preprocessed to 115 features, fed into Kitsune for training/evaluation, and scored against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Key technical steps: TShark parses packets to CSV, zero-padding ensures exactly 115 features, MinMaxScaler normalizes to [0,1], model trained on benign only, full dataset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combination of tools. TShark does the heavy lifting for feature extraction. The Kitsune framework does the ML. Python/Pandas/NumPy handle data wrangling. Google Colab provides GPU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concept briefly. The key insight: autoencoders learn a compressed representation of normal traffic. When attack traffic is passed through, the reconstruction is poor, yielding a high anomaly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Kitsune to alternatives: supervised classifiers need labeled attack data (hard to get), deep learning models are heavy (Kitsune is lightweight), signature-based IDS miss new attacks (Kitsune detects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uses ONLY benign traffic — no attack samples. Evaluation uses the FULL dataset (both normal and attack). The trained scaler is applied to evaluation data. Threshold determines the cutoff for anomaly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 is the quantile of training scores above which a sample is flagged as anomalous. Lower quantile = more sensitive = more false positives. Higher = fewer false positives but may miss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 plot is the most important visual. It shows that attack traffic scores cluster in the 0.6-0.99 range while normal traffic is in 0.01-0.38. The overlap region (0.38-0.62) is where threshold tuning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challenges. Most time was spent on data preprocessing — getting exactly 115 features. Colab dependency issues were frustrating but solved with careful version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project proved that unsupervised anomaly detection with Kitsune is viable for detecting ARP MitM attacks. Future work includes testing on more attack types and real-time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[3] is the core academic paper. References [8] and [9] are AI tools used as assistants during development. All implementation decisions were made by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about AI usage. Used as assistants, not to replace thinking. All architecture decisions, implementation, and final verification were done by the team. Prompts are documented as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1A2A4A"/>
            </a:solidFill>
            <a:prstDash val="solid"/>
          </a:ln>
        </p:spPr>
      </p:sp>
      <p:sp>
        <p:nvSpPr>
          <p:cNvPr id="3" name="Shape 1"/>
          <p:cNvSpPr/>
          <p:nvPr/>
        </p:nvSpPr>
        <p:spPr>
          <a:xfrm>
            <a:off x="502920" y="0"/>
            <a:ext cx="0" cy="5143500"/>
          </a:xfrm>
          <a:prstGeom prst="line">
            <a:avLst/>
          </a:prstGeom>
          <a:noFill/>
          <a:ln w="6350">
            <a:solidFill>
              <a:srgbClr val="1A2A4A"/>
            </a:solidFill>
            <a:prstDash val="solid"/>
          </a:ln>
        </p:spPr>
      </p:sp>
      <p:sp>
        <p:nvSpPr>
          <p:cNvPr id="4" name="Shape 2"/>
          <p:cNvSpPr/>
          <p:nvPr/>
        </p:nvSpPr>
        <p:spPr>
          <a:xfrm>
            <a:off x="1005840" y="0"/>
            <a:ext cx="0" cy="5143500"/>
          </a:xfrm>
          <a:prstGeom prst="line">
            <a:avLst/>
          </a:prstGeom>
          <a:noFill/>
          <a:ln w="6350">
            <a:solidFill>
              <a:srgbClr val="1A2A4A"/>
            </a:solidFill>
            <a:prstDash val="solid"/>
          </a:ln>
        </p:spPr>
      </p:sp>
      <p:sp>
        <p:nvSpPr>
          <p:cNvPr id="5" name="Shape 3"/>
          <p:cNvSpPr/>
          <p:nvPr/>
        </p:nvSpPr>
        <p:spPr>
          <a:xfrm>
            <a:off x="1508760" y="0"/>
            <a:ext cx="0" cy="5143500"/>
          </a:xfrm>
          <a:prstGeom prst="line">
            <a:avLst/>
          </a:prstGeom>
          <a:noFill/>
          <a:ln w="6350">
            <a:solidFill>
              <a:srgbClr val="1A2A4A"/>
            </a:solidFill>
            <a:prstDash val="solid"/>
          </a:ln>
        </p:spPr>
      </p:sp>
      <p:sp>
        <p:nvSpPr>
          <p:cNvPr id="6" name="Shape 4"/>
          <p:cNvSpPr/>
          <p:nvPr/>
        </p:nvSpPr>
        <p:spPr>
          <a:xfrm>
            <a:off x="2011680" y="0"/>
            <a:ext cx="0" cy="5143500"/>
          </a:xfrm>
          <a:prstGeom prst="line">
            <a:avLst/>
          </a:prstGeom>
          <a:noFill/>
          <a:ln w="6350">
            <a:solidFill>
              <a:srgbClr val="1A2A4A"/>
            </a:solidFill>
            <a:prstDash val="solid"/>
          </a:ln>
        </p:spPr>
      </p:sp>
      <p:sp>
        <p:nvSpPr>
          <p:cNvPr id="7" name="Shape 5"/>
          <p:cNvSpPr/>
          <p:nvPr/>
        </p:nvSpPr>
        <p:spPr>
          <a:xfrm>
            <a:off x="2514600" y="0"/>
            <a:ext cx="0" cy="5143500"/>
          </a:xfrm>
          <a:prstGeom prst="line">
            <a:avLst/>
          </a:prstGeom>
          <a:noFill/>
          <a:ln w="6350">
            <a:solidFill>
              <a:srgbClr val="1A2A4A"/>
            </a:solidFill>
            <a:prstDash val="solid"/>
          </a:ln>
        </p:spPr>
      </p:sp>
      <p:sp>
        <p:nvSpPr>
          <p:cNvPr id="8" name="Shape 6"/>
          <p:cNvSpPr/>
          <p:nvPr/>
        </p:nvSpPr>
        <p:spPr>
          <a:xfrm>
            <a:off x="3017520" y="0"/>
            <a:ext cx="0" cy="5143500"/>
          </a:xfrm>
          <a:prstGeom prst="line">
            <a:avLst/>
          </a:prstGeom>
          <a:noFill/>
          <a:ln w="6350">
            <a:solidFill>
              <a:srgbClr val="1A2A4A"/>
            </a:solidFill>
            <a:prstDash val="solid"/>
          </a:ln>
        </p:spPr>
      </p:sp>
      <p:sp>
        <p:nvSpPr>
          <p:cNvPr id="9" name="Shape 7"/>
          <p:cNvSpPr/>
          <p:nvPr/>
        </p:nvSpPr>
        <p:spPr>
          <a:xfrm>
            <a:off x="3520440" y="0"/>
            <a:ext cx="0" cy="5143500"/>
          </a:xfrm>
          <a:prstGeom prst="line">
            <a:avLst/>
          </a:prstGeom>
          <a:noFill/>
          <a:ln w="6350">
            <a:solidFill>
              <a:srgbClr val="1A2A4A"/>
            </a:solidFill>
            <a:prstDash val="solid"/>
          </a:ln>
        </p:spPr>
      </p:sp>
      <p:sp>
        <p:nvSpPr>
          <p:cNvPr id="10" name="Shape 8"/>
          <p:cNvSpPr/>
          <p:nvPr/>
        </p:nvSpPr>
        <p:spPr>
          <a:xfrm>
            <a:off x="4023360" y="0"/>
            <a:ext cx="0" cy="5143500"/>
          </a:xfrm>
          <a:prstGeom prst="line">
            <a:avLst/>
          </a:prstGeom>
          <a:noFill/>
          <a:ln w="6350">
            <a:solidFill>
              <a:srgbClr val="1A2A4A"/>
            </a:solidFill>
            <a:prstDash val="solid"/>
          </a:ln>
        </p:spPr>
      </p:sp>
      <p:sp>
        <p:nvSpPr>
          <p:cNvPr id="11" name="Shape 9"/>
          <p:cNvSpPr/>
          <p:nvPr/>
        </p:nvSpPr>
        <p:spPr>
          <a:xfrm>
            <a:off x="4526280" y="0"/>
            <a:ext cx="0" cy="5143500"/>
          </a:xfrm>
          <a:prstGeom prst="line">
            <a:avLst/>
          </a:prstGeom>
          <a:noFill/>
          <a:ln w="6350">
            <a:solidFill>
              <a:srgbClr val="1A2A4A"/>
            </a:solidFill>
            <a:prstDash val="solid"/>
          </a:ln>
        </p:spPr>
      </p:sp>
      <p:sp>
        <p:nvSpPr>
          <p:cNvPr id="12" name="Shape 10"/>
          <p:cNvSpPr/>
          <p:nvPr/>
        </p:nvSpPr>
        <p:spPr>
          <a:xfrm>
            <a:off x="5029200" y="0"/>
            <a:ext cx="0" cy="5143500"/>
          </a:xfrm>
          <a:prstGeom prst="line">
            <a:avLst/>
          </a:prstGeom>
          <a:noFill/>
          <a:ln w="6350">
            <a:solidFill>
              <a:srgbClr val="1A2A4A"/>
            </a:solidFill>
            <a:prstDash val="solid"/>
          </a:ln>
        </p:spPr>
      </p:sp>
      <p:sp>
        <p:nvSpPr>
          <p:cNvPr id="13" name="Shape 11"/>
          <p:cNvSpPr/>
          <p:nvPr/>
        </p:nvSpPr>
        <p:spPr>
          <a:xfrm>
            <a:off x="5532120" y="0"/>
            <a:ext cx="0" cy="5143500"/>
          </a:xfrm>
          <a:prstGeom prst="line">
            <a:avLst/>
          </a:prstGeom>
          <a:noFill/>
          <a:ln w="6350">
            <a:solidFill>
              <a:srgbClr val="1A2A4A"/>
            </a:solidFill>
            <a:prstDash val="solid"/>
          </a:ln>
        </p:spPr>
      </p:sp>
      <p:sp>
        <p:nvSpPr>
          <p:cNvPr id="14" name="Shape 12"/>
          <p:cNvSpPr/>
          <p:nvPr/>
        </p:nvSpPr>
        <p:spPr>
          <a:xfrm>
            <a:off x="6035040" y="0"/>
            <a:ext cx="0" cy="5143500"/>
          </a:xfrm>
          <a:prstGeom prst="line">
            <a:avLst/>
          </a:prstGeom>
          <a:noFill/>
          <a:ln w="6350">
            <a:solidFill>
              <a:srgbClr val="1A2A4A"/>
            </a:solidFill>
            <a:prstDash val="solid"/>
          </a:ln>
        </p:spPr>
      </p:sp>
      <p:sp>
        <p:nvSpPr>
          <p:cNvPr id="15" name="Shape 13"/>
          <p:cNvSpPr/>
          <p:nvPr/>
        </p:nvSpPr>
        <p:spPr>
          <a:xfrm>
            <a:off x="6537960" y="0"/>
            <a:ext cx="0" cy="5143500"/>
          </a:xfrm>
          <a:prstGeom prst="line">
            <a:avLst/>
          </a:prstGeom>
          <a:noFill/>
          <a:ln w="6350">
            <a:solidFill>
              <a:srgbClr val="1A2A4A"/>
            </a:solidFill>
            <a:prstDash val="solid"/>
          </a:ln>
        </p:spPr>
      </p:sp>
      <p:sp>
        <p:nvSpPr>
          <p:cNvPr id="16" name="Shape 14"/>
          <p:cNvSpPr/>
          <p:nvPr/>
        </p:nvSpPr>
        <p:spPr>
          <a:xfrm>
            <a:off x="7040880" y="0"/>
            <a:ext cx="0" cy="5143500"/>
          </a:xfrm>
          <a:prstGeom prst="line">
            <a:avLst/>
          </a:prstGeom>
          <a:noFill/>
          <a:ln w="6350">
            <a:solidFill>
              <a:srgbClr val="1A2A4A"/>
            </a:solidFill>
            <a:prstDash val="solid"/>
          </a:ln>
        </p:spPr>
      </p:sp>
      <p:sp>
        <p:nvSpPr>
          <p:cNvPr id="17" name="Shape 15"/>
          <p:cNvSpPr/>
          <p:nvPr/>
        </p:nvSpPr>
        <p:spPr>
          <a:xfrm>
            <a:off x="7543800" y="0"/>
            <a:ext cx="0" cy="5143500"/>
          </a:xfrm>
          <a:prstGeom prst="line">
            <a:avLst/>
          </a:prstGeom>
          <a:noFill/>
          <a:ln w="6350">
            <a:solidFill>
              <a:srgbClr val="1A2A4A"/>
            </a:solidFill>
            <a:prstDash val="solid"/>
          </a:ln>
        </p:spPr>
      </p:sp>
      <p:sp>
        <p:nvSpPr>
          <p:cNvPr id="18" name="Shape 16"/>
          <p:cNvSpPr/>
          <p:nvPr/>
        </p:nvSpPr>
        <p:spPr>
          <a:xfrm>
            <a:off x="8046720" y="0"/>
            <a:ext cx="0" cy="5143500"/>
          </a:xfrm>
          <a:prstGeom prst="line">
            <a:avLst/>
          </a:prstGeom>
          <a:noFill/>
          <a:ln w="6350">
            <a:solidFill>
              <a:srgbClr val="1A2A4A"/>
            </a:solidFill>
            <a:prstDash val="solid"/>
          </a:ln>
        </p:spPr>
      </p:sp>
      <p:sp>
        <p:nvSpPr>
          <p:cNvPr id="19" name="Shape 17"/>
          <p:cNvSpPr/>
          <p:nvPr/>
        </p:nvSpPr>
        <p:spPr>
          <a:xfrm>
            <a:off x="8549640" y="0"/>
            <a:ext cx="0" cy="5143500"/>
          </a:xfrm>
          <a:prstGeom prst="line">
            <a:avLst/>
          </a:prstGeom>
          <a:noFill/>
          <a:ln w="6350">
            <a:solidFill>
              <a:srgbClr val="1A2A4A"/>
            </a:solidFill>
            <a:prstDash val="solid"/>
          </a:ln>
        </p:spPr>
      </p:sp>
      <p:sp>
        <p:nvSpPr>
          <p:cNvPr id="20" name="Shape 18"/>
          <p:cNvSpPr/>
          <p:nvPr/>
        </p:nvSpPr>
        <p:spPr>
          <a:xfrm>
            <a:off x="9052560" y="0"/>
            <a:ext cx="0" cy="5143500"/>
          </a:xfrm>
          <a:prstGeom prst="line">
            <a:avLst/>
          </a:prstGeom>
          <a:noFill/>
          <a:ln w="6350">
            <a:solidFill>
              <a:srgbClr val="1A2A4A"/>
            </a:solidFill>
            <a:prstDash val="solid"/>
          </a:ln>
        </p:spPr>
      </p:sp>
      <p:sp>
        <p:nvSpPr>
          <p:cNvPr id="21" name="Shape 19"/>
          <p:cNvSpPr/>
          <p:nvPr/>
        </p:nvSpPr>
        <p:spPr>
          <a:xfrm>
            <a:off x="9555480" y="0"/>
            <a:ext cx="0" cy="5143500"/>
          </a:xfrm>
          <a:prstGeom prst="line">
            <a:avLst/>
          </a:prstGeom>
          <a:noFill/>
          <a:ln w="6350">
            <a:solidFill>
              <a:srgbClr val="1A2A4A"/>
            </a:solidFill>
            <a:prstDash val="solid"/>
          </a:ln>
        </p:spPr>
      </p:sp>
      <p:sp>
        <p:nvSpPr>
          <p:cNvPr id="22" name="Shape 20"/>
          <p:cNvSpPr/>
          <p:nvPr/>
        </p:nvSpPr>
        <p:spPr>
          <a:xfrm>
            <a:off x="0" y="0"/>
            <a:ext cx="9144000" cy="0"/>
          </a:xfrm>
          <a:prstGeom prst="line">
            <a:avLst/>
          </a:prstGeom>
          <a:noFill/>
          <a:ln w="6350">
            <a:solidFill>
              <a:srgbClr val="1A2A4A"/>
            </a:solidFill>
            <a:prstDash val="solid"/>
          </a:ln>
        </p:spPr>
      </p:sp>
      <p:sp>
        <p:nvSpPr>
          <p:cNvPr id="23" name="Shape 21"/>
          <p:cNvSpPr/>
          <p:nvPr/>
        </p:nvSpPr>
        <p:spPr>
          <a:xfrm>
            <a:off x="0" y="457200"/>
            <a:ext cx="9144000" cy="0"/>
          </a:xfrm>
          <a:prstGeom prst="line">
            <a:avLst/>
          </a:prstGeom>
          <a:noFill/>
          <a:ln w="6350">
            <a:solidFill>
              <a:srgbClr val="1A2A4A"/>
            </a:solidFill>
            <a:prstDash val="solid"/>
          </a:ln>
        </p:spPr>
      </p:sp>
      <p:sp>
        <p:nvSpPr>
          <p:cNvPr id="24" name="Shape 22"/>
          <p:cNvSpPr/>
          <p:nvPr/>
        </p:nvSpPr>
        <p:spPr>
          <a:xfrm>
            <a:off x="0" y="914400"/>
            <a:ext cx="9144000" cy="0"/>
          </a:xfrm>
          <a:prstGeom prst="line">
            <a:avLst/>
          </a:prstGeom>
          <a:noFill/>
          <a:ln w="6350">
            <a:solidFill>
              <a:srgbClr val="1A2A4A"/>
            </a:solidFill>
            <a:prstDash val="solid"/>
          </a:ln>
        </p:spPr>
      </p:sp>
      <p:sp>
        <p:nvSpPr>
          <p:cNvPr id="25" name="Shape 23"/>
          <p:cNvSpPr/>
          <p:nvPr/>
        </p:nvSpPr>
        <p:spPr>
          <a:xfrm>
            <a:off x="0" y="1371600"/>
            <a:ext cx="9144000" cy="0"/>
          </a:xfrm>
          <a:prstGeom prst="line">
            <a:avLst/>
          </a:prstGeom>
          <a:noFill/>
          <a:ln w="6350">
            <a:solidFill>
              <a:srgbClr val="1A2A4A"/>
            </a:solidFill>
            <a:prstDash val="solid"/>
          </a:ln>
        </p:spPr>
      </p:sp>
      <p:sp>
        <p:nvSpPr>
          <p:cNvPr id="26" name="Shape 24"/>
          <p:cNvSpPr/>
          <p:nvPr/>
        </p:nvSpPr>
        <p:spPr>
          <a:xfrm>
            <a:off x="0" y="1828800"/>
            <a:ext cx="9144000" cy="0"/>
          </a:xfrm>
          <a:prstGeom prst="line">
            <a:avLst/>
          </a:prstGeom>
          <a:noFill/>
          <a:ln w="6350">
            <a:solidFill>
              <a:srgbClr val="1A2A4A"/>
            </a:solidFill>
            <a:prstDash val="solid"/>
          </a:ln>
        </p:spPr>
      </p:sp>
      <p:sp>
        <p:nvSpPr>
          <p:cNvPr id="27" name="Shape 25"/>
          <p:cNvSpPr/>
          <p:nvPr/>
        </p:nvSpPr>
        <p:spPr>
          <a:xfrm>
            <a:off x="0" y="2286000"/>
            <a:ext cx="9144000" cy="0"/>
          </a:xfrm>
          <a:prstGeom prst="line">
            <a:avLst/>
          </a:prstGeom>
          <a:noFill/>
          <a:ln w="6350">
            <a:solidFill>
              <a:srgbClr val="1A2A4A"/>
            </a:solidFill>
            <a:prstDash val="solid"/>
          </a:ln>
        </p:spPr>
      </p:sp>
      <p:sp>
        <p:nvSpPr>
          <p:cNvPr id="28" name="Shape 26"/>
          <p:cNvSpPr/>
          <p:nvPr/>
        </p:nvSpPr>
        <p:spPr>
          <a:xfrm>
            <a:off x="0" y="2743200"/>
            <a:ext cx="9144000" cy="0"/>
          </a:xfrm>
          <a:prstGeom prst="line">
            <a:avLst/>
          </a:prstGeom>
          <a:noFill/>
          <a:ln w="6350">
            <a:solidFill>
              <a:srgbClr val="1A2A4A"/>
            </a:solidFill>
            <a:prstDash val="solid"/>
          </a:ln>
        </p:spPr>
      </p:sp>
      <p:sp>
        <p:nvSpPr>
          <p:cNvPr id="29" name="Shape 27"/>
          <p:cNvSpPr/>
          <p:nvPr/>
        </p:nvSpPr>
        <p:spPr>
          <a:xfrm>
            <a:off x="0" y="3200400"/>
            <a:ext cx="9144000" cy="0"/>
          </a:xfrm>
          <a:prstGeom prst="line">
            <a:avLst/>
          </a:prstGeom>
          <a:noFill/>
          <a:ln w="6350">
            <a:solidFill>
              <a:srgbClr val="1A2A4A"/>
            </a:solidFill>
            <a:prstDash val="solid"/>
          </a:ln>
        </p:spPr>
      </p:sp>
      <p:sp>
        <p:nvSpPr>
          <p:cNvPr id="30" name="Shape 28"/>
          <p:cNvSpPr/>
          <p:nvPr/>
        </p:nvSpPr>
        <p:spPr>
          <a:xfrm>
            <a:off x="0" y="3657600"/>
            <a:ext cx="9144000" cy="0"/>
          </a:xfrm>
          <a:prstGeom prst="line">
            <a:avLst/>
          </a:prstGeom>
          <a:noFill/>
          <a:ln w="6350">
            <a:solidFill>
              <a:srgbClr val="1A2A4A"/>
            </a:solidFill>
            <a:prstDash val="solid"/>
          </a:ln>
        </p:spPr>
      </p:sp>
      <p:sp>
        <p:nvSpPr>
          <p:cNvPr id="31" name="Shape 29"/>
          <p:cNvSpPr/>
          <p:nvPr/>
        </p:nvSpPr>
        <p:spPr>
          <a:xfrm>
            <a:off x="0" y="4114800"/>
            <a:ext cx="9144000" cy="0"/>
          </a:xfrm>
          <a:prstGeom prst="line">
            <a:avLst/>
          </a:prstGeom>
          <a:noFill/>
          <a:ln w="6350">
            <a:solidFill>
              <a:srgbClr val="1A2A4A"/>
            </a:solidFill>
            <a:prstDash val="solid"/>
          </a:ln>
        </p:spPr>
      </p:sp>
      <p:sp>
        <p:nvSpPr>
          <p:cNvPr id="32" name="Shape 30"/>
          <p:cNvSpPr/>
          <p:nvPr/>
        </p:nvSpPr>
        <p:spPr>
          <a:xfrm>
            <a:off x="0" y="4572000"/>
            <a:ext cx="9144000" cy="0"/>
          </a:xfrm>
          <a:prstGeom prst="line">
            <a:avLst/>
          </a:prstGeom>
          <a:noFill/>
          <a:ln w="6350">
            <a:solidFill>
              <a:srgbClr val="1A2A4A"/>
            </a:solidFill>
            <a:prstDash val="solid"/>
          </a:ln>
        </p:spPr>
      </p:sp>
      <p:sp>
        <p:nvSpPr>
          <p:cNvPr id="33" name="Shape 31"/>
          <p:cNvSpPr/>
          <p:nvPr/>
        </p:nvSpPr>
        <p:spPr>
          <a:xfrm>
            <a:off x="0" y="5029200"/>
            <a:ext cx="9144000" cy="0"/>
          </a:xfrm>
          <a:prstGeom prst="line">
            <a:avLst/>
          </a:prstGeom>
          <a:noFill/>
          <a:ln w="6350">
            <a:solidFill>
              <a:srgbClr val="1A2A4A"/>
            </a:solidFill>
            <a:prstDash val="solid"/>
          </a:ln>
        </p:spPr>
      </p:sp>
      <p:sp>
        <p:nvSpPr>
          <p:cNvPr id="34" name="Shape 32"/>
          <p:cNvSpPr/>
          <p:nvPr/>
        </p:nvSpPr>
        <p:spPr>
          <a:xfrm>
            <a:off x="5943600" y="-914400"/>
            <a:ext cx="4572000" cy="4572000"/>
          </a:xfrm>
          <a:prstGeom prst="ellipse">
            <a:avLst/>
          </a:prstGeom>
          <a:solidFill>
            <a:srgbClr val="003355">
              <a:alpha val="40000"/>
            </a:srgbClr>
          </a:solidFill>
          <a:ln w="12700">
            <a:solidFill>
              <a:srgbClr val="00D4FF"/>
            </a:solidFill>
            <a:prstDash val="solid"/>
          </a:ln>
        </p:spPr>
      </p:sp>
      <p:sp>
        <p:nvSpPr>
          <p:cNvPr id="35" name="Shape 33"/>
          <p:cNvSpPr/>
          <p:nvPr/>
        </p:nvSpPr>
        <p:spPr>
          <a:xfrm>
            <a:off x="6583680" y="-274320"/>
            <a:ext cx="3200400" cy="3200400"/>
          </a:xfrm>
          <a:prstGeom prst="ellipse">
            <a:avLst/>
          </a:prstGeom>
          <a:solidFill>
            <a:srgbClr val="00D4FF">
              <a:alpha val="15000"/>
            </a:srgbClr>
          </a:solidFill>
          <a:ln w="6350">
            <a:solidFill>
              <a:srgbClr val="00D4FF"/>
            </a:solidFill>
            <a:prstDash val="solid"/>
          </a:ln>
        </p:spPr>
      </p:sp>
      <p:sp>
        <p:nvSpPr>
          <p:cNvPr id="36" name="Shape 34"/>
          <p:cNvSpPr/>
          <p:nvPr/>
        </p:nvSpPr>
        <p:spPr>
          <a:xfrm>
            <a:off x="457200" y="320040"/>
            <a:ext cx="2194560" cy="274320"/>
          </a:xfrm>
          <a:prstGeom prst="rect">
            <a:avLst/>
          </a:prstGeom>
          <a:solidFill>
            <a:srgbClr val="00D4FF">
              <a:alpha val="80000"/>
            </a:srgbClr>
          </a:solidFill>
          <a:ln w="12700">
            <a:solidFill>
              <a:srgbClr val="00D4FF"/>
            </a:solidFill>
            <a:prstDash val="solid"/>
          </a:ln>
        </p:spPr>
      </p:sp>
      <p:sp>
        <p:nvSpPr>
          <p:cNvPr id="37" name="Text 35"/>
          <p:cNvSpPr/>
          <p:nvPr/>
        </p:nvSpPr>
        <p:spPr>
          <a:xfrm>
            <a:off x="457200" y="292608"/>
            <a:ext cx="2194560" cy="320040"/>
          </a:xfrm>
          <a:prstGeom prst="rect">
            <a:avLst/>
          </a:prstGeom>
          <a:noFill/>
          <a:ln/>
        </p:spPr>
        <p:txBody>
          <a:bodyPr wrap="square" lIns="0" tIns="0" rIns="0" bIns="0" rtlCol="0" anchor="ctr"/>
          <a:lstStyle/>
          <a:p>
            <a:pPr algn="ctr" indent="0" marL="0">
              <a:buNone/>
            </a:pPr>
            <a:r>
              <a:rPr lang="en-US" sz="700" b="1" dirty="0">
                <a:solidFill>
                  <a:srgbClr val="0A0F1E"/>
                </a:solidFill>
                <a:latin typeface="Calibri" pitchFamily="34" charset="0"/>
                <a:ea typeface="Calibri" pitchFamily="34" charset="-122"/>
                <a:cs typeface="Calibri" pitchFamily="34" charset="-120"/>
              </a:rPr>
              <a:t>DEEP LEARNING PROJECT</a:t>
            </a:r>
            <a:endParaRPr lang="en-US" sz="700" dirty="0"/>
          </a:p>
        </p:txBody>
      </p:sp>
      <p:sp>
        <p:nvSpPr>
          <p:cNvPr id="38" name="Text 36"/>
          <p:cNvSpPr/>
          <p:nvPr/>
        </p:nvSpPr>
        <p:spPr>
          <a:xfrm>
            <a:off x="457200" y="777240"/>
            <a:ext cx="8229600" cy="777240"/>
          </a:xfrm>
          <a:prstGeom prst="rect">
            <a:avLst/>
          </a:prstGeom>
          <a:noFill/>
          <a:ln/>
        </p:spPr>
        <p:txBody>
          <a:bodyPr wrap="square"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Network Anomaly Detection</a:t>
            </a:r>
            <a:endParaRPr lang="en-US" sz="3600" dirty="0"/>
          </a:p>
        </p:txBody>
      </p:sp>
      <p:sp>
        <p:nvSpPr>
          <p:cNvPr id="39" name="Text 37"/>
          <p:cNvSpPr/>
          <p:nvPr/>
        </p:nvSpPr>
        <p:spPr>
          <a:xfrm>
            <a:off x="457200" y="1508760"/>
            <a:ext cx="8229600" cy="685800"/>
          </a:xfrm>
          <a:prstGeom prst="rect">
            <a:avLst/>
          </a:prstGeom>
          <a:noFill/>
          <a:ln/>
        </p:spPr>
        <p:txBody>
          <a:bodyPr wrap="square" rtlCol="0" anchor="ctr"/>
          <a:lstStyle/>
          <a:p>
            <a:pPr algn="l" indent="0" marL="0">
              <a:buNone/>
            </a:pPr>
            <a:r>
              <a:rPr lang="en-US" sz="3000" b="1" dirty="0">
                <a:solidFill>
                  <a:srgbClr val="00D4FF"/>
                </a:solidFill>
                <a:latin typeface="Calibri" pitchFamily="34" charset="0"/>
                <a:ea typeface="Calibri" pitchFamily="34" charset="-122"/>
                <a:cs typeface="Calibri" pitchFamily="34" charset="-120"/>
              </a:rPr>
              <a:t>using Kitsune Framework</a:t>
            </a:r>
            <a:endParaRPr lang="en-US" sz="3000" dirty="0"/>
          </a:p>
        </p:txBody>
      </p:sp>
      <p:sp>
        <p:nvSpPr>
          <p:cNvPr id="40" name="Shape 38"/>
          <p:cNvSpPr/>
          <p:nvPr/>
        </p:nvSpPr>
        <p:spPr>
          <a:xfrm>
            <a:off x="457200" y="2331720"/>
            <a:ext cx="5029200" cy="36576"/>
          </a:xfrm>
          <a:prstGeom prst="rect">
            <a:avLst/>
          </a:prstGeom>
          <a:solidFill>
            <a:srgbClr val="00D4FF"/>
          </a:solidFill>
          <a:ln w="12700">
            <a:solidFill>
              <a:srgbClr val="00D4FF"/>
            </a:solidFill>
            <a:prstDash val="solid"/>
          </a:ln>
        </p:spPr>
      </p:sp>
      <p:sp>
        <p:nvSpPr>
          <p:cNvPr id="41" name="Shape 39"/>
          <p:cNvSpPr/>
          <p:nvPr/>
        </p:nvSpPr>
        <p:spPr>
          <a:xfrm>
            <a:off x="457200" y="2560320"/>
            <a:ext cx="3840480" cy="1005840"/>
          </a:xfrm>
          <a:prstGeom prst="rect">
            <a:avLst/>
          </a:prstGeom>
          <a:solidFill>
            <a:srgbClr val="111C35"/>
          </a:solidFill>
          <a:ln w="12700">
            <a:solidFill>
              <a:srgbClr val="00D4FF"/>
            </a:solidFill>
            <a:prstDash val="solid"/>
          </a:ln>
        </p:spPr>
      </p:sp>
      <p:sp>
        <p:nvSpPr>
          <p:cNvPr id="42" name="Text 40"/>
          <p:cNvSpPr/>
          <p:nvPr/>
        </p:nvSpPr>
        <p:spPr>
          <a:xfrm>
            <a:off x="548640" y="2615184"/>
            <a:ext cx="3657600" cy="201168"/>
          </a:xfrm>
          <a:prstGeom prst="rect">
            <a:avLst/>
          </a:prstGeom>
          <a:noFill/>
          <a:ln/>
        </p:spPr>
        <p:txBody>
          <a:bodyPr wrap="square" rtlCol="0" anchor="ctr"/>
          <a:lstStyle/>
          <a:p>
            <a:pPr indent="0" marL="0">
              <a:buNone/>
            </a:pPr>
            <a:r>
              <a:rPr lang="en-US" sz="800" b="1" dirty="0">
                <a:solidFill>
                  <a:srgbClr val="00D4FF"/>
                </a:solidFill>
                <a:latin typeface="Calibri" pitchFamily="34" charset="0"/>
                <a:ea typeface="Calibri" pitchFamily="34" charset="-122"/>
                <a:cs typeface="Calibri" pitchFamily="34" charset="-120"/>
              </a:rPr>
              <a:t>TEAM MEMBERS</a:t>
            </a:r>
            <a:endParaRPr lang="en-US" sz="800" dirty="0"/>
          </a:p>
        </p:txBody>
      </p:sp>
      <p:sp>
        <p:nvSpPr>
          <p:cNvPr id="43" name="Text 41"/>
          <p:cNvSpPr/>
          <p:nvPr/>
        </p:nvSpPr>
        <p:spPr>
          <a:xfrm>
            <a:off x="548640" y="2816352"/>
            <a:ext cx="3657600" cy="68580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Pathuri Vivek Chowdary</a:t>
            </a:r>
            <a:endParaRPr lang="en-US" sz="1000" dirty="0"/>
          </a:p>
          <a:p>
            <a:pPr indent="0" marL="0">
              <a:buNone/>
            </a:pPr>
            <a:r>
              <a:rPr lang="en-US" sz="1000" dirty="0">
                <a:solidFill>
                  <a:srgbClr val="8899AA"/>
                </a:solidFill>
                <a:latin typeface="Calibri" pitchFamily="34" charset="0"/>
                <a:ea typeface="Calibri" pitchFamily="34" charset="-122"/>
                <a:cs typeface="Calibri" pitchFamily="34" charset="-120"/>
              </a:rPr>
              <a:t>2023UAI1814</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Kodem Jyothesh Kumar</a:t>
            </a:r>
            <a:endParaRPr lang="en-US" sz="1000" dirty="0"/>
          </a:p>
          <a:p>
            <a:pPr indent="0" marL="0">
              <a:buNone/>
            </a:pPr>
            <a:r>
              <a:rPr lang="en-US" sz="1000" dirty="0">
                <a:solidFill>
                  <a:srgbClr val="8899AA"/>
                </a:solidFill>
                <a:latin typeface="Calibri" pitchFamily="34" charset="0"/>
                <a:ea typeface="Calibri" pitchFamily="34" charset="-122"/>
                <a:cs typeface="Calibri" pitchFamily="34" charset="-120"/>
              </a:rPr>
              <a:t>2023UAI1807</a:t>
            </a:r>
            <a:endParaRPr lang="en-US" sz="1000" dirty="0"/>
          </a:p>
        </p:txBody>
      </p:sp>
      <p:sp>
        <p:nvSpPr>
          <p:cNvPr id="44" name="Shape 42"/>
          <p:cNvSpPr/>
          <p:nvPr/>
        </p:nvSpPr>
        <p:spPr>
          <a:xfrm>
            <a:off x="4572000" y="2560320"/>
            <a:ext cx="4114800" cy="1005840"/>
          </a:xfrm>
          <a:prstGeom prst="rect">
            <a:avLst/>
          </a:prstGeom>
          <a:solidFill>
            <a:srgbClr val="111C35"/>
          </a:solidFill>
          <a:ln w="12700">
            <a:solidFill>
              <a:srgbClr val="00FF9D"/>
            </a:solidFill>
            <a:prstDash val="solid"/>
          </a:ln>
        </p:spPr>
      </p:sp>
      <p:sp>
        <p:nvSpPr>
          <p:cNvPr id="45" name="Text 43"/>
          <p:cNvSpPr/>
          <p:nvPr/>
        </p:nvSpPr>
        <p:spPr>
          <a:xfrm>
            <a:off x="4663440" y="2615184"/>
            <a:ext cx="3840480" cy="201168"/>
          </a:xfrm>
          <a:prstGeom prst="rect">
            <a:avLst/>
          </a:prstGeom>
          <a:noFill/>
          <a:ln/>
        </p:spPr>
        <p:txBody>
          <a:bodyPr wrap="square" rtlCol="0" anchor="ctr"/>
          <a:lstStyle/>
          <a:p>
            <a:pPr indent="0" marL="0">
              <a:buNone/>
            </a:pPr>
            <a:r>
              <a:rPr lang="en-US" sz="800" b="1" dirty="0">
                <a:solidFill>
                  <a:srgbClr val="00FF9D"/>
                </a:solidFill>
                <a:latin typeface="Calibri" pitchFamily="34" charset="0"/>
                <a:ea typeface="Calibri" pitchFamily="34" charset="-122"/>
                <a:cs typeface="Calibri" pitchFamily="34" charset="-120"/>
              </a:rPr>
              <a:t>INSTITUTE</a:t>
            </a:r>
            <a:endParaRPr lang="en-US" sz="800" dirty="0"/>
          </a:p>
        </p:txBody>
      </p:sp>
      <p:sp>
        <p:nvSpPr>
          <p:cNvPr id="46" name="Text 44"/>
          <p:cNvSpPr/>
          <p:nvPr/>
        </p:nvSpPr>
        <p:spPr>
          <a:xfrm>
            <a:off x="4663440" y="2816352"/>
            <a:ext cx="3840480" cy="68580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Malaviya National Institute of Technology</a:t>
            </a:r>
            <a:endParaRPr lang="en-US" sz="1000" dirty="0"/>
          </a:p>
          <a:p>
            <a:pPr indent="0" marL="0">
              <a:buNone/>
            </a:pPr>
            <a:r>
              <a:rPr lang="en-US" sz="1000" dirty="0">
                <a:solidFill>
                  <a:srgbClr val="8899AA"/>
                </a:solidFill>
                <a:latin typeface="Calibri" pitchFamily="34" charset="0"/>
                <a:ea typeface="Calibri" pitchFamily="34" charset="-122"/>
                <a:cs typeface="Calibri" pitchFamily="34" charset="-120"/>
              </a:rPr>
              <a:t>Jaipur, Rajasthan</a:t>
            </a:r>
            <a:endParaRPr lang="en-US" sz="1000" dirty="0"/>
          </a:p>
          <a:p>
            <a:pPr indent="0" marL="0">
              <a:buNone/>
            </a:pPr>
            <a:r>
              <a:rPr lang="en-US" sz="1000" dirty="0">
                <a:solidFill>
                  <a:srgbClr val="B0D4F1"/>
                </a:solidFill>
                <a:latin typeface="Calibri" pitchFamily="34" charset="0"/>
                <a:ea typeface="Calibri" pitchFamily="34" charset="-122"/>
                <a:cs typeface="Calibri" pitchFamily="34" charset="-120"/>
              </a:rPr>
              <a:t>Dept. of AI &amp; Data Engineering</a:t>
            </a:r>
            <a:endParaRPr lang="en-US" sz="1000" dirty="0"/>
          </a:p>
        </p:txBody>
      </p:sp>
      <p:sp>
        <p:nvSpPr>
          <p:cNvPr id="47" name="Text 45"/>
          <p:cNvSpPr/>
          <p:nvPr/>
        </p:nvSpPr>
        <p:spPr>
          <a:xfrm>
            <a:off x="457200" y="4663440"/>
            <a:ext cx="8229600" cy="274320"/>
          </a:xfrm>
          <a:prstGeom prst="rect">
            <a:avLst/>
          </a:prstGeom>
          <a:noFill/>
          <a:ln/>
        </p:spPr>
        <p:txBody>
          <a:bodyPr wrap="square" rtlCol="0" anchor="ctr"/>
          <a:lstStyle/>
          <a:p>
            <a:pPr algn="ctr" indent="0" marL="0">
              <a:buNone/>
            </a:pPr>
            <a:r>
              <a:rPr lang="en-US" sz="950" dirty="0">
                <a:solidFill>
                  <a:srgbClr val="8899AA"/>
                </a:solidFill>
                <a:latin typeface="Calibri" pitchFamily="34" charset="0"/>
                <a:ea typeface="Calibri" pitchFamily="34" charset="-122"/>
                <a:cs typeface="Calibri" pitchFamily="34" charset="-120"/>
              </a:rPr>
              <a:t>ARP MitM Attack Detection  •  Unsupervised Learning  •  Real-Time IDS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00D4FF"/>
          </a:solidFill>
          <a:ln w="12700">
            <a:solidFill>
              <a:srgbClr val="00D4FF"/>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PROBLEM STATEMENT</a:t>
            </a:r>
            <a:endParaRPr lang="en-US" sz="2200" dirty="0"/>
          </a:p>
        </p:txBody>
      </p:sp>
      <p:sp>
        <p:nvSpPr>
          <p:cNvPr id="5" name="Shape 3"/>
          <p:cNvSpPr/>
          <p:nvPr/>
        </p:nvSpPr>
        <p:spPr>
          <a:xfrm>
            <a:off x="274320" y="868680"/>
            <a:ext cx="4114800" cy="3474720"/>
          </a:xfrm>
          <a:prstGeom prst="rect">
            <a:avLst/>
          </a:prstGeom>
          <a:solidFill>
            <a:srgbClr val="111C35"/>
          </a:solidFill>
          <a:ln w="12700">
            <a:solidFill>
              <a:srgbClr val="1A3A5C"/>
            </a:solidFill>
            <a:prstDash val="solid"/>
          </a:ln>
        </p:spPr>
      </p:sp>
      <p:sp>
        <p:nvSpPr>
          <p:cNvPr id="6" name="Shape 4"/>
          <p:cNvSpPr/>
          <p:nvPr/>
        </p:nvSpPr>
        <p:spPr>
          <a:xfrm>
            <a:off x="274320" y="868680"/>
            <a:ext cx="4114800" cy="411480"/>
          </a:xfrm>
          <a:prstGeom prst="rect">
            <a:avLst/>
          </a:prstGeom>
          <a:solidFill>
            <a:srgbClr val="001830"/>
          </a:solidFill>
          <a:ln w="12700">
            <a:solidFill>
              <a:srgbClr val="1A3A5C"/>
            </a:solidFill>
            <a:prstDash val="solid"/>
          </a:ln>
        </p:spPr>
      </p:sp>
      <p:sp>
        <p:nvSpPr>
          <p:cNvPr id="7" name="Text 5"/>
          <p:cNvSpPr/>
          <p:nvPr/>
        </p:nvSpPr>
        <p:spPr>
          <a:xfrm>
            <a:off x="365760" y="886968"/>
            <a:ext cx="3931920" cy="365760"/>
          </a:xfrm>
          <a:prstGeom prst="rect">
            <a:avLst/>
          </a:prstGeom>
          <a:noFill/>
          <a:ln/>
        </p:spPr>
        <p:txBody>
          <a:bodyPr wrap="square" rtlCol="0" anchor="ctr"/>
          <a:lstStyle/>
          <a:p>
            <a:pPr indent="0" marL="0">
              <a:buNone/>
            </a:pPr>
            <a:r>
              <a:rPr lang="en-US" sz="1200" b="1" dirty="0">
                <a:solidFill>
                  <a:srgbClr val="FF6B35"/>
                </a:solidFill>
                <a:latin typeface="Calibri" pitchFamily="34" charset="0"/>
                <a:ea typeface="Calibri" pitchFamily="34" charset="-122"/>
                <a:cs typeface="Calibri" pitchFamily="34" charset="-120"/>
              </a:rPr>
              <a:t>⚠  ARP MitM Attack</a:t>
            </a:r>
            <a:endParaRPr lang="en-US" sz="1200" dirty="0"/>
          </a:p>
        </p:txBody>
      </p:sp>
      <p:sp>
        <p:nvSpPr>
          <p:cNvPr id="8" name="Shape 6"/>
          <p:cNvSpPr/>
          <p:nvPr/>
        </p:nvSpPr>
        <p:spPr>
          <a:xfrm>
            <a:off x="502920" y="1417320"/>
            <a:ext cx="914400" cy="347472"/>
          </a:xfrm>
          <a:prstGeom prst="rect">
            <a:avLst/>
          </a:prstGeom>
          <a:solidFill>
            <a:srgbClr val="003322"/>
          </a:solidFill>
          <a:ln w="12700">
            <a:solidFill>
              <a:srgbClr val="00FF9D"/>
            </a:solidFill>
            <a:prstDash val="solid"/>
          </a:ln>
        </p:spPr>
      </p:sp>
      <p:sp>
        <p:nvSpPr>
          <p:cNvPr id="9" name="Text 7"/>
          <p:cNvSpPr/>
          <p:nvPr/>
        </p:nvSpPr>
        <p:spPr>
          <a:xfrm>
            <a:off x="502920" y="1417320"/>
            <a:ext cx="914400" cy="347472"/>
          </a:xfrm>
          <a:prstGeom prst="rect">
            <a:avLst/>
          </a:prstGeom>
          <a:noFill/>
          <a:ln/>
        </p:spPr>
        <p:txBody>
          <a:bodyPr wrap="square" rtlCol="0" anchor="ctr"/>
          <a:lstStyle/>
          <a:p>
            <a:pPr algn="ctr" indent="0" marL="0">
              <a:buNone/>
            </a:pPr>
            <a:r>
              <a:rPr lang="en-US" sz="850" b="1" dirty="0">
                <a:solidFill>
                  <a:srgbClr val="00FF9D"/>
                </a:solidFill>
                <a:latin typeface="Calibri" pitchFamily="34" charset="0"/>
                <a:ea typeface="Calibri" pitchFamily="34" charset="-122"/>
                <a:cs typeface="Calibri" pitchFamily="34" charset="-120"/>
              </a:rPr>
              <a:t>Device A</a:t>
            </a:r>
            <a:endParaRPr lang="en-US" sz="850" dirty="0"/>
          </a:p>
        </p:txBody>
      </p:sp>
      <p:sp>
        <p:nvSpPr>
          <p:cNvPr id="10" name="Shape 8"/>
          <p:cNvSpPr/>
          <p:nvPr/>
        </p:nvSpPr>
        <p:spPr>
          <a:xfrm>
            <a:off x="2011680" y="1417320"/>
            <a:ext cx="914400" cy="347472"/>
          </a:xfrm>
          <a:prstGeom prst="rect">
            <a:avLst/>
          </a:prstGeom>
          <a:solidFill>
            <a:srgbClr val="3A1500"/>
          </a:solidFill>
          <a:ln w="12700">
            <a:solidFill>
              <a:srgbClr val="FF6B35"/>
            </a:solidFill>
            <a:prstDash val="solid"/>
          </a:ln>
        </p:spPr>
      </p:sp>
      <p:sp>
        <p:nvSpPr>
          <p:cNvPr id="11" name="Text 9"/>
          <p:cNvSpPr/>
          <p:nvPr/>
        </p:nvSpPr>
        <p:spPr>
          <a:xfrm>
            <a:off x="2011680" y="1417320"/>
            <a:ext cx="914400" cy="347472"/>
          </a:xfrm>
          <a:prstGeom prst="rect">
            <a:avLst/>
          </a:prstGeom>
          <a:noFill/>
          <a:ln/>
        </p:spPr>
        <p:txBody>
          <a:bodyPr wrap="square" rtlCol="0" anchor="ctr"/>
          <a:lstStyle/>
          <a:p>
            <a:pPr algn="ctr" indent="0" marL="0">
              <a:buNone/>
            </a:pPr>
            <a:r>
              <a:rPr lang="en-US" sz="850" b="1" dirty="0">
                <a:solidFill>
                  <a:srgbClr val="FF6B35"/>
                </a:solidFill>
                <a:latin typeface="Calibri" pitchFamily="34" charset="0"/>
                <a:ea typeface="Calibri" pitchFamily="34" charset="-122"/>
                <a:cs typeface="Calibri" pitchFamily="34" charset="-120"/>
              </a:rPr>
              <a:t>Attacker</a:t>
            </a:r>
            <a:endParaRPr lang="en-US" sz="850" dirty="0"/>
          </a:p>
        </p:txBody>
      </p:sp>
      <p:sp>
        <p:nvSpPr>
          <p:cNvPr id="12" name="Shape 10"/>
          <p:cNvSpPr/>
          <p:nvPr/>
        </p:nvSpPr>
        <p:spPr>
          <a:xfrm>
            <a:off x="3520440" y="1417320"/>
            <a:ext cx="914400" cy="347472"/>
          </a:xfrm>
          <a:prstGeom prst="rect">
            <a:avLst/>
          </a:prstGeom>
          <a:solidFill>
            <a:srgbClr val="003322"/>
          </a:solidFill>
          <a:ln w="12700">
            <a:solidFill>
              <a:srgbClr val="00FF9D"/>
            </a:solidFill>
            <a:prstDash val="solid"/>
          </a:ln>
        </p:spPr>
      </p:sp>
      <p:sp>
        <p:nvSpPr>
          <p:cNvPr id="13" name="Text 11"/>
          <p:cNvSpPr/>
          <p:nvPr/>
        </p:nvSpPr>
        <p:spPr>
          <a:xfrm>
            <a:off x="3520440" y="1417320"/>
            <a:ext cx="914400" cy="347472"/>
          </a:xfrm>
          <a:prstGeom prst="rect">
            <a:avLst/>
          </a:prstGeom>
          <a:noFill/>
          <a:ln/>
        </p:spPr>
        <p:txBody>
          <a:bodyPr wrap="square" rtlCol="0" anchor="ctr"/>
          <a:lstStyle/>
          <a:p>
            <a:pPr algn="ctr" indent="0" marL="0">
              <a:buNone/>
            </a:pPr>
            <a:r>
              <a:rPr lang="en-US" sz="850" b="1" dirty="0">
                <a:solidFill>
                  <a:srgbClr val="00FF9D"/>
                </a:solidFill>
                <a:latin typeface="Calibri" pitchFamily="34" charset="0"/>
                <a:ea typeface="Calibri" pitchFamily="34" charset="-122"/>
                <a:cs typeface="Calibri" pitchFamily="34" charset="-120"/>
              </a:rPr>
              <a:t>Device B</a:t>
            </a:r>
            <a:endParaRPr lang="en-US" sz="850" dirty="0"/>
          </a:p>
        </p:txBody>
      </p:sp>
      <p:sp>
        <p:nvSpPr>
          <p:cNvPr id="14" name="Shape 12"/>
          <p:cNvSpPr/>
          <p:nvPr/>
        </p:nvSpPr>
        <p:spPr>
          <a:xfrm>
            <a:off x="1417320" y="1591056"/>
            <a:ext cx="594360" cy="0"/>
          </a:xfrm>
          <a:prstGeom prst="line">
            <a:avLst/>
          </a:prstGeom>
          <a:noFill/>
          <a:ln w="25400">
            <a:solidFill>
              <a:srgbClr val="FF6B35"/>
            </a:solidFill>
            <a:prstDash val="solid"/>
          </a:ln>
        </p:spPr>
      </p:sp>
      <p:sp>
        <p:nvSpPr>
          <p:cNvPr id="15" name="Shape 13"/>
          <p:cNvSpPr/>
          <p:nvPr/>
        </p:nvSpPr>
        <p:spPr>
          <a:xfrm>
            <a:off x="2926080" y="1591056"/>
            <a:ext cx="594360" cy="0"/>
          </a:xfrm>
          <a:prstGeom prst="line">
            <a:avLst/>
          </a:prstGeom>
          <a:noFill/>
          <a:ln w="25400">
            <a:solidFill>
              <a:srgbClr val="FF6B35"/>
            </a:solidFill>
            <a:prstDash val="solid"/>
          </a:ln>
        </p:spPr>
      </p:sp>
      <p:sp>
        <p:nvSpPr>
          <p:cNvPr id="16" name="Text 14"/>
          <p:cNvSpPr/>
          <p:nvPr/>
        </p:nvSpPr>
        <p:spPr>
          <a:xfrm>
            <a:off x="365760" y="1892808"/>
            <a:ext cx="38404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Intercepts &amp; poisons ARP cache</a:t>
            </a:r>
            <a:endParaRPr lang="en-US" sz="900" dirty="0"/>
          </a:p>
        </p:txBody>
      </p:sp>
      <p:sp>
        <p:nvSpPr>
          <p:cNvPr id="17" name="Text 15"/>
          <p:cNvSpPr/>
          <p:nvPr/>
        </p:nvSpPr>
        <p:spPr>
          <a:xfrm>
            <a:off x="411480" y="2176272"/>
            <a:ext cx="3840480" cy="1371600"/>
          </a:xfrm>
          <a:prstGeom prst="rect">
            <a:avLst/>
          </a:prstGeom>
          <a:noFill/>
          <a:ln/>
        </p:spPr>
        <p:txBody>
          <a:bodyPr wrap="square" rtlCol="0" anchor="ctr"/>
          <a:lstStyle/>
          <a:p>
            <a:pPr marL="342900" indent="-342900">
              <a:buSzPct val="100000"/>
              <a:buChar char="•"/>
            </a:pPr>
            <a:r>
              <a:rPr lang="en-US" sz="1100" dirty="0">
                <a:solidFill>
                  <a:srgbClr val="B0D4F1"/>
                </a:solidFill>
                <a:latin typeface="Calibri" pitchFamily="34" charset="0"/>
                <a:ea typeface="Calibri" pitchFamily="34" charset="-122"/>
                <a:cs typeface="Calibri" pitchFamily="34" charset="-120"/>
              </a:rPr>
              <a:t>Intercepts LAN communication covertly</a:t>
            </a:r>
            <a:endParaRPr lang="en-US" sz="1100" dirty="0"/>
          </a:p>
          <a:p>
            <a:pPr marL="342900" indent="-342900">
              <a:buSzPct val="100000"/>
              <a:buChar char="•"/>
            </a:pPr>
            <a:r>
              <a:rPr lang="en-US" sz="1100" dirty="0">
                <a:solidFill>
                  <a:srgbClr val="B0D4F1"/>
                </a:solidFill>
                <a:latin typeface="Calibri" pitchFamily="34" charset="0"/>
                <a:ea typeface="Calibri" pitchFamily="34" charset="-122"/>
                <a:cs typeface="Calibri" pitchFamily="34" charset="-120"/>
              </a:rPr>
              <a:t>Monitors, alters, or steals sensitive data</a:t>
            </a:r>
            <a:endParaRPr lang="en-US" sz="1100" dirty="0"/>
          </a:p>
          <a:p>
            <a:pPr marL="342900" indent="-342900">
              <a:buSzPct val="100000"/>
              <a:buChar char="•"/>
            </a:pPr>
            <a:r>
              <a:rPr lang="en-US" sz="1100" dirty="0">
                <a:solidFill>
                  <a:srgbClr val="B0D4F1"/>
                </a:solidFill>
                <a:latin typeface="Calibri" pitchFamily="34" charset="0"/>
                <a:ea typeface="Calibri" pitchFamily="34" charset="-122"/>
                <a:cs typeface="Calibri" pitchFamily="34" charset="-120"/>
              </a:rPr>
              <a:t>Malicious traffic mimics normal behavior</a:t>
            </a:r>
            <a:endParaRPr lang="en-US" sz="1100" dirty="0"/>
          </a:p>
          <a:p>
            <a:pPr marL="342900" indent="-342900">
              <a:buSzPct val="100000"/>
              <a:buChar char="•"/>
            </a:pPr>
            <a:r>
              <a:rPr lang="en-US" sz="1100" dirty="0">
                <a:solidFill>
                  <a:srgbClr val="B0D4F1"/>
                </a:solidFill>
                <a:latin typeface="Calibri" pitchFamily="34" charset="0"/>
                <a:ea typeface="Calibri" pitchFamily="34" charset="-122"/>
                <a:cs typeface="Calibri" pitchFamily="34" charset="-120"/>
              </a:rPr>
              <a:t>Hard to detect without baseline modeling</a:t>
            </a:r>
            <a:endParaRPr lang="en-US" sz="1100" dirty="0"/>
          </a:p>
        </p:txBody>
      </p:sp>
      <p:sp>
        <p:nvSpPr>
          <p:cNvPr id="18" name="Shape 16"/>
          <p:cNvSpPr/>
          <p:nvPr/>
        </p:nvSpPr>
        <p:spPr>
          <a:xfrm>
            <a:off x="4709160" y="868680"/>
            <a:ext cx="4114800" cy="3474720"/>
          </a:xfrm>
          <a:prstGeom prst="rect">
            <a:avLst/>
          </a:prstGeom>
          <a:solidFill>
            <a:srgbClr val="111C35"/>
          </a:solidFill>
          <a:ln w="12700">
            <a:solidFill>
              <a:srgbClr val="1A3A5C"/>
            </a:solidFill>
            <a:prstDash val="solid"/>
          </a:ln>
        </p:spPr>
      </p:sp>
      <p:sp>
        <p:nvSpPr>
          <p:cNvPr id="19" name="Shape 17"/>
          <p:cNvSpPr/>
          <p:nvPr/>
        </p:nvSpPr>
        <p:spPr>
          <a:xfrm>
            <a:off x="4709160" y="868680"/>
            <a:ext cx="4114800" cy="411480"/>
          </a:xfrm>
          <a:prstGeom prst="rect">
            <a:avLst/>
          </a:prstGeom>
          <a:solidFill>
            <a:srgbClr val="001830"/>
          </a:solidFill>
          <a:ln w="12700">
            <a:solidFill>
              <a:srgbClr val="1A3A5C"/>
            </a:solidFill>
            <a:prstDash val="solid"/>
          </a:ln>
        </p:spPr>
      </p:sp>
      <p:sp>
        <p:nvSpPr>
          <p:cNvPr id="20" name="Text 18"/>
          <p:cNvSpPr/>
          <p:nvPr/>
        </p:nvSpPr>
        <p:spPr>
          <a:xfrm>
            <a:off x="4800600" y="886968"/>
            <a:ext cx="3931920" cy="365760"/>
          </a:xfrm>
          <a:prstGeom prst="rect">
            <a:avLst/>
          </a:prstGeom>
          <a:noFill/>
          <a:ln/>
        </p:spPr>
        <p:txBody>
          <a:bodyPr wrap="square"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Detection Challenges</a:t>
            </a:r>
            <a:endParaRPr lang="en-US" sz="1200" dirty="0"/>
          </a:p>
        </p:txBody>
      </p:sp>
      <p:sp>
        <p:nvSpPr>
          <p:cNvPr id="21" name="Shape 19"/>
          <p:cNvSpPr/>
          <p:nvPr/>
        </p:nvSpPr>
        <p:spPr>
          <a:xfrm>
            <a:off x="4800600" y="1417320"/>
            <a:ext cx="3886200" cy="566928"/>
          </a:xfrm>
          <a:prstGeom prst="rect">
            <a:avLst/>
          </a:prstGeom>
          <a:solidFill>
            <a:srgbClr val="0A1F3A"/>
          </a:solidFill>
          <a:ln w="12700">
            <a:solidFill>
              <a:srgbClr val="1A3A5C"/>
            </a:solidFill>
            <a:prstDash val="solid"/>
          </a:ln>
        </p:spPr>
      </p:sp>
      <p:sp>
        <p:nvSpPr>
          <p:cNvPr id="22" name="Text 20"/>
          <p:cNvSpPr/>
          <p:nvPr/>
        </p:nvSpPr>
        <p:spPr>
          <a:xfrm>
            <a:off x="4892040" y="1453896"/>
            <a:ext cx="3657600" cy="21945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Real-Time Analysis</a:t>
            </a:r>
            <a:endParaRPr lang="en-US" sz="1000" dirty="0"/>
          </a:p>
        </p:txBody>
      </p:sp>
      <p:sp>
        <p:nvSpPr>
          <p:cNvPr id="23" name="Text 21"/>
          <p:cNvSpPr/>
          <p:nvPr/>
        </p:nvSpPr>
        <p:spPr>
          <a:xfrm>
            <a:off x="4892040" y="1682496"/>
            <a:ext cx="3657600" cy="201168"/>
          </a:xfrm>
          <a:prstGeom prst="rect">
            <a:avLst/>
          </a:prstGeom>
          <a:noFill/>
          <a:ln/>
        </p:spPr>
        <p:txBody>
          <a:bodyPr wrap="square" rtlCol="0" anchor="ctr"/>
          <a:lstStyle/>
          <a:p>
            <a:pPr indent="0" marL="0">
              <a:buNone/>
            </a:pPr>
            <a:r>
              <a:rPr lang="en-US" sz="900" dirty="0">
                <a:solidFill>
                  <a:srgbClr val="8899AA"/>
                </a:solidFill>
                <a:latin typeface="Calibri" pitchFamily="34" charset="0"/>
                <a:ea typeface="Calibri" pitchFamily="34" charset="-122"/>
                <a:cs typeface="Calibri" pitchFamily="34" charset="-120"/>
              </a:rPr>
              <a:t>Traffic must be analyzed at line speed</a:t>
            </a:r>
            <a:endParaRPr lang="en-US" sz="900" dirty="0"/>
          </a:p>
        </p:txBody>
      </p:sp>
      <p:sp>
        <p:nvSpPr>
          <p:cNvPr id="24" name="Shape 22"/>
          <p:cNvSpPr/>
          <p:nvPr/>
        </p:nvSpPr>
        <p:spPr>
          <a:xfrm>
            <a:off x="4800600" y="2121408"/>
            <a:ext cx="3886200" cy="566928"/>
          </a:xfrm>
          <a:prstGeom prst="rect">
            <a:avLst/>
          </a:prstGeom>
          <a:solidFill>
            <a:srgbClr val="0A1F3A"/>
          </a:solidFill>
          <a:ln w="12700">
            <a:solidFill>
              <a:srgbClr val="1A3A5C"/>
            </a:solidFill>
            <a:prstDash val="solid"/>
          </a:ln>
        </p:spPr>
      </p:sp>
      <p:sp>
        <p:nvSpPr>
          <p:cNvPr id="25" name="Text 23"/>
          <p:cNvSpPr/>
          <p:nvPr/>
        </p:nvSpPr>
        <p:spPr>
          <a:xfrm>
            <a:off x="4892040" y="2157984"/>
            <a:ext cx="3657600" cy="21945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Mimicry Problem</a:t>
            </a:r>
            <a:endParaRPr lang="en-US" sz="1000" dirty="0"/>
          </a:p>
        </p:txBody>
      </p:sp>
      <p:sp>
        <p:nvSpPr>
          <p:cNvPr id="26" name="Text 24"/>
          <p:cNvSpPr/>
          <p:nvPr/>
        </p:nvSpPr>
        <p:spPr>
          <a:xfrm>
            <a:off x="4892040" y="2386584"/>
            <a:ext cx="3657600" cy="201168"/>
          </a:xfrm>
          <a:prstGeom prst="rect">
            <a:avLst/>
          </a:prstGeom>
          <a:noFill/>
          <a:ln/>
        </p:spPr>
        <p:txBody>
          <a:bodyPr wrap="square" rtlCol="0" anchor="ctr"/>
          <a:lstStyle/>
          <a:p>
            <a:pPr indent="0" marL="0">
              <a:buNone/>
            </a:pPr>
            <a:r>
              <a:rPr lang="en-US" sz="900" dirty="0">
                <a:solidFill>
                  <a:srgbClr val="8899AA"/>
                </a:solidFill>
                <a:latin typeface="Calibri" pitchFamily="34" charset="0"/>
                <a:ea typeface="Calibri" pitchFamily="34" charset="-122"/>
                <a:cs typeface="Calibri" pitchFamily="34" charset="-120"/>
              </a:rPr>
              <a:t>Attack traffic resembles normal patterns</a:t>
            </a:r>
            <a:endParaRPr lang="en-US" sz="900" dirty="0"/>
          </a:p>
        </p:txBody>
      </p:sp>
      <p:sp>
        <p:nvSpPr>
          <p:cNvPr id="27" name="Shape 25"/>
          <p:cNvSpPr/>
          <p:nvPr/>
        </p:nvSpPr>
        <p:spPr>
          <a:xfrm>
            <a:off x="4800600" y="2825496"/>
            <a:ext cx="3886200" cy="566928"/>
          </a:xfrm>
          <a:prstGeom prst="rect">
            <a:avLst/>
          </a:prstGeom>
          <a:solidFill>
            <a:srgbClr val="0A1F3A"/>
          </a:solidFill>
          <a:ln w="12700">
            <a:solidFill>
              <a:srgbClr val="1A3A5C"/>
            </a:solidFill>
            <a:prstDash val="solid"/>
          </a:ln>
        </p:spPr>
      </p:sp>
      <p:sp>
        <p:nvSpPr>
          <p:cNvPr id="28" name="Text 26"/>
          <p:cNvSpPr/>
          <p:nvPr/>
        </p:nvSpPr>
        <p:spPr>
          <a:xfrm>
            <a:off x="4892040" y="2862072"/>
            <a:ext cx="3657600" cy="21945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No Labels</a:t>
            </a:r>
            <a:endParaRPr lang="en-US" sz="1000" dirty="0"/>
          </a:p>
        </p:txBody>
      </p:sp>
      <p:sp>
        <p:nvSpPr>
          <p:cNvPr id="29" name="Text 27"/>
          <p:cNvSpPr/>
          <p:nvPr/>
        </p:nvSpPr>
        <p:spPr>
          <a:xfrm>
            <a:off x="4892040" y="3090672"/>
            <a:ext cx="3657600" cy="201168"/>
          </a:xfrm>
          <a:prstGeom prst="rect">
            <a:avLst/>
          </a:prstGeom>
          <a:noFill/>
          <a:ln/>
        </p:spPr>
        <p:txBody>
          <a:bodyPr wrap="square" rtlCol="0" anchor="ctr"/>
          <a:lstStyle/>
          <a:p>
            <a:pPr indent="0" marL="0">
              <a:buNone/>
            </a:pPr>
            <a:r>
              <a:rPr lang="en-US" sz="900" dirty="0">
                <a:solidFill>
                  <a:srgbClr val="8899AA"/>
                </a:solidFill>
                <a:latin typeface="Calibri" pitchFamily="34" charset="0"/>
                <a:ea typeface="Calibri" pitchFamily="34" charset="-122"/>
                <a:cs typeface="Calibri" pitchFamily="34" charset="-120"/>
              </a:rPr>
              <a:t>Labeled attack datasets are rare and limited</a:t>
            </a:r>
            <a:endParaRPr lang="en-US" sz="900" dirty="0"/>
          </a:p>
        </p:txBody>
      </p:sp>
      <p:sp>
        <p:nvSpPr>
          <p:cNvPr id="30" name="Shape 28"/>
          <p:cNvSpPr/>
          <p:nvPr/>
        </p:nvSpPr>
        <p:spPr>
          <a:xfrm>
            <a:off x="4800600" y="3529584"/>
            <a:ext cx="3886200" cy="566928"/>
          </a:xfrm>
          <a:prstGeom prst="rect">
            <a:avLst/>
          </a:prstGeom>
          <a:solidFill>
            <a:srgbClr val="0A1F3A"/>
          </a:solidFill>
          <a:ln w="12700">
            <a:solidFill>
              <a:srgbClr val="1A3A5C"/>
            </a:solidFill>
            <a:prstDash val="solid"/>
          </a:ln>
        </p:spPr>
      </p:sp>
      <p:sp>
        <p:nvSpPr>
          <p:cNvPr id="31" name="Text 29"/>
          <p:cNvSpPr/>
          <p:nvPr/>
        </p:nvSpPr>
        <p:spPr>
          <a:xfrm>
            <a:off x="4892040" y="3566160"/>
            <a:ext cx="3657600" cy="21945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High Dimensionality</a:t>
            </a:r>
            <a:endParaRPr lang="en-US" sz="1000" dirty="0"/>
          </a:p>
        </p:txBody>
      </p:sp>
      <p:sp>
        <p:nvSpPr>
          <p:cNvPr id="32" name="Text 30"/>
          <p:cNvSpPr/>
          <p:nvPr/>
        </p:nvSpPr>
        <p:spPr>
          <a:xfrm>
            <a:off x="4892040" y="3794760"/>
            <a:ext cx="3657600" cy="201168"/>
          </a:xfrm>
          <a:prstGeom prst="rect">
            <a:avLst/>
          </a:prstGeom>
          <a:noFill/>
          <a:ln/>
        </p:spPr>
        <p:txBody>
          <a:bodyPr wrap="square" rtlCol="0" anchor="ctr"/>
          <a:lstStyle/>
          <a:p>
            <a:pPr indent="0" marL="0">
              <a:buNone/>
            </a:pPr>
            <a:r>
              <a:rPr lang="en-US" sz="900" dirty="0">
                <a:solidFill>
                  <a:srgbClr val="8899AA"/>
                </a:solidFill>
                <a:latin typeface="Calibri" pitchFamily="34" charset="0"/>
                <a:ea typeface="Calibri" pitchFamily="34" charset="-122"/>
                <a:cs typeface="Calibri" pitchFamily="34" charset="-120"/>
              </a:rPr>
              <a:t>115 feature vectors per network packet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00FF9D"/>
          </a:solidFill>
          <a:ln w="12700">
            <a:solidFill>
              <a:srgbClr val="00FF9D"/>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PROJECT OBJECTIVES</a:t>
            </a:r>
            <a:endParaRPr lang="en-US" sz="2200" dirty="0"/>
          </a:p>
        </p:txBody>
      </p:sp>
      <p:sp>
        <p:nvSpPr>
          <p:cNvPr id="5" name="Shape 3"/>
          <p:cNvSpPr/>
          <p:nvPr/>
        </p:nvSpPr>
        <p:spPr>
          <a:xfrm>
            <a:off x="274320" y="868680"/>
            <a:ext cx="2651760" cy="1783080"/>
          </a:xfrm>
          <a:prstGeom prst="rect">
            <a:avLst/>
          </a:prstGeom>
          <a:solidFill>
            <a:srgbClr val="111C35"/>
          </a:solidFill>
          <a:ln w="12700">
            <a:solidFill>
              <a:srgbClr val="003355"/>
            </a:solidFill>
            <a:prstDash val="solid"/>
          </a:ln>
        </p:spPr>
      </p:sp>
      <p:sp>
        <p:nvSpPr>
          <p:cNvPr id="6" name="Text 4"/>
          <p:cNvSpPr/>
          <p:nvPr/>
        </p:nvSpPr>
        <p:spPr>
          <a:xfrm>
            <a:off x="411480" y="1033272"/>
            <a:ext cx="502920" cy="50292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960120" y="1005840"/>
            <a:ext cx="1828800" cy="32004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Traffic Analysis</a:t>
            </a:r>
            <a:endParaRPr lang="en-US" sz="1100" dirty="0"/>
          </a:p>
        </p:txBody>
      </p:sp>
      <p:sp>
        <p:nvSpPr>
          <p:cNvPr id="8" name="Text 6"/>
          <p:cNvSpPr/>
          <p:nvPr/>
        </p:nvSpPr>
        <p:spPr>
          <a:xfrm>
            <a:off x="384048" y="1417320"/>
            <a:ext cx="2468880" cy="105156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Analyze raw network traffic captured in packet format (.pcapng files)</a:t>
            </a:r>
            <a:endParaRPr lang="en-US" sz="1000" dirty="0"/>
          </a:p>
        </p:txBody>
      </p:sp>
      <p:sp>
        <p:nvSpPr>
          <p:cNvPr id="9" name="Shape 7"/>
          <p:cNvSpPr/>
          <p:nvPr/>
        </p:nvSpPr>
        <p:spPr>
          <a:xfrm>
            <a:off x="3200400" y="868680"/>
            <a:ext cx="2651760" cy="1783080"/>
          </a:xfrm>
          <a:prstGeom prst="rect">
            <a:avLst/>
          </a:prstGeom>
          <a:solidFill>
            <a:srgbClr val="111C35"/>
          </a:solidFill>
          <a:ln w="12700">
            <a:solidFill>
              <a:srgbClr val="003322"/>
            </a:solidFill>
            <a:prstDash val="solid"/>
          </a:ln>
        </p:spPr>
      </p:sp>
      <p:sp>
        <p:nvSpPr>
          <p:cNvPr id="10" name="Text 8"/>
          <p:cNvSpPr/>
          <p:nvPr/>
        </p:nvSpPr>
        <p:spPr>
          <a:xfrm>
            <a:off x="3337560" y="1033272"/>
            <a:ext cx="502920" cy="50292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3886200" y="1005840"/>
            <a:ext cx="1828800" cy="32004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Feature Extraction</a:t>
            </a:r>
            <a:endParaRPr lang="en-US" sz="1100" dirty="0"/>
          </a:p>
        </p:txBody>
      </p:sp>
      <p:sp>
        <p:nvSpPr>
          <p:cNvPr id="12" name="Text 10"/>
          <p:cNvSpPr/>
          <p:nvPr/>
        </p:nvSpPr>
        <p:spPr>
          <a:xfrm>
            <a:off x="3310128" y="1417320"/>
            <a:ext cx="2468880" cy="105156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Convert packet data into structured 115-feature datasets using TShark</a:t>
            </a:r>
            <a:endParaRPr lang="en-US" sz="1000" dirty="0"/>
          </a:p>
        </p:txBody>
      </p:sp>
      <p:sp>
        <p:nvSpPr>
          <p:cNvPr id="13" name="Shape 11"/>
          <p:cNvSpPr/>
          <p:nvPr/>
        </p:nvSpPr>
        <p:spPr>
          <a:xfrm>
            <a:off x="6126480" y="868680"/>
            <a:ext cx="2651760" cy="1783080"/>
          </a:xfrm>
          <a:prstGeom prst="rect">
            <a:avLst/>
          </a:prstGeom>
          <a:solidFill>
            <a:srgbClr val="111C35"/>
          </a:solidFill>
          <a:ln w="12700">
            <a:solidFill>
              <a:srgbClr val="003355"/>
            </a:solidFill>
            <a:prstDash val="solid"/>
          </a:ln>
        </p:spPr>
      </p:sp>
      <p:sp>
        <p:nvSpPr>
          <p:cNvPr id="14" name="Text 12"/>
          <p:cNvSpPr/>
          <p:nvPr/>
        </p:nvSpPr>
        <p:spPr>
          <a:xfrm>
            <a:off x="6263640" y="1033272"/>
            <a:ext cx="502920" cy="50292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6812280" y="1005840"/>
            <a:ext cx="1828800" cy="32004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Kitsune ML Framework</a:t>
            </a:r>
            <a:endParaRPr lang="en-US" sz="1100" dirty="0"/>
          </a:p>
        </p:txBody>
      </p:sp>
      <p:sp>
        <p:nvSpPr>
          <p:cNvPr id="16" name="Text 14"/>
          <p:cNvSpPr/>
          <p:nvPr/>
        </p:nvSpPr>
        <p:spPr>
          <a:xfrm>
            <a:off x="6236208" y="1417320"/>
            <a:ext cx="2468880" cy="105156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Apply the Kitsune autoencoder framework for unsupervised anomaly detection</a:t>
            </a:r>
            <a:endParaRPr lang="en-US" sz="1000" dirty="0"/>
          </a:p>
        </p:txBody>
      </p:sp>
      <p:sp>
        <p:nvSpPr>
          <p:cNvPr id="17" name="Shape 15"/>
          <p:cNvSpPr/>
          <p:nvPr/>
        </p:nvSpPr>
        <p:spPr>
          <a:xfrm>
            <a:off x="274320" y="2880360"/>
            <a:ext cx="2651760" cy="1783080"/>
          </a:xfrm>
          <a:prstGeom prst="rect">
            <a:avLst/>
          </a:prstGeom>
          <a:solidFill>
            <a:srgbClr val="111C35"/>
          </a:solidFill>
          <a:ln w="12700">
            <a:solidFill>
              <a:srgbClr val="003322"/>
            </a:solidFill>
            <a:prstDash val="solid"/>
          </a:ln>
        </p:spPr>
      </p:sp>
      <p:sp>
        <p:nvSpPr>
          <p:cNvPr id="18" name="Text 16"/>
          <p:cNvSpPr/>
          <p:nvPr/>
        </p:nvSpPr>
        <p:spPr>
          <a:xfrm>
            <a:off x="411480" y="3044952"/>
            <a:ext cx="502920" cy="50292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960120" y="3017520"/>
            <a:ext cx="1828800" cy="32004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ARP MitM Detection</a:t>
            </a:r>
            <a:endParaRPr lang="en-US" sz="1100" dirty="0"/>
          </a:p>
        </p:txBody>
      </p:sp>
      <p:sp>
        <p:nvSpPr>
          <p:cNvPr id="20" name="Text 18"/>
          <p:cNvSpPr/>
          <p:nvPr/>
        </p:nvSpPr>
        <p:spPr>
          <a:xfrm>
            <a:off x="384048" y="3429000"/>
            <a:ext cx="2468880" cy="105156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Specifically detect Address Resolution Protocol Man-in-the-Middle attacks</a:t>
            </a:r>
            <a:endParaRPr lang="en-US" sz="1000" dirty="0"/>
          </a:p>
        </p:txBody>
      </p:sp>
      <p:sp>
        <p:nvSpPr>
          <p:cNvPr id="21" name="Shape 19"/>
          <p:cNvSpPr/>
          <p:nvPr/>
        </p:nvSpPr>
        <p:spPr>
          <a:xfrm>
            <a:off x="3200400" y="2880360"/>
            <a:ext cx="2651760" cy="1783080"/>
          </a:xfrm>
          <a:prstGeom prst="rect">
            <a:avLst/>
          </a:prstGeom>
          <a:solidFill>
            <a:srgbClr val="111C35"/>
          </a:solidFill>
          <a:ln w="12700">
            <a:solidFill>
              <a:srgbClr val="003355"/>
            </a:solidFill>
            <a:prstDash val="solid"/>
          </a:ln>
        </p:spPr>
      </p:sp>
      <p:sp>
        <p:nvSpPr>
          <p:cNvPr id="22" name="Text 20"/>
          <p:cNvSpPr/>
          <p:nvPr/>
        </p:nvSpPr>
        <p:spPr>
          <a:xfrm>
            <a:off x="3337560" y="3044952"/>
            <a:ext cx="502920" cy="50292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3" name="Text 21"/>
          <p:cNvSpPr/>
          <p:nvPr/>
        </p:nvSpPr>
        <p:spPr>
          <a:xfrm>
            <a:off x="3886200" y="3017520"/>
            <a:ext cx="1828800" cy="32004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High Accuracy</a:t>
            </a:r>
            <a:endParaRPr lang="en-US" sz="1100" dirty="0"/>
          </a:p>
        </p:txBody>
      </p:sp>
      <p:sp>
        <p:nvSpPr>
          <p:cNvPr id="24" name="Text 22"/>
          <p:cNvSpPr/>
          <p:nvPr/>
        </p:nvSpPr>
        <p:spPr>
          <a:xfrm>
            <a:off x="3310128" y="3429000"/>
            <a:ext cx="2468880" cy="105156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Achieve high detection accuracy with strong recall for both traffic types</a:t>
            </a:r>
            <a:endParaRPr lang="en-US" sz="1000" dirty="0"/>
          </a:p>
        </p:txBody>
      </p:sp>
      <p:sp>
        <p:nvSpPr>
          <p:cNvPr id="25" name="Shape 23"/>
          <p:cNvSpPr/>
          <p:nvPr/>
        </p:nvSpPr>
        <p:spPr>
          <a:xfrm>
            <a:off x="6126480" y="2880360"/>
            <a:ext cx="2651760" cy="1783080"/>
          </a:xfrm>
          <a:prstGeom prst="rect">
            <a:avLst/>
          </a:prstGeom>
          <a:solidFill>
            <a:srgbClr val="111C35"/>
          </a:solidFill>
          <a:ln w="12700">
            <a:solidFill>
              <a:srgbClr val="003322"/>
            </a:solidFill>
            <a:prstDash val="solid"/>
          </a:ln>
        </p:spPr>
      </p:sp>
      <p:sp>
        <p:nvSpPr>
          <p:cNvPr id="26" name="Text 24"/>
          <p:cNvSpPr/>
          <p:nvPr/>
        </p:nvSpPr>
        <p:spPr>
          <a:xfrm>
            <a:off x="6263640" y="3044952"/>
            <a:ext cx="502920" cy="50292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7" name="Text 25"/>
          <p:cNvSpPr/>
          <p:nvPr/>
        </p:nvSpPr>
        <p:spPr>
          <a:xfrm>
            <a:off x="6812280" y="3017520"/>
            <a:ext cx="1828800" cy="32004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Threshold Evaluation</a:t>
            </a:r>
            <a:endParaRPr lang="en-US" sz="1100" dirty="0"/>
          </a:p>
        </p:txBody>
      </p:sp>
      <p:sp>
        <p:nvSpPr>
          <p:cNvPr id="28" name="Text 26"/>
          <p:cNvSpPr/>
          <p:nvPr/>
        </p:nvSpPr>
        <p:spPr>
          <a:xfrm>
            <a:off x="6236208" y="3429000"/>
            <a:ext cx="2468880" cy="105156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Evaluate performance across multiple thresholds (80%–99% quantiles)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00D4FF"/>
          </a:solidFill>
          <a:ln w="12700">
            <a:solidFill>
              <a:srgbClr val="00D4FF"/>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INTRODUCTION TO KITSUNE FRAMEWORK</a:t>
            </a:r>
            <a:endParaRPr lang="en-US" sz="2200" dirty="0"/>
          </a:p>
        </p:txBody>
      </p:sp>
      <p:sp>
        <p:nvSpPr>
          <p:cNvPr id="5" name="Shape 3"/>
          <p:cNvSpPr/>
          <p:nvPr/>
        </p:nvSpPr>
        <p:spPr>
          <a:xfrm>
            <a:off x="274320" y="841248"/>
            <a:ext cx="4114800" cy="3931920"/>
          </a:xfrm>
          <a:prstGeom prst="rect">
            <a:avLst/>
          </a:prstGeom>
          <a:solidFill>
            <a:srgbClr val="111C35"/>
          </a:solidFill>
          <a:ln w="12700">
            <a:solidFill>
              <a:srgbClr val="1A3A5C"/>
            </a:solidFill>
            <a:prstDash val="solid"/>
          </a:ln>
        </p:spPr>
      </p:sp>
      <p:sp>
        <p:nvSpPr>
          <p:cNvPr id="6" name="Text 4"/>
          <p:cNvSpPr/>
          <p:nvPr/>
        </p:nvSpPr>
        <p:spPr>
          <a:xfrm>
            <a:off x="411480" y="914400"/>
            <a:ext cx="3840480" cy="274320"/>
          </a:xfrm>
          <a:prstGeom prst="rect">
            <a:avLst/>
          </a:prstGeom>
          <a:noFill/>
          <a:ln/>
        </p:spPr>
        <p:txBody>
          <a:bodyPr wrap="square"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What is Kitsune?</a:t>
            </a:r>
            <a:endParaRPr lang="en-US" sz="1300" dirty="0"/>
          </a:p>
        </p:txBody>
      </p:sp>
      <p:sp>
        <p:nvSpPr>
          <p:cNvPr id="7" name="Text 5"/>
          <p:cNvSpPr/>
          <p:nvPr/>
        </p:nvSpPr>
        <p:spPr>
          <a:xfrm>
            <a:off x="411480" y="1188720"/>
            <a:ext cx="3794760" cy="685800"/>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An ensemble of autoencoders for online network intrusion detection (NDSS 2018). Uses unsupervised learning — trains only on benign traffic.</a:t>
            </a:r>
            <a:endParaRPr lang="en-US" sz="1050" dirty="0"/>
          </a:p>
        </p:txBody>
      </p:sp>
      <p:sp>
        <p:nvSpPr>
          <p:cNvPr id="8" name="Shape 6"/>
          <p:cNvSpPr/>
          <p:nvPr/>
        </p:nvSpPr>
        <p:spPr>
          <a:xfrm>
            <a:off x="411480" y="1920240"/>
            <a:ext cx="3657600" cy="0"/>
          </a:xfrm>
          <a:prstGeom prst="line">
            <a:avLst/>
          </a:prstGeom>
          <a:noFill/>
          <a:ln w="12700">
            <a:solidFill>
              <a:srgbClr val="1A3A5C"/>
            </a:solidFill>
            <a:prstDash val="solid"/>
          </a:ln>
        </p:spPr>
      </p:sp>
      <p:sp>
        <p:nvSpPr>
          <p:cNvPr id="9" name="Text 7"/>
          <p:cNvSpPr/>
          <p:nvPr/>
        </p:nvSpPr>
        <p:spPr>
          <a:xfrm>
            <a:off x="411480" y="1993392"/>
            <a:ext cx="3840480" cy="274320"/>
          </a:xfrm>
          <a:prstGeom prst="rect">
            <a:avLst/>
          </a:prstGeom>
          <a:noFill/>
          <a:ln/>
        </p:spPr>
        <p:txBody>
          <a:bodyPr wrap="square"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Unsupervised Anomaly Detection</a:t>
            </a:r>
            <a:endParaRPr lang="en-US" sz="1300" dirty="0"/>
          </a:p>
        </p:txBody>
      </p:sp>
      <p:sp>
        <p:nvSpPr>
          <p:cNvPr id="10" name="Text 8"/>
          <p:cNvSpPr/>
          <p:nvPr/>
        </p:nvSpPr>
        <p:spPr>
          <a:xfrm>
            <a:off x="411480" y="2286000"/>
            <a:ext cx="3794760" cy="822960"/>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 Learns normal network behavior</a:t>
            </a:r>
            <a:endParaRPr lang="en-US" sz="1050" dirty="0"/>
          </a:p>
          <a:p>
            <a:pPr indent="0" marL="0">
              <a:buNone/>
            </a:pPr>
            <a:r>
              <a:rPr lang="en-US" sz="1050" dirty="0">
                <a:solidFill>
                  <a:srgbClr val="B0D4F1"/>
                </a:solidFill>
                <a:latin typeface="Calibri" pitchFamily="34" charset="0"/>
                <a:ea typeface="Calibri" pitchFamily="34" charset="-122"/>
                <a:cs typeface="Calibri" pitchFamily="34" charset="-120"/>
              </a:rPr>
              <a:t>• Flags deviations as suspicious</a:t>
            </a:r>
            <a:endParaRPr lang="en-US" sz="1050" dirty="0"/>
          </a:p>
          <a:p>
            <a:pPr indent="0" marL="0">
              <a:buNone/>
            </a:pPr>
            <a:r>
              <a:rPr lang="en-US" sz="1050" dirty="0">
                <a:solidFill>
                  <a:srgbClr val="B0D4F1"/>
                </a:solidFill>
                <a:latin typeface="Calibri" pitchFamily="34" charset="0"/>
                <a:ea typeface="Calibri" pitchFamily="34" charset="-122"/>
                <a:cs typeface="Calibri" pitchFamily="34" charset="-120"/>
              </a:rPr>
              <a:t>• No labeled attack data needed</a:t>
            </a:r>
            <a:endParaRPr lang="en-US" sz="1050" dirty="0"/>
          </a:p>
          <a:p>
            <a:pPr indent="0" marL="0">
              <a:buNone/>
            </a:pPr>
            <a:r>
              <a:rPr lang="en-US" sz="1050" dirty="0">
                <a:solidFill>
                  <a:srgbClr val="B0D4F1"/>
                </a:solidFill>
                <a:latin typeface="Calibri" pitchFamily="34" charset="0"/>
                <a:ea typeface="Calibri" pitchFamily="34" charset="-122"/>
                <a:cs typeface="Calibri" pitchFamily="34" charset="-120"/>
              </a:rPr>
              <a:t>• Detects previously unseen attacks</a:t>
            </a:r>
            <a:endParaRPr lang="en-US" sz="1050" dirty="0"/>
          </a:p>
        </p:txBody>
      </p:sp>
      <p:sp>
        <p:nvSpPr>
          <p:cNvPr id="11" name="Shape 9"/>
          <p:cNvSpPr/>
          <p:nvPr/>
        </p:nvSpPr>
        <p:spPr>
          <a:xfrm>
            <a:off x="411480" y="3182112"/>
            <a:ext cx="3657600" cy="0"/>
          </a:xfrm>
          <a:prstGeom prst="line">
            <a:avLst/>
          </a:prstGeom>
          <a:noFill/>
          <a:ln w="12700">
            <a:solidFill>
              <a:srgbClr val="1A3A5C"/>
            </a:solidFill>
            <a:prstDash val="solid"/>
          </a:ln>
        </p:spPr>
      </p:sp>
      <p:sp>
        <p:nvSpPr>
          <p:cNvPr id="12" name="Text 10"/>
          <p:cNvSpPr/>
          <p:nvPr/>
        </p:nvSpPr>
        <p:spPr>
          <a:xfrm>
            <a:off x="411480" y="3255264"/>
            <a:ext cx="3840480" cy="274320"/>
          </a:xfrm>
          <a:prstGeom prst="rect">
            <a:avLst/>
          </a:prstGeom>
          <a:noFill/>
          <a:ln/>
        </p:spPr>
        <p:txBody>
          <a:bodyPr wrap="square"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Autoencoder-Based Learning</a:t>
            </a:r>
            <a:endParaRPr lang="en-US" sz="1300" dirty="0"/>
          </a:p>
        </p:txBody>
      </p:sp>
      <p:sp>
        <p:nvSpPr>
          <p:cNvPr id="13" name="Text 11"/>
          <p:cNvSpPr/>
          <p:nvPr/>
        </p:nvSpPr>
        <p:spPr>
          <a:xfrm>
            <a:off x="411480" y="3547872"/>
            <a:ext cx="3794760" cy="640080"/>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Neural networks trained to reconstruct normal input. Poor reconstruction on attack traffic → high anomaly score.</a:t>
            </a:r>
            <a:endParaRPr lang="en-US" sz="1050" dirty="0"/>
          </a:p>
        </p:txBody>
      </p:sp>
      <p:sp>
        <p:nvSpPr>
          <p:cNvPr id="14" name="Text 12"/>
          <p:cNvSpPr/>
          <p:nvPr/>
        </p:nvSpPr>
        <p:spPr>
          <a:xfrm>
            <a:off x="411480" y="4251960"/>
            <a:ext cx="3840480" cy="274320"/>
          </a:xfrm>
          <a:prstGeom prst="rect">
            <a:avLst/>
          </a:prstGeom>
          <a:noFill/>
          <a:ln/>
        </p:spPr>
        <p:txBody>
          <a:bodyPr wrap="square" rtlCol="0" anchor="ctr"/>
          <a:lstStyle/>
          <a:p>
            <a:pPr indent="0" marL="0">
              <a:buNone/>
            </a:pPr>
            <a:r>
              <a:rPr lang="en-US" sz="950" i="1" dirty="0">
                <a:solidFill>
                  <a:srgbClr val="8899AA"/>
                </a:solidFill>
                <a:latin typeface="Calibri" pitchFamily="34" charset="0"/>
                <a:ea typeface="Calibri" pitchFamily="34" charset="-122"/>
                <a:cs typeface="Calibri" pitchFamily="34" charset="-120"/>
              </a:rPr>
              <a:t>Used: kitsune-pytorch implementation</a:t>
            </a:r>
            <a:endParaRPr lang="en-US" sz="950" dirty="0"/>
          </a:p>
        </p:txBody>
      </p:sp>
      <p:sp>
        <p:nvSpPr>
          <p:cNvPr id="15" name="Shape 13"/>
          <p:cNvSpPr/>
          <p:nvPr/>
        </p:nvSpPr>
        <p:spPr>
          <a:xfrm>
            <a:off x="4709160" y="841248"/>
            <a:ext cx="4114800" cy="3931920"/>
          </a:xfrm>
          <a:prstGeom prst="rect">
            <a:avLst/>
          </a:prstGeom>
          <a:solidFill>
            <a:srgbClr val="111C35"/>
          </a:solidFill>
          <a:ln w="12700">
            <a:solidFill>
              <a:srgbClr val="1A3A5C"/>
            </a:solidFill>
            <a:prstDash val="solid"/>
          </a:ln>
        </p:spPr>
      </p:sp>
      <p:sp>
        <p:nvSpPr>
          <p:cNvPr id="16" name="Text 14"/>
          <p:cNvSpPr/>
          <p:nvPr/>
        </p:nvSpPr>
        <p:spPr>
          <a:xfrm>
            <a:off x="4846320" y="932688"/>
            <a:ext cx="3840480" cy="274320"/>
          </a:xfrm>
          <a:prstGeom prst="rect">
            <a:avLst/>
          </a:prstGeom>
          <a:noFill/>
          <a:ln/>
        </p:spPr>
        <p:txBody>
          <a:bodyPr wrap="square"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How Autoencoders Work</a:t>
            </a:r>
            <a:endParaRPr lang="en-US" sz="1200" dirty="0"/>
          </a:p>
        </p:txBody>
      </p:sp>
      <p:sp>
        <p:nvSpPr>
          <p:cNvPr id="17" name="Shape 15"/>
          <p:cNvSpPr/>
          <p:nvPr/>
        </p:nvSpPr>
        <p:spPr>
          <a:xfrm>
            <a:off x="4892040" y="1417320"/>
            <a:ext cx="658368" cy="1005840"/>
          </a:xfrm>
          <a:prstGeom prst="rect">
            <a:avLst/>
          </a:prstGeom>
          <a:solidFill>
            <a:srgbClr val="0A1F3A"/>
          </a:solidFill>
          <a:ln w="19050">
            <a:solidFill>
              <a:srgbClr val="0066CC"/>
            </a:solidFill>
            <a:prstDash val="solid"/>
          </a:ln>
        </p:spPr>
      </p:sp>
      <p:sp>
        <p:nvSpPr>
          <p:cNvPr id="18" name="Text 16"/>
          <p:cNvSpPr/>
          <p:nvPr/>
        </p:nvSpPr>
        <p:spPr>
          <a:xfrm>
            <a:off x="4892040" y="1417320"/>
            <a:ext cx="658368" cy="1005840"/>
          </a:xfrm>
          <a:prstGeom prst="rect">
            <a:avLst/>
          </a:prstGeom>
          <a:noFill/>
          <a:ln/>
        </p:spPr>
        <p:txBody>
          <a:bodyPr wrap="square" rtlCol="0" anchor="ctr"/>
          <a:lstStyle/>
          <a:p>
            <a:pPr algn="ctr" indent="0" marL="0">
              <a:buNone/>
            </a:pPr>
            <a:r>
              <a:rPr lang="en-US" sz="700" b="1" dirty="0">
                <a:solidFill>
                  <a:srgbClr val="0066CC"/>
                </a:solidFill>
                <a:latin typeface="Calibri" pitchFamily="34" charset="0"/>
                <a:ea typeface="Calibri" pitchFamily="34" charset="-122"/>
                <a:cs typeface="Calibri" pitchFamily="34" charset="-120"/>
              </a:rPr>
              <a:t>Input</a:t>
            </a:r>
            <a:endParaRPr lang="en-US" sz="700" dirty="0"/>
          </a:p>
          <a:p>
            <a:pPr algn="ctr" indent="0" marL="0">
              <a:buNone/>
            </a:pPr>
            <a:r>
              <a:rPr lang="en-US" sz="700" b="1" dirty="0">
                <a:solidFill>
                  <a:srgbClr val="0066CC"/>
                </a:solidFill>
                <a:latin typeface="Calibri" pitchFamily="34" charset="0"/>
                <a:ea typeface="Calibri" pitchFamily="34" charset="-122"/>
                <a:cs typeface="Calibri" pitchFamily="34" charset="-120"/>
              </a:rPr>
              <a:t>(115 features)</a:t>
            </a:r>
            <a:endParaRPr lang="en-US" sz="700" dirty="0"/>
          </a:p>
        </p:txBody>
      </p:sp>
      <p:sp>
        <p:nvSpPr>
          <p:cNvPr id="19" name="Shape 17"/>
          <p:cNvSpPr/>
          <p:nvPr/>
        </p:nvSpPr>
        <p:spPr>
          <a:xfrm>
            <a:off x="5550408" y="1920240"/>
            <a:ext cx="274320" cy="0"/>
          </a:xfrm>
          <a:prstGeom prst="line">
            <a:avLst/>
          </a:prstGeom>
          <a:noFill/>
          <a:ln w="12700">
            <a:solidFill>
              <a:srgbClr val="8899AA"/>
            </a:solidFill>
            <a:prstDash val="solid"/>
          </a:ln>
        </p:spPr>
      </p:sp>
      <p:sp>
        <p:nvSpPr>
          <p:cNvPr id="20" name="Shape 18"/>
          <p:cNvSpPr/>
          <p:nvPr/>
        </p:nvSpPr>
        <p:spPr>
          <a:xfrm>
            <a:off x="5806440" y="1417320"/>
            <a:ext cx="658368" cy="1005840"/>
          </a:xfrm>
          <a:prstGeom prst="rect">
            <a:avLst/>
          </a:prstGeom>
          <a:solidFill>
            <a:srgbClr val="0A1F3A"/>
          </a:solidFill>
          <a:ln w="19050">
            <a:solidFill>
              <a:srgbClr val="00D4FF"/>
            </a:solidFill>
            <a:prstDash val="solid"/>
          </a:ln>
        </p:spPr>
      </p:sp>
      <p:sp>
        <p:nvSpPr>
          <p:cNvPr id="21" name="Text 19"/>
          <p:cNvSpPr/>
          <p:nvPr/>
        </p:nvSpPr>
        <p:spPr>
          <a:xfrm>
            <a:off x="5806440" y="1417320"/>
            <a:ext cx="658368" cy="1005840"/>
          </a:xfrm>
          <a:prstGeom prst="rect">
            <a:avLst/>
          </a:prstGeom>
          <a:noFill/>
          <a:ln/>
        </p:spPr>
        <p:txBody>
          <a:bodyPr wrap="square" rtlCol="0" anchor="ctr"/>
          <a:lstStyle/>
          <a:p>
            <a:pPr algn="ctr" indent="0" marL="0">
              <a:buNone/>
            </a:pPr>
            <a:r>
              <a:rPr lang="en-US" sz="700" b="1" dirty="0">
                <a:solidFill>
                  <a:srgbClr val="00D4FF"/>
                </a:solidFill>
                <a:latin typeface="Calibri" pitchFamily="34" charset="0"/>
                <a:ea typeface="Calibri" pitchFamily="34" charset="-122"/>
                <a:cs typeface="Calibri" pitchFamily="34" charset="-120"/>
              </a:rPr>
              <a:t>Encoder</a:t>
            </a:r>
            <a:endParaRPr lang="en-US" sz="700" dirty="0"/>
          </a:p>
          <a:p>
            <a:pPr algn="ctr" indent="0" marL="0">
              <a:buNone/>
            </a:pPr>
            <a:r>
              <a:rPr lang="en-US" sz="700" b="1" dirty="0">
                <a:solidFill>
                  <a:srgbClr val="00D4FF"/>
                </a:solidFill>
                <a:latin typeface="Calibri" pitchFamily="34" charset="0"/>
                <a:ea typeface="Calibri" pitchFamily="34" charset="-122"/>
                <a:cs typeface="Calibri" pitchFamily="34" charset="-120"/>
              </a:rPr>
              <a:t>(compress)</a:t>
            </a:r>
            <a:endParaRPr lang="en-US" sz="700" dirty="0"/>
          </a:p>
        </p:txBody>
      </p:sp>
      <p:sp>
        <p:nvSpPr>
          <p:cNvPr id="22" name="Shape 20"/>
          <p:cNvSpPr/>
          <p:nvPr/>
        </p:nvSpPr>
        <p:spPr>
          <a:xfrm>
            <a:off x="6464808" y="1920240"/>
            <a:ext cx="274320" cy="0"/>
          </a:xfrm>
          <a:prstGeom prst="line">
            <a:avLst/>
          </a:prstGeom>
          <a:noFill/>
          <a:ln w="12700">
            <a:solidFill>
              <a:srgbClr val="8899AA"/>
            </a:solidFill>
            <a:prstDash val="solid"/>
          </a:ln>
        </p:spPr>
      </p:sp>
      <p:sp>
        <p:nvSpPr>
          <p:cNvPr id="23" name="Shape 21"/>
          <p:cNvSpPr/>
          <p:nvPr/>
        </p:nvSpPr>
        <p:spPr>
          <a:xfrm>
            <a:off x="6720840" y="1600200"/>
            <a:ext cx="658368" cy="640080"/>
          </a:xfrm>
          <a:prstGeom prst="rect">
            <a:avLst/>
          </a:prstGeom>
          <a:solidFill>
            <a:srgbClr val="0A1F3A"/>
          </a:solidFill>
          <a:ln w="19050">
            <a:solidFill>
              <a:srgbClr val="00FF9D"/>
            </a:solidFill>
            <a:prstDash val="solid"/>
          </a:ln>
        </p:spPr>
      </p:sp>
      <p:sp>
        <p:nvSpPr>
          <p:cNvPr id="24" name="Text 22"/>
          <p:cNvSpPr/>
          <p:nvPr/>
        </p:nvSpPr>
        <p:spPr>
          <a:xfrm>
            <a:off x="6720840" y="1600200"/>
            <a:ext cx="658368" cy="640080"/>
          </a:xfrm>
          <a:prstGeom prst="rect">
            <a:avLst/>
          </a:prstGeom>
          <a:noFill/>
          <a:ln/>
        </p:spPr>
        <p:txBody>
          <a:bodyPr wrap="square" rtlCol="0" anchor="ctr"/>
          <a:lstStyle/>
          <a:p>
            <a:pPr algn="ctr" indent="0" marL="0">
              <a:buNone/>
            </a:pPr>
            <a:r>
              <a:rPr lang="en-US" sz="700" b="1" dirty="0">
                <a:solidFill>
                  <a:srgbClr val="00FF9D"/>
                </a:solidFill>
                <a:latin typeface="Calibri" pitchFamily="34" charset="0"/>
                <a:ea typeface="Calibri" pitchFamily="34" charset="-122"/>
                <a:cs typeface="Calibri" pitchFamily="34" charset="-120"/>
              </a:rPr>
              <a:t>Latent</a:t>
            </a:r>
            <a:endParaRPr lang="en-US" sz="700" dirty="0"/>
          </a:p>
          <a:p>
            <a:pPr algn="ctr" indent="0" marL="0">
              <a:buNone/>
            </a:pPr>
            <a:r>
              <a:rPr lang="en-US" sz="700" b="1" dirty="0">
                <a:solidFill>
                  <a:srgbClr val="00FF9D"/>
                </a:solidFill>
                <a:latin typeface="Calibri" pitchFamily="34" charset="0"/>
                <a:ea typeface="Calibri" pitchFamily="34" charset="-122"/>
                <a:cs typeface="Calibri" pitchFamily="34" charset="-120"/>
              </a:rPr>
              <a:t>Space</a:t>
            </a:r>
            <a:endParaRPr lang="en-US" sz="700" dirty="0"/>
          </a:p>
        </p:txBody>
      </p:sp>
      <p:sp>
        <p:nvSpPr>
          <p:cNvPr id="25" name="Shape 23"/>
          <p:cNvSpPr/>
          <p:nvPr/>
        </p:nvSpPr>
        <p:spPr>
          <a:xfrm>
            <a:off x="7379208" y="1920240"/>
            <a:ext cx="274320" cy="0"/>
          </a:xfrm>
          <a:prstGeom prst="line">
            <a:avLst/>
          </a:prstGeom>
          <a:noFill/>
          <a:ln w="12700">
            <a:solidFill>
              <a:srgbClr val="8899AA"/>
            </a:solidFill>
            <a:prstDash val="solid"/>
          </a:ln>
        </p:spPr>
      </p:sp>
      <p:sp>
        <p:nvSpPr>
          <p:cNvPr id="26" name="Shape 24"/>
          <p:cNvSpPr/>
          <p:nvPr/>
        </p:nvSpPr>
        <p:spPr>
          <a:xfrm>
            <a:off x="7589520" y="1417320"/>
            <a:ext cx="658368" cy="1005840"/>
          </a:xfrm>
          <a:prstGeom prst="rect">
            <a:avLst/>
          </a:prstGeom>
          <a:solidFill>
            <a:srgbClr val="0A1F3A"/>
          </a:solidFill>
          <a:ln w="19050">
            <a:solidFill>
              <a:srgbClr val="00D4FF"/>
            </a:solidFill>
            <a:prstDash val="solid"/>
          </a:ln>
        </p:spPr>
      </p:sp>
      <p:sp>
        <p:nvSpPr>
          <p:cNvPr id="27" name="Text 25"/>
          <p:cNvSpPr/>
          <p:nvPr/>
        </p:nvSpPr>
        <p:spPr>
          <a:xfrm>
            <a:off x="7589520" y="1417320"/>
            <a:ext cx="658368" cy="1005840"/>
          </a:xfrm>
          <a:prstGeom prst="rect">
            <a:avLst/>
          </a:prstGeom>
          <a:noFill/>
          <a:ln/>
        </p:spPr>
        <p:txBody>
          <a:bodyPr wrap="square" rtlCol="0" anchor="ctr"/>
          <a:lstStyle/>
          <a:p>
            <a:pPr algn="ctr" indent="0" marL="0">
              <a:buNone/>
            </a:pPr>
            <a:r>
              <a:rPr lang="en-US" sz="700" b="1" dirty="0">
                <a:solidFill>
                  <a:srgbClr val="00D4FF"/>
                </a:solidFill>
                <a:latin typeface="Calibri" pitchFamily="34" charset="0"/>
                <a:ea typeface="Calibri" pitchFamily="34" charset="-122"/>
                <a:cs typeface="Calibri" pitchFamily="34" charset="-120"/>
              </a:rPr>
              <a:t>Decoder</a:t>
            </a:r>
            <a:endParaRPr lang="en-US" sz="700" dirty="0"/>
          </a:p>
          <a:p>
            <a:pPr algn="ctr" indent="0" marL="0">
              <a:buNone/>
            </a:pPr>
            <a:r>
              <a:rPr lang="en-US" sz="700" b="1" dirty="0">
                <a:solidFill>
                  <a:srgbClr val="00D4FF"/>
                </a:solidFill>
                <a:latin typeface="Calibri" pitchFamily="34" charset="0"/>
                <a:ea typeface="Calibri" pitchFamily="34" charset="-122"/>
                <a:cs typeface="Calibri" pitchFamily="34" charset="-120"/>
              </a:rPr>
              <a:t>(expand)</a:t>
            </a:r>
            <a:endParaRPr lang="en-US" sz="700" dirty="0"/>
          </a:p>
        </p:txBody>
      </p:sp>
      <p:sp>
        <p:nvSpPr>
          <p:cNvPr id="28" name="Shape 26"/>
          <p:cNvSpPr/>
          <p:nvPr/>
        </p:nvSpPr>
        <p:spPr>
          <a:xfrm>
            <a:off x="8247888" y="1920240"/>
            <a:ext cx="274320" cy="0"/>
          </a:xfrm>
          <a:prstGeom prst="line">
            <a:avLst/>
          </a:prstGeom>
          <a:noFill/>
          <a:ln w="12700">
            <a:solidFill>
              <a:srgbClr val="8899AA"/>
            </a:solidFill>
            <a:prstDash val="solid"/>
          </a:ln>
        </p:spPr>
      </p:sp>
      <p:sp>
        <p:nvSpPr>
          <p:cNvPr id="29" name="Shape 27"/>
          <p:cNvSpPr/>
          <p:nvPr/>
        </p:nvSpPr>
        <p:spPr>
          <a:xfrm>
            <a:off x="8321040" y="1417320"/>
            <a:ext cx="658368" cy="1005840"/>
          </a:xfrm>
          <a:prstGeom prst="rect">
            <a:avLst/>
          </a:prstGeom>
          <a:solidFill>
            <a:srgbClr val="0A1F3A"/>
          </a:solidFill>
          <a:ln w="19050">
            <a:solidFill>
              <a:srgbClr val="0066CC"/>
            </a:solidFill>
            <a:prstDash val="solid"/>
          </a:ln>
        </p:spPr>
      </p:sp>
      <p:sp>
        <p:nvSpPr>
          <p:cNvPr id="30" name="Text 28"/>
          <p:cNvSpPr/>
          <p:nvPr/>
        </p:nvSpPr>
        <p:spPr>
          <a:xfrm>
            <a:off x="8321040" y="1417320"/>
            <a:ext cx="658368" cy="1005840"/>
          </a:xfrm>
          <a:prstGeom prst="rect">
            <a:avLst/>
          </a:prstGeom>
          <a:noFill/>
          <a:ln/>
        </p:spPr>
        <p:txBody>
          <a:bodyPr wrap="square" rtlCol="0" anchor="ctr"/>
          <a:lstStyle/>
          <a:p>
            <a:pPr algn="ctr" indent="0" marL="0">
              <a:buNone/>
            </a:pPr>
            <a:r>
              <a:rPr lang="en-US" sz="700" b="1" dirty="0">
                <a:solidFill>
                  <a:srgbClr val="0066CC"/>
                </a:solidFill>
                <a:latin typeface="Calibri" pitchFamily="34" charset="0"/>
                <a:ea typeface="Calibri" pitchFamily="34" charset="-122"/>
                <a:cs typeface="Calibri" pitchFamily="34" charset="-120"/>
              </a:rPr>
              <a:t>Output</a:t>
            </a:r>
            <a:endParaRPr lang="en-US" sz="700" dirty="0"/>
          </a:p>
          <a:p>
            <a:pPr algn="ctr" indent="0" marL="0">
              <a:buNone/>
            </a:pPr>
            <a:r>
              <a:rPr lang="en-US" sz="700" b="1" dirty="0">
                <a:solidFill>
                  <a:srgbClr val="0066CC"/>
                </a:solidFill>
                <a:latin typeface="Calibri" pitchFamily="34" charset="0"/>
                <a:ea typeface="Calibri" pitchFamily="34" charset="-122"/>
                <a:cs typeface="Calibri" pitchFamily="34" charset="-120"/>
              </a:rPr>
              <a:t>(reconstruct)</a:t>
            </a:r>
            <a:endParaRPr lang="en-US" sz="700" dirty="0"/>
          </a:p>
        </p:txBody>
      </p:sp>
      <p:sp>
        <p:nvSpPr>
          <p:cNvPr id="31" name="Shape 29"/>
          <p:cNvSpPr/>
          <p:nvPr/>
        </p:nvSpPr>
        <p:spPr>
          <a:xfrm>
            <a:off x="4800600" y="2633472"/>
            <a:ext cx="3931920" cy="548640"/>
          </a:xfrm>
          <a:prstGeom prst="rect">
            <a:avLst/>
          </a:prstGeom>
          <a:solidFill>
            <a:srgbClr val="1A0000"/>
          </a:solidFill>
          <a:ln w="12700">
            <a:solidFill>
              <a:srgbClr val="FF6B35"/>
            </a:solidFill>
            <a:prstDash val="solid"/>
          </a:ln>
        </p:spPr>
      </p:sp>
      <p:sp>
        <p:nvSpPr>
          <p:cNvPr id="32" name="Text 30"/>
          <p:cNvSpPr/>
          <p:nvPr/>
        </p:nvSpPr>
        <p:spPr>
          <a:xfrm>
            <a:off x="4892040" y="2697480"/>
            <a:ext cx="3749040" cy="411480"/>
          </a:xfrm>
          <a:prstGeom prst="rect">
            <a:avLst/>
          </a:prstGeom>
          <a:noFill/>
          <a:ln/>
        </p:spPr>
        <p:txBody>
          <a:bodyPr wrap="square" rtlCol="0" anchor="ctr"/>
          <a:lstStyle/>
          <a:p>
            <a:pPr algn="ctr" indent="0" marL="0">
              <a:buNone/>
            </a:pPr>
            <a:r>
              <a:rPr lang="en-US" sz="1100" b="1" dirty="0">
                <a:solidFill>
                  <a:srgbClr val="FF6B35"/>
                </a:solidFill>
                <a:latin typeface="Calibri" pitchFamily="34" charset="0"/>
                <a:ea typeface="Calibri" pitchFamily="34" charset="-122"/>
                <a:cs typeface="Calibri" pitchFamily="34" charset="-120"/>
              </a:rPr>
              <a:t>HIGH Reconstruction Error = ANOMALY</a:t>
            </a:r>
            <a:endParaRPr lang="en-US" sz="1100" dirty="0"/>
          </a:p>
        </p:txBody>
      </p:sp>
      <p:sp>
        <p:nvSpPr>
          <p:cNvPr id="33" name="Shape 31"/>
          <p:cNvSpPr/>
          <p:nvPr/>
        </p:nvSpPr>
        <p:spPr>
          <a:xfrm>
            <a:off x="4800600" y="3291840"/>
            <a:ext cx="3931920" cy="548640"/>
          </a:xfrm>
          <a:prstGeom prst="rect">
            <a:avLst/>
          </a:prstGeom>
          <a:solidFill>
            <a:srgbClr val="001A00"/>
          </a:solidFill>
          <a:ln w="12700">
            <a:solidFill>
              <a:srgbClr val="00FF9D"/>
            </a:solidFill>
            <a:prstDash val="solid"/>
          </a:ln>
        </p:spPr>
      </p:sp>
      <p:sp>
        <p:nvSpPr>
          <p:cNvPr id="34" name="Text 32"/>
          <p:cNvSpPr/>
          <p:nvPr/>
        </p:nvSpPr>
        <p:spPr>
          <a:xfrm>
            <a:off x="4892040" y="3355848"/>
            <a:ext cx="3749040" cy="411480"/>
          </a:xfrm>
          <a:prstGeom prst="rect">
            <a:avLst/>
          </a:prstGeom>
          <a:noFill/>
          <a:ln/>
        </p:spPr>
        <p:txBody>
          <a:bodyPr wrap="square" rtlCol="0" anchor="ctr"/>
          <a:lstStyle/>
          <a:p>
            <a:pPr algn="ctr" indent="0" marL="0">
              <a:buNone/>
            </a:pPr>
            <a:r>
              <a:rPr lang="en-US" sz="1100" b="1" dirty="0">
                <a:solidFill>
                  <a:srgbClr val="00FF9D"/>
                </a:solidFill>
                <a:latin typeface="Calibri" pitchFamily="34" charset="0"/>
                <a:ea typeface="Calibri" pitchFamily="34" charset="-122"/>
                <a:cs typeface="Calibri" pitchFamily="34" charset="-120"/>
              </a:rPr>
              <a:t>LOW Reconstruction Error = NORMAL</a:t>
            </a:r>
            <a:endParaRPr lang="en-US" sz="1100" dirty="0"/>
          </a:p>
        </p:txBody>
      </p:sp>
      <p:sp>
        <p:nvSpPr>
          <p:cNvPr id="35" name="Text 33"/>
          <p:cNvSpPr/>
          <p:nvPr/>
        </p:nvSpPr>
        <p:spPr>
          <a:xfrm>
            <a:off x="4800600" y="3950208"/>
            <a:ext cx="3931920" cy="640080"/>
          </a:xfrm>
          <a:prstGeom prst="rect">
            <a:avLst/>
          </a:prstGeom>
          <a:noFill/>
          <a:ln/>
        </p:spPr>
        <p:txBody>
          <a:bodyPr wrap="square"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Batch size: 32  •  Training: Benign traffic only  •  115 input features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00FF9D"/>
          </a:solidFill>
          <a:ln w="12700">
            <a:solidFill>
              <a:srgbClr val="00FF9D"/>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SYSTEM ARCHITECTURE</a:t>
            </a:r>
            <a:endParaRPr lang="en-US" sz="2200" dirty="0"/>
          </a:p>
        </p:txBody>
      </p:sp>
      <p:sp>
        <p:nvSpPr>
          <p:cNvPr id="5" name="Shape 3"/>
          <p:cNvSpPr/>
          <p:nvPr/>
        </p:nvSpPr>
        <p:spPr>
          <a:xfrm>
            <a:off x="274320" y="914400"/>
            <a:ext cx="1280160" cy="2560320"/>
          </a:xfrm>
          <a:prstGeom prst="rect">
            <a:avLst/>
          </a:prstGeom>
          <a:solidFill>
            <a:srgbClr val="111C35"/>
          </a:solidFill>
          <a:ln w="25400">
            <a:solidFill>
              <a:srgbClr val="0066CC"/>
            </a:solidFill>
            <a:prstDash val="solid"/>
          </a:ln>
        </p:spPr>
      </p:sp>
      <p:sp>
        <p:nvSpPr>
          <p:cNvPr id="6" name="Shape 4"/>
          <p:cNvSpPr/>
          <p:nvPr/>
        </p:nvSpPr>
        <p:spPr>
          <a:xfrm>
            <a:off x="274320" y="914400"/>
            <a:ext cx="1280160" cy="347472"/>
          </a:xfrm>
          <a:prstGeom prst="rect">
            <a:avLst/>
          </a:prstGeom>
          <a:solidFill>
            <a:srgbClr val="0066CC">
              <a:alpha val="80000"/>
            </a:srgbClr>
          </a:solidFill>
          <a:ln w="12700">
            <a:solidFill>
              <a:srgbClr val="0066CC"/>
            </a:solidFill>
            <a:prstDash val="solid"/>
          </a:ln>
        </p:spPr>
      </p:sp>
      <p:sp>
        <p:nvSpPr>
          <p:cNvPr id="7" name="Text 5"/>
          <p:cNvSpPr/>
          <p:nvPr/>
        </p:nvSpPr>
        <p:spPr>
          <a:xfrm>
            <a:off x="274320" y="1298448"/>
            <a:ext cx="1280160" cy="548640"/>
          </a:xfrm>
          <a:prstGeom prst="rect">
            <a:avLst/>
          </a:prstGeom>
          <a:noFill/>
          <a:ln/>
        </p:spPr>
        <p:txBody>
          <a:bodyPr wrap="square"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8" name="Text 6"/>
          <p:cNvSpPr/>
          <p:nvPr/>
        </p:nvSpPr>
        <p:spPr>
          <a:xfrm>
            <a:off x="320040" y="914400"/>
            <a:ext cx="1188720" cy="347472"/>
          </a:xfrm>
          <a:prstGeom prst="rect">
            <a:avLst/>
          </a:prstGeom>
          <a:noFill/>
          <a:ln/>
        </p:spPr>
        <p:txBody>
          <a:bodyPr wrap="square" rtlCol="0" anchor="ctr"/>
          <a:lstStyle/>
          <a:p>
            <a:pPr algn="ctr" indent="0" marL="0">
              <a:buNone/>
            </a:pPr>
            <a:r>
              <a:rPr lang="en-US" sz="950" b="1" dirty="0">
                <a:solidFill>
                  <a:srgbClr val="0A0F1E"/>
                </a:solidFill>
                <a:latin typeface="Calibri" pitchFamily="34" charset="0"/>
                <a:ea typeface="Calibri" pitchFamily="34" charset="-122"/>
                <a:cs typeface="Calibri" pitchFamily="34" charset="-120"/>
              </a:rPr>
              <a:t>Packet</a:t>
            </a:r>
            <a:endParaRPr lang="en-US" sz="950" dirty="0"/>
          </a:p>
          <a:p>
            <a:pPr algn="ctr" indent="0" marL="0">
              <a:buNone/>
            </a:pPr>
            <a:r>
              <a:rPr lang="en-US" sz="950" b="1" dirty="0">
                <a:solidFill>
                  <a:srgbClr val="0A0F1E"/>
                </a:solidFill>
                <a:latin typeface="Calibri" pitchFamily="34" charset="0"/>
                <a:ea typeface="Calibri" pitchFamily="34" charset="-122"/>
                <a:cs typeface="Calibri" pitchFamily="34" charset="-120"/>
              </a:rPr>
              <a:t>Capture</a:t>
            </a:r>
            <a:endParaRPr lang="en-US" sz="950" dirty="0"/>
          </a:p>
        </p:txBody>
      </p:sp>
      <p:sp>
        <p:nvSpPr>
          <p:cNvPr id="9" name="Text 7"/>
          <p:cNvSpPr/>
          <p:nvPr/>
        </p:nvSpPr>
        <p:spPr>
          <a:xfrm>
            <a:off x="347472" y="1965960"/>
            <a:ext cx="1133856" cy="640080"/>
          </a:xfrm>
          <a:prstGeom prst="rect">
            <a:avLst/>
          </a:prstGeom>
          <a:noFill/>
          <a:ln/>
        </p:spPr>
        <p:txBody>
          <a:bodyPr wrap="square" rtlCol="0" anchor="ctr"/>
          <a:lstStyle/>
          <a:p>
            <a:pPr algn="ctr" indent="0" marL="0">
              <a:buNone/>
            </a:pPr>
            <a:r>
              <a:rPr lang="en-US" sz="1000" dirty="0">
                <a:solidFill>
                  <a:srgbClr val="B0D4F1"/>
                </a:solidFill>
                <a:latin typeface="Calibri" pitchFamily="34" charset="0"/>
                <a:ea typeface="Calibri" pitchFamily="34" charset="-122"/>
                <a:cs typeface="Calibri" pitchFamily="34" charset="-120"/>
              </a:rPr>
              <a:t>.pcapng</a:t>
            </a:r>
            <a:endParaRPr lang="en-US" sz="1000" dirty="0"/>
          </a:p>
          <a:p>
            <a:pPr algn="ctr" indent="0" marL="0">
              <a:buNone/>
            </a:pPr>
            <a:r>
              <a:rPr lang="en-US" sz="1000" dirty="0">
                <a:solidFill>
                  <a:srgbClr val="B0D4F1"/>
                </a:solidFill>
                <a:latin typeface="Calibri" pitchFamily="34" charset="0"/>
                <a:ea typeface="Calibri" pitchFamily="34" charset="-122"/>
                <a:cs typeface="Calibri" pitchFamily="34" charset="-120"/>
              </a:rPr>
              <a:t>(ARP MitM)</a:t>
            </a:r>
            <a:endParaRPr lang="en-US" sz="1000" dirty="0"/>
          </a:p>
        </p:txBody>
      </p:sp>
      <p:sp>
        <p:nvSpPr>
          <p:cNvPr id="10" name="Shape 8"/>
          <p:cNvSpPr/>
          <p:nvPr/>
        </p:nvSpPr>
        <p:spPr>
          <a:xfrm>
            <a:off x="1627632" y="2148840"/>
            <a:ext cx="475488" cy="91440"/>
          </a:xfrm>
          <a:prstGeom prst="rect">
            <a:avLst/>
          </a:prstGeom>
          <a:solidFill>
            <a:srgbClr val="0066CC"/>
          </a:solidFill>
          <a:ln w="12700">
            <a:solidFill>
              <a:srgbClr val="0066CC"/>
            </a:solidFill>
            <a:prstDash val="solid"/>
          </a:ln>
        </p:spPr>
      </p:sp>
      <p:sp>
        <p:nvSpPr>
          <p:cNvPr id="11" name="Shape 9"/>
          <p:cNvSpPr/>
          <p:nvPr/>
        </p:nvSpPr>
        <p:spPr>
          <a:xfrm>
            <a:off x="2011680" y="2057400"/>
            <a:ext cx="91440" cy="274320"/>
          </a:xfrm>
          <a:prstGeom prst="rect">
            <a:avLst/>
          </a:prstGeom>
          <a:solidFill>
            <a:srgbClr val="0066CC"/>
          </a:solidFill>
          <a:ln w="12700">
            <a:solidFill>
              <a:srgbClr val="0066CC"/>
            </a:solidFill>
            <a:prstDash val="solid"/>
          </a:ln>
        </p:spPr>
      </p:sp>
      <p:sp>
        <p:nvSpPr>
          <p:cNvPr id="12" name="Text 10"/>
          <p:cNvSpPr/>
          <p:nvPr/>
        </p:nvSpPr>
        <p:spPr>
          <a:xfrm>
            <a:off x="1207008" y="3090672"/>
            <a:ext cx="292608" cy="292608"/>
          </a:xfrm>
          <a:prstGeom prst="rect">
            <a:avLst/>
          </a:prstGeom>
          <a:noFill/>
          <a:ln/>
        </p:spPr>
        <p:txBody>
          <a:bodyPr wrap="square" rtlCol="0" anchor="ctr"/>
          <a:lstStyle/>
          <a:p>
            <a:pPr algn="ctr" indent="0" marL="0">
              <a:buNone/>
            </a:pPr>
            <a:r>
              <a:rPr lang="en-US" sz="1400" b="1" dirty="0">
                <a:solidFill>
                  <a:srgbClr val="0066CC"/>
                </a:solidFill>
                <a:latin typeface="Calibri" pitchFamily="34" charset="0"/>
                <a:ea typeface="Calibri" pitchFamily="34" charset="-122"/>
                <a:cs typeface="Calibri" pitchFamily="34" charset="-120"/>
              </a:rPr>
              <a:t>01</a:t>
            </a:r>
            <a:endParaRPr lang="en-US" sz="1400" dirty="0"/>
          </a:p>
        </p:txBody>
      </p:sp>
      <p:sp>
        <p:nvSpPr>
          <p:cNvPr id="13" name="Shape 11"/>
          <p:cNvSpPr/>
          <p:nvPr/>
        </p:nvSpPr>
        <p:spPr>
          <a:xfrm>
            <a:off x="2011680" y="914400"/>
            <a:ext cx="1280160" cy="2560320"/>
          </a:xfrm>
          <a:prstGeom prst="rect">
            <a:avLst/>
          </a:prstGeom>
          <a:solidFill>
            <a:srgbClr val="111C35"/>
          </a:solidFill>
          <a:ln w="25400">
            <a:solidFill>
              <a:srgbClr val="00D4FF"/>
            </a:solidFill>
            <a:prstDash val="solid"/>
          </a:ln>
        </p:spPr>
      </p:sp>
      <p:sp>
        <p:nvSpPr>
          <p:cNvPr id="14" name="Shape 12"/>
          <p:cNvSpPr/>
          <p:nvPr/>
        </p:nvSpPr>
        <p:spPr>
          <a:xfrm>
            <a:off x="2011680" y="914400"/>
            <a:ext cx="1280160" cy="347472"/>
          </a:xfrm>
          <a:prstGeom prst="rect">
            <a:avLst/>
          </a:prstGeom>
          <a:solidFill>
            <a:srgbClr val="00D4FF">
              <a:alpha val="80000"/>
            </a:srgbClr>
          </a:solidFill>
          <a:ln w="12700">
            <a:solidFill>
              <a:srgbClr val="00D4FF"/>
            </a:solidFill>
            <a:prstDash val="solid"/>
          </a:ln>
        </p:spPr>
      </p:sp>
      <p:sp>
        <p:nvSpPr>
          <p:cNvPr id="15" name="Text 13"/>
          <p:cNvSpPr/>
          <p:nvPr/>
        </p:nvSpPr>
        <p:spPr>
          <a:xfrm>
            <a:off x="2011680" y="1298448"/>
            <a:ext cx="1280160" cy="548640"/>
          </a:xfrm>
          <a:prstGeom prst="rect">
            <a:avLst/>
          </a:prstGeom>
          <a:noFill/>
          <a:ln/>
        </p:spPr>
        <p:txBody>
          <a:bodyPr wrap="square"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6" name="Text 14"/>
          <p:cNvSpPr/>
          <p:nvPr/>
        </p:nvSpPr>
        <p:spPr>
          <a:xfrm>
            <a:off x="2057400" y="914400"/>
            <a:ext cx="1188720" cy="347472"/>
          </a:xfrm>
          <a:prstGeom prst="rect">
            <a:avLst/>
          </a:prstGeom>
          <a:noFill/>
          <a:ln/>
        </p:spPr>
        <p:txBody>
          <a:bodyPr wrap="square" rtlCol="0" anchor="ctr"/>
          <a:lstStyle/>
          <a:p>
            <a:pPr algn="ctr" indent="0" marL="0">
              <a:buNone/>
            </a:pPr>
            <a:r>
              <a:rPr lang="en-US" sz="950" b="1" dirty="0">
                <a:solidFill>
                  <a:srgbClr val="0A0F1E"/>
                </a:solidFill>
                <a:latin typeface="Calibri" pitchFamily="34" charset="0"/>
                <a:ea typeface="Calibri" pitchFamily="34" charset="-122"/>
                <a:cs typeface="Calibri" pitchFamily="34" charset="-120"/>
              </a:rPr>
              <a:t>Feature</a:t>
            </a:r>
            <a:endParaRPr lang="en-US" sz="950" dirty="0"/>
          </a:p>
          <a:p>
            <a:pPr algn="ctr" indent="0" marL="0">
              <a:buNone/>
            </a:pPr>
            <a:r>
              <a:rPr lang="en-US" sz="950" b="1" dirty="0">
                <a:solidFill>
                  <a:srgbClr val="0A0F1E"/>
                </a:solidFill>
                <a:latin typeface="Calibri" pitchFamily="34" charset="0"/>
                <a:ea typeface="Calibri" pitchFamily="34" charset="-122"/>
                <a:cs typeface="Calibri" pitchFamily="34" charset="-120"/>
              </a:rPr>
              <a:t>Extraction</a:t>
            </a:r>
            <a:endParaRPr lang="en-US" sz="950" dirty="0"/>
          </a:p>
        </p:txBody>
      </p:sp>
      <p:sp>
        <p:nvSpPr>
          <p:cNvPr id="17" name="Text 15"/>
          <p:cNvSpPr/>
          <p:nvPr/>
        </p:nvSpPr>
        <p:spPr>
          <a:xfrm>
            <a:off x="2084832" y="1965960"/>
            <a:ext cx="1133856" cy="640080"/>
          </a:xfrm>
          <a:prstGeom prst="rect">
            <a:avLst/>
          </a:prstGeom>
          <a:noFill/>
          <a:ln/>
        </p:spPr>
        <p:txBody>
          <a:bodyPr wrap="square" rtlCol="0" anchor="ctr"/>
          <a:lstStyle/>
          <a:p>
            <a:pPr algn="ctr" indent="0" marL="0">
              <a:buNone/>
            </a:pPr>
            <a:r>
              <a:rPr lang="en-US" sz="1000" dirty="0">
                <a:solidFill>
                  <a:srgbClr val="B0D4F1"/>
                </a:solidFill>
                <a:latin typeface="Calibri" pitchFamily="34" charset="0"/>
                <a:ea typeface="Calibri" pitchFamily="34" charset="-122"/>
                <a:cs typeface="Calibri" pitchFamily="34" charset="-120"/>
              </a:rPr>
              <a:t>TShark</a:t>
            </a:r>
            <a:endParaRPr lang="en-US" sz="1000" dirty="0"/>
          </a:p>
          <a:p>
            <a:pPr algn="ctr" indent="0" marL="0">
              <a:buNone/>
            </a:pPr>
            <a:r>
              <a:rPr lang="en-US" sz="1000" dirty="0">
                <a:solidFill>
                  <a:srgbClr val="B0D4F1"/>
                </a:solidFill>
                <a:latin typeface="Calibri" pitchFamily="34" charset="0"/>
                <a:ea typeface="Calibri" pitchFamily="34" charset="-122"/>
                <a:cs typeface="Calibri" pitchFamily="34" charset="-120"/>
              </a:rPr>
              <a:t>CSV output</a:t>
            </a:r>
            <a:endParaRPr lang="en-US" sz="1000" dirty="0"/>
          </a:p>
        </p:txBody>
      </p:sp>
      <p:sp>
        <p:nvSpPr>
          <p:cNvPr id="18" name="Shape 16"/>
          <p:cNvSpPr/>
          <p:nvPr/>
        </p:nvSpPr>
        <p:spPr>
          <a:xfrm>
            <a:off x="3364992" y="2148840"/>
            <a:ext cx="475488" cy="91440"/>
          </a:xfrm>
          <a:prstGeom prst="rect">
            <a:avLst/>
          </a:prstGeom>
          <a:solidFill>
            <a:srgbClr val="00D4FF"/>
          </a:solidFill>
          <a:ln w="12700">
            <a:solidFill>
              <a:srgbClr val="00D4FF"/>
            </a:solidFill>
            <a:prstDash val="solid"/>
          </a:ln>
        </p:spPr>
      </p:sp>
      <p:sp>
        <p:nvSpPr>
          <p:cNvPr id="19" name="Shape 17"/>
          <p:cNvSpPr/>
          <p:nvPr/>
        </p:nvSpPr>
        <p:spPr>
          <a:xfrm>
            <a:off x="3749040" y="2057400"/>
            <a:ext cx="91440" cy="274320"/>
          </a:xfrm>
          <a:prstGeom prst="rect">
            <a:avLst/>
          </a:prstGeom>
          <a:solidFill>
            <a:srgbClr val="00D4FF"/>
          </a:solidFill>
          <a:ln w="12700">
            <a:solidFill>
              <a:srgbClr val="00D4FF"/>
            </a:solidFill>
            <a:prstDash val="solid"/>
          </a:ln>
        </p:spPr>
      </p:sp>
      <p:sp>
        <p:nvSpPr>
          <p:cNvPr id="20" name="Text 18"/>
          <p:cNvSpPr/>
          <p:nvPr/>
        </p:nvSpPr>
        <p:spPr>
          <a:xfrm>
            <a:off x="2944368" y="3090672"/>
            <a:ext cx="292608" cy="292608"/>
          </a:xfrm>
          <a:prstGeom prst="rect">
            <a:avLst/>
          </a:prstGeom>
          <a:noFill/>
          <a:ln/>
        </p:spPr>
        <p:txBody>
          <a:bodyPr wrap="square"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02</a:t>
            </a:r>
            <a:endParaRPr lang="en-US" sz="1400" dirty="0"/>
          </a:p>
        </p:txBody>
      </p:sp>
      <p:sp>
        <p:nvSpPr>
          <p:cNvPr id="21" name="Shape 19"/>
          <p:cNvSpPr/>
          <p:nvPr/>
        </p:nvSpPr>
        <p:spPr>
          <a:xfrm>
            <a:off x="3749040" y="914400"/>
            <a:ext cx="1280160" cy="2560320"/>
          </a:xfrm>
          <a:prstGeom prst="rect">
            <a:avLst/>
          </a:prstGeom>
          <a:solidFill>
            <a:srgbClr val="111C35"/>
          </a:solidFill>
          <a:ln w="25400">
            <a:solidFill>
              <a:srgbClr val="AA44FF"/>
            </a:solidFill>
            <a:prstDash val="solid"/>
          </a:ln>
        </p:spPr>
      </p:sp>
      <p:sp>
        <p:nvSpPr>
          <p:cNvPr id="22" name="Shape 20"/>
          <p:cNvSpPr/>
          <p:nvPr/>
        </p:nvSpPr>
        <p:spPr>
          <a:xfrm>
            <a:off x="3749040" y="914400"/>
            <a:ext cx="1280160" cy="347472"/>
          </a:xfrm>
          <a:prstGeom prst="rect">
            <a:avLst/>
          </a:prstGeom>
          <a:solidFill>
            <a:srgbClr val="AA44FF">
              <a:alpha val="80000"/>
            </a:srgbClr>
          </a:solidFill>
          <a:ln w="12700">
            <a:solidFill>
              <a:srgbClr val="AA44FF"/>
            </a:solidFill>
            <a:prstDash val="solid"/>
          </a:ln>
        </p:spPr>
      </p:sp>
      <p:sp>
        <p:nvSpPr>
          <p:cNvPr id="23" name="Text 21"/>
          <p:cNvSpPr/>
          <p:nvPr/>
        </p:nvSpPr>
        <p:spPr>
          <a:xfrm>
            <a:off x="3749040" y="1298448"/>
            <a:ext cx="1280160" cy="548640"/>
          </a:xfrm>
          <a:prstGeom prst="rect">
            <a:avLst/>
          </a:prstGeom>
          <a:noFill/>
          <a:ln/>
        </p:spPr>
        <p:txBody>
          <a:bodyPr wrap="square"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24" name="Text 22"/>
          <p:cNvSpPr/>
          <p:nvPr/>
        </p:nvSpPr>
        <p:spPr>
          <a:xfrm>
            <a:off x="3794760" y="914400"/>
            <a:ext cx="1188720" cy="347472"/>
          </a:xfrm>
          <a:prstGeom prst="rect">
            <a:avLst/>
          </a:prstGeom>
          <a:noFill/>
          <a:ln/>
        </p:spPr>
        <p:txBody>
          <a:bodyPr wrap="square" rtlCol="0" anchor="ctr"/>
          <a:lstStyle/>
          <a:p>
            <a:pPr algn="ctr" indent="0" marL="0">
              <a:buNone/>
            </a:pPr>
            <a:r>
              <a:rPr lang="en-US" sz="950" b="1" dirty="0">
                <a:solidFill>
                  <a:srgbClr val="0A0F1E"/>
                </a:solidFill>
                <a:latin typeface="Calibri" pitchFamily="34" charset="0"/>
                <a:ea typeface="Calibri" pitchFamily="34" charset="-122"/>
                <a:cs typeface="Calibri" pitchFamily="34" charset="-120"/>
              </a:rPr>
              <a:t>Preprocessing</a:t>
            </a:r>
            <a:endParaRPr lang="en-US" sz="950" dirty="0"/>
          </a:p>
        </p:txBody>
      </p:sp>
      <p:sp>
        <p:nvSpPr>
          <p:cNvPr id="25" name="Text 23"/>
          <p:cNvSpPr/>
          <p:nvPr/>
        </p:nvSpPr>
        <p:spPr>
          <a:xfrm>
            <a:off x="3822192" y="1965960"/>
            <a:ext cx="1133856" cy="640080"/>
          </a:xfrm>
          <a:prstGeom prst="rect">
            <a:avLst/>
          </a:prstGeom>
          <a:noFill/>
          <a:ln/>
        </p:spPr>
        <p:txBody>
          <a:bodyPr wrap="square" rtlCol="0" anchor="ctr"/>
          <a:lstStyle/>
          <a:p>
            <a:pPr algn="ctr" indent="0" marL="0">
              <a:buNone/>
            </a:pPr>
            <a:r>
              <a:rPr lang="en-US" sz="1000" dirty="0">
                <a:solidFill>
                  <a:srgbClr val="B0D4F1"/>
                </a:solidFill>
                <a:latin typeface="Calibri" pitchFamily="34" charset="0"/>
                <a:ea typeface="Calibri" pitchFamily="34" charset="-122"/>
                <a:cs typeface="Calibri" pitchFamily="34" charset="-120"/>
              </a:rPr>
              <a:t>115 features</a:t>
            </a:r>
            <a:endParaRPr lang="en-US" sz="1000" dirty="0"/>
          </a:p>
          <a:p>
            <a:pPr algn="ctr" indent="0" marL="0">
              <a:buNone/>
            </a:pPr>
            <a:r>
              <a:rPr lang="en-US" sz="1000" dirty="0">
                <a:solidFill>
                  <a:srgbClr val="B0D4F1"/>
                </a:solidFill>
                <a:latin typeface="Calibri" pitchFamily="34" charset="0"/>
                <a:ea typeface="Calibri" pitchFamily="34" charset="-122"/>
                <a:cs typeface="Calibri" pitchFamily="34" charset="-120"/>
              </a:rPr>
              <a:t>MinMaxScaler</a:t>
            </a:r>
            <a:endParaRPr lang="en-US" sz="1000" dirty="0"/>
          </a:p>
        </p:txBody>
      </p:sp>
      <p:sp>
        <p:nvSpPr>
          <p:cNvPr id="26" name="Shape 24"/>
          <p:cNvSpPr/>
          <p:nvPr/>
        </p:nvSpPr>
        <p:spPr>
          <a:xfrm>
            <a:off x="5102352" y="2148840"/>
            <a:ext cx="475488" cy="91440"/>
          </a:xfrm>
          <a:prstGeom prst="rect">
            <a:avLst/>
          </a:prstGeom>
          <a:solidFill>
            <a:srgbClr val="AA44FF"/>
          </a:solidFill>
          <a:ln w="12700">
            <a:solidFill>
              <a:srgbClr val="AA44FF"/>
            </a:solidFill>
            <a:prstDash val="solid"/>
          </a:ln>
        </p:spPr>
      </p:sp>
      <p:sp>
        <p:nvSpPr>
          <p:cNvPr id="27" name="Shape 25"/>
          <p:cNvSpPr/>
          <p:nvPr/>
        </p:nvSpPr>
        <p:spPr>
          <a:xfrm>
            <a:off x="5486400" y="2057400"/>
            <a:ext cx="91440" cy="274320"/>
          </a:xfrm>
          <a:prstGeom prst="rect">
            <a:avLst/>
          </a:prstGeom>
          <a:solidFill>
            <a:srgbClr val="AA44FF"/>
          </a:solidFill>
          <a:ln w="12700">
            <a:solidFill>
              <a:srgbClr val="AA44FF"/>
            </a:solidFill>
            <a:prstDash val="solid"/>
          </a:ln>
        </p:spPr>
      </p:sp>
      <p:sp>
        <p:nvSpPr>
          <p:cNvPr id="28" name="Text 26"/>
          <p:cNvSpPr/>
          <p:nvPr/>
        </p:nvSpPr>
        <p:spPr>
          <a:xfrm>
            <a:off x="4681728" y="3090672"/>
            <a:ext cx="292608" cy="292608"/>
          </a:xfrm>
          <a:prstGeom prst="rect">
            <a:avLst/>
          </a:prstGeom>
          <a:noFill/>
          <a:ln/>
        </p:spPr>
        <p:txBody>
          <a:bodyPr wrap="square" rtlCol="0" anchor="ctr"/>
          <a:lstStyle/>
          <a:p>
            <a:pPr algn="ctr" indent="0" marL="0">
              <a:buNone/>
            </a:pPr>
            <a:r>
              <a:rPr lang="en-US" sz="1400" b="1" dirty="0">
                <a:solidFill>
                  <a:srgbClr val="AA44FF"/>
                </a:solidFill>
                <a:latin typeface="Calibri" pitchFamily="34" charset="0"/>
                <a:ea typeface="Calibri" pitchFamily="34" charset="-122"/>
                <a:cs typeface="Calibri" pitchFamily="34" charset="-120"/>
              </a:rPr>
              <a:t>03</a:t>
            </a:r>
            <a:endParaRPr lang="en-US" sz="1400" dirty="0"/>
          </a:p>
        </p:txBody>
      </p:sp>
      <p:sp>
        <p:nvSpPr>
          <p:cNvPr id="29" name="Shape 27"/>
          <p:cNvSpPr/>
          <p:nvPr/>
        </p:nvSpPr>
        <p:spPr>
          <a:xfrm>
            <a:off x="5486400" y="914400"/>
            <a:ext cx="1280160" cy="2560320"/>
          </a:xfrm>
          <a:prstGeom prst="rect">
            <a:avLst/>
          </a:prstGeom>
          <a:solidFill>
            <a:srgbClr val="111C35"/>
          </a:solidFill>
          <a:ln w="25400">
            <a:solidFill>
              <a:srgbClr val="FF6B35"/>
            </a:solidFill>
            <a:prstDash val="solid"/>
          </a:ln>
        </p:spPr>
      </p:sp>
      <p:sp>
        <p:nvSpPr>
          <p:cNvPr id="30" name="Shape 28"/>
          <p:cNvSpPr/>
          <p:nvPr/>
        </p:nvSpPr>
        <p:spPr>
          <a:xfrm>
            <a:off x="5486400" y="914400"/>
            <a:ext cx="1280160" cy="347472"/>
          </a:xfrm>
          <a:prstGeom prst="rect">
            <a:avLst/>
          </a:prstGeom>
          <a:solidFill>
            <a:srgbClr val="FF6B35">
              <a:alpha val="80000"/>
            </a:srgbClr>
          </a:solidFill>
          <a:ln w="12700">
            <a:solidFill>
              <a:srgbClr val="FF6B35"/>
            </a:solidFill>
            <a:prstDash val="solid"/>
          </a:ln>
        </p:spPr>
      </p:sp>
      <p:sp>
        <p:nvSpPr>
          <p:cNvPr id="31" name="Text 29"/>
          <p:cNvSpPr/>
          <p:nvPr/>
        </p:nvSpPr>
        <p:spPr>
          <a:xfrm>
            <a:off x="5486400" y="1298448"/>
            <a:ext cx="1280160" cy="548640"/>
          </a:xfrm>
          <a:prstGeom prst="rect">
            <a:avLst/>
          </a:prstGeom>
          <a:noFill/>
          <a:ln/>
        </p:spPr>
        <p:txBody>
          <a:bodyPr wrap="square"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32" name="Text 30"/>
          <p:cNvSpPr/>
          <p:nvPr/>
        </p:nvSpPr>
        <p:spPr>
          <a:xfrm>
            <a:off x="5532120" y="914400"/>
            <a:ext cx="1188720" cy="347472"/>
          </a:xfrm>
          <a:prstGeom prst="rect">
            <a:avLst/>
          </a:prstGeom>
          <a:noFill/>
          <a:ln/>
        </p:spPr>
        <p:txBody>
          <a:bodyPr wrap="square" rtlCol="0" anchor="ctr"/>
          <a:lstStyle/>
          <a:p>
            <a:pPr algn="ctr" indent="0" marL="0">
              <a:buNone/>
            </a:pPr>
            <a:r>
              <a:rPr lang="en-US" sz="950" b="1" dirty="0">
                <a:solidFill>
                  <a:srgbClr val="0A0F1E"/>
                </a:solidFill>
                <a:latin typeface="Calibri" pitchFamily="34" charset="0"/>
                <a:ea typeface="Calibri" pitchFamily="34" charset="-122"/>
                <a:cs typeface="Calibri" pitchFamily="34" charset="-120"/>
              </a:rPr>
              <a:t>Kitsune</a:t>
            </a:r>
            <a:endParaRPr lang="en-US" sz="950" dirty="0"/>
          </a:p>
          <a:p>
            <a:pPr algn="ctr" indent="0" marL="0">
              <a:buNone/>
            </a:pPr>
            <a:r>
              <a:rPr lang="en-US" sz="950" b="1" dirty="0">
                <a:solidFill>
                  <a:srgbClr val="0A0F1E"/>
                </a:solidFill>
                <a:latin typeface="Calibri" pitchFamily="34" charset="0"/>
                <a:ea typeface="Calibri" pitchFamily="34" charset="-122"/>
                <a:cs typeface="Calibri" pitchFamily="34" charset="-120"/>
              </a:rPr>
              <a:t>Model</a:t>
            </a:r>
            <a:endParaRPr lang="en-US" sz="950" dirty="0"/>
          </a:p>
        </p:txBody>
      </p:sp>
      <p:sp>
        <p:nvSpPr>
          <p:cNvPr id="33" name="Text 31"/>
          <p:cNvSpPr/>
          <p:nvPr/>
        </p:nvSpPr>
        <p:spPr>
          <a:xfrm>
            <a:off x="5559552" y="1965960"/>
            <a:ext cx="1133856" cy="640080"/>
          </a:xfrm>
          <a:prstGeom prst="rect">
            <a:avLst/>
          </a:prstGeom>
          <a:noFill/>
          <a:ln/>
        </p:spPr>
        <p:txBody>
          <a:bodyPr wrap="square" rtlCol="0" anchor="ctr"/>
          <a:lstStyle/>
          <a:p>
            <a:pPr algn="ctr" indent="0" marL="0">
              <a:buNone/>
            </a:pPr>
            <a:r>
              <a:rPr lang="en-US" sz="1000" dirty="0">
                <a:solidFill>
                  <a:srgbClr val="B0D4F1"/>
                </a:solidFill>
                <a:latin typeface="Calibri" pitchFamily="34" charset="0"/>
                <a:ea typeface="Calibri" pitchFamily="34" charset="-122"/>
                <a:cs typeface="Calibri" pitchFamily="34" charset="-120"/>
              </a:rPr>
              <a:t>Autoencoder</a:t>
            </a:r>
            <a:endParaRPr lang="en-US" sz="1000" dirty="0"/>
          </a:p>
          <a:p>
            <a:pPr algn="ctr" indent="0" marL="0">
              <a:buNone/>
            </a:pPr>
            <a:r>
              <a:rPr lang="en-US" sz="1000" dirty="0">
                <a:solidFill>
                  <a:srgbClr val="B0D4F1"/>
                </a:solidFill>
                <a:latin typeface="Calibri" pitchFamily="34" charset="0"/>
                <a:ea typeface="Calibri" pitchFamily="34" charset="-122"/>
                <a:cs typeface="Calibri" pitchFamily="34" charset="-120"/>
              </a:rPr>
              <a:t>Ensemble</a:t>
            </a:r>
            <a:endParaRPr lang="en-US" sz="1000" dirty="0"/>
          </a:p>
        </p:txBody>
      </p:sp>
      <p:sp>
        <p:nvSpPr>
          <p:cNvPr id="34" name="Shape 32"/>
          <p:cNvSpPr/>
          <p:nvPr/>
        </p:nvSpPr>
        <p:spPr>
          <a:xfrm>
            <a:off x="6839712" y="2148840"/>
            <a:ext cx="475488" cy="91440"/>
          </a:xfrm>
          <a:prstGeom prst="rect">
            <a:avLst/>
          </a:prstGeom>
          <a:solidFill>
            <a:srgbClr val="FF6B35"/>
          </a:solidFill>
          <a:ln w="12700">
            <a:solidFill>
              <a:srgbClr val="FF6B35"/>
            </a:solidFill>
            <a:prstDash val="solid"/>
          </a:ln>
        </p:spPr>
      </p:sp>
      <p:sp>
        <p:nvSpPr>
          <p:cNvPr id="35" name="Shape 33"/>
          <p:cNvSpPr/>
          <p:nvPr/>
        </p:nvSpPr>
        <p:spPr>
          <a:xfrm>
            <a:off x="7223760" y="2057400"/>
            <a:ext cx="91440" cy="274320"/>
          </a:xfrm>
          <a:prstGeom prst="rect">
            <a:avLst/>
          </a:prstGeom>
          <a:solidFill>
            <a:srgbClr val="FF6B35"/>
          </a:solidFill>
          <a:ln w="12700">
            <a:solidFill>
              <a:srgbClr val="FF6B35"/>
            </a:solidFill>
            <a:prstDash val="solid"/>
          </a:ln>
        </p:spPr>
      </p:sp>
      <p:sp>
        <p:nvSpPr>
          <p:cNvPr id="36" name="Text 34"/>
          <p:cNvSpPr/>
          <p:nvPr/>
        </p:nvSpPr>
        <p:spPr>
          <a:xfrm>
            <a:off x="6419088" y="3090672"/>
            <a:ext cx="292608" cy="292608"/>
          </a:xfrm>
          <a:prstGeom prst="rect">
            <a:avLst/>
          </a:prstGeom>
          <a:noFill/>
          <a:ln/>
        </p:spPr>
        <p:txBody>
          <a:bodyPr wrap="square" rtlCol="0" anchor="ctr"/>
          <a:lstStyle/>
          <a:p>
            <a:pPr algn="ctr" indent="0" marL="0">
              <a:buNone/>
            </a:pPr>
            <a:r>
              <a:rPr lang="en-US" sz="1400" b="1" dirty="0">
                <a:solidFill>
                  <a:srgbClr val="FF6B35"/>
                </a:solidFill>
                <a:latin typeface="Calibri" pitchFamily="34" charset="0"/>
                <a:ea typeface="Calibri" pitchFamily="34" charset="-122"/>
                <a:cs typeface="Calibri" pitchFamily="34" charset="-120"/>
              </a:rPr>
              <a:t>04</a:t>
            </a:r>
            <a:endParaRPr lang="en-US" sz="1400" dirty="0"/>
          </a:p>
        </p:txBody>
      </p:sp>
      <p:sp>
        <p:nvSpPr>
          <p:cNvPr id="37" name="Shape 35"/>
          <p:cNvSpPr/>
          <p:nvPr/>
        </p:nvSpPr>
        <p:spPr>
          <a:xfrm>
            <a:off x="7223760" y="914400"/>
            <a:ext cx="1280160" cy="2560320"/>
          </a:xfrm>
          <a:prstGeom prst="rect">
            <a:avLst/>
          </a:prstGeom>
          <a:solidFill>
            <a:srgbClr val="111C35"/>
          </a:solidFill>
          <a:ln w="25400">
            <a:solidFill>
              <a:srgbClr val="00FF9D"/>
            </a:solidFill>
            <a:prstDash val="solid"/>
          </a:ln>
        </p:spPr>
      </p:sp>
      <p:sp>
        <p:nvSpPr>
          <p:cNvPr id="38" name="Shape 36"/>
          <p:cNvSpPr/>
          <p:nvPr/>
        </p:nvSpPr>
        <p:spPr>
          <a:xfrm>
            <a:off x="7223760" y="914400"/>
            <a:ext cx="1280160" cy="347472"/>
          </a:xfrm>
          <a:prstGeom prst="rect">
            <a:avLst/>
          </a:prstGeom>
          <a:solidFill>
            <a:srgbClr val="00FF9D">
              <a:alpha val="80000"/>
            </a:srgbClr>
          </a:solidFill>
          <a:ln w="12700">
            <a:solidFill>
              <a:srgbClr val="00FF9D"/>
            </a:solidFill>
            <a:prstDash val="solid"/>
          </a:ln>
        </p:spPr>
      </p:sp>
      <p:sp>
        <p:nvSpPr>
          <p:cNvPr id="39" name="Text 37"/>
          <p:cNvSpPr/>
          <p:nvPr/>
        </p:nvSpPr>
        <p:spPr>
          <a:xfrm>
            <a:off x="7223760" y="1298448"/>
            <a:ext cx="1280160" cy="548640"/>
          </a:xfrm>
          <a:prstGeom prst="rect">
            <a:avLst/>
          </a:prstGeom>
          <a:noFill/>
          <a:ln/>
        </p:spPr>
        <p:txBody>
          <a:bodyPr wrap="square"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40" name="Text 38"/>
          <p:cNvSpPr/>
          <p:nvPr/>
        </p:nvSpPr>
        <p:spPr>
          <a:xfrm>
            <a:off x="7269480" y="914400"/>
            <a:ext cx="1188720" cy="347472"/>
          </a:xfrm>
          <a:prstGeom prst="rect">
            <a:avLst/>
          </a:prstGeom>
          <a:noFill/>
          <a:ln/>
        </p:spPr>
        <p:txBody>
          <a:bodyPr wrap="square" rtlCol="0" anchor="ctr"/>
          <a:lstStyle/>
          <a:p>
            <a:pPr algn="ctr" indent="0" marL="0">
              <a:buNone/>
            </a:pPr>
            <a:r>
              <a:rPr lang="en-US" sz="950" b="1" dirty="0">
                <a:solidFill>
                  <a:srgbClr val="0A0F1E"/>
                </a:solidFill>
                <a:latin typeface="Calibri" pitchFamily="34" charset="0"/>
                <a:ea typeface="Calibri" pitchFamily="34" charset="-122"/>
                <a:cs typeface="Calibri" pitchFamily="34" charset="-120"/>
              </a:rPr>
              <a:t>Anomaly</a:t>
            </a:r>
            <a:endParaRPr lang="en-US" sz="950" dirty="0"/>
          </a:p>
          <a:p>
            <a:pPr algn="ctr" indent="0" marL="0">
              <a:buNone/>
            </a:pPr>
            <a:r>
              <a:rPr lang="en-US" sz="950" b="1" dirty="0">
                <a:solidFill>
                  <a:srgbClr val="0A0F1E"/>
                </a:solidFill>
                <a:latin typeface="Calibri" pitchFamily="34" charset="0"/>
                <a:ea typeface="Calibri" pitchFamily="34" charset="-122"/>
                <a:cs typeface="Calibri" pitchFamily="34" charset="-120"/>
              </a:rPr>
              <a:t>Detection</a:t>
            </a:r>
            <a:endParaRPr lang="en-US" sz="950" dirty="0"/>
          </a:p>
        </p:txBody>
      </p:sp>
      <p:sp>
        <p:nvSpPr>
          <p:cNvPr id="41" name="Text 39"/>
          <p:cNvSpPr/>
          <p:nvPr/>
        </p:nvSpPr>
        <p:spPr>
          <a:xfrm>
            <a:off x="7296912" y="1965960"/>
            <a:ext cx="1133856" cy="640080"/>
          </a:xfrm>
          <a:prstGeom prst="rect">
            <a:avLst/>
          </a:prstGeom>
          <a:noFill/>
          <a:ln/>
        </p:spPr>
        <p:txBody>
          <a:bodyPr wrap="square" rtlCol="0" anchor="ctr"/>
          <a:lstStyle/>
          <a:p>
            <a:pPr algn="ctr" indent="0" marL="0">
              <a:buNone/>
            </a:pPr>
            <a:r>
              <a:rPr lang="en-US" sz="1000" dirty="0">
                <a:solidFill>
                  <a:srgbClr val="B0D4F1"/>
                </a:solidFill>
                <a:latin typeface="Calibri" pitchFamily="34" charset="0"/>
                <a:ea typeface="Calibri" pitchFamily="34" charset="-122"/>
                <a:cs typeface="Calibri" pitchFamily="34" charset="-120"/>
              </a:rPr>
              <a:t>Score +</a:t>
            </a:r>
            <a:endParaRPr lang="en-US" sz="1000" dirty="0"/>
          </a:p>
          <a:p>
            <a:pPr algn="ctr" indent="0" marL="0">
              <a:buNone/>
            </a:pPr>
            <a:r>
              <a:rPr lang="en-US" sz="1000" dirty="0">
                <a:solidFill>
                  <a:srgbClr val="B0D4F1"/>
                </a:solidFill>
                <a:latin typeface="Calibri" pitchFamily="34" charset="0"/>
                <a:ea typeface="Calibri" pitchFamily="34" charset="-122"/>
                <a:cs typeface="Calibri" pitchFamily="34" charset="-120"/>
              </a:rPr>
              <a:t>Threshold</a:t>
            </a:r>
            <a:endParaRPr lang="en-US" sz="1000" dirty="0"/>
          </a:p>
        </p:txBody>
      </p:sp>
      <p:sp>
        <p:nvSpPr>
          <p:cNvPr id="42" name="Text 40"/>
          <p:cNvSpPr/>
          <p:nvPr/>
        </p:nvSpPr>
        <p:spPr>
          <a:xfrm>
            <a:off x="8156448" y="3090672"/>
            <a:ext cx="292608" cy="292608"/>
          </a:xfrm>
          <a:prstGeom prst="rect">
            <a:avLst/>
          </a:prstGeom>
          <a:noFill/>
          <a:ln/>
        </p:spPr>
        <p:txBody>
          <a:bodyPr wrap="square" rtlCol="0" anchor="ctr"/>
          <a:lstStyle/>
          <a:p>
            <a:pPr algn="ctr" indent="0" marL="0">
              <a:buNone/>
            </a:pPr>
            <a:r>
              <a:rPr lang="en-US" sz="1400" b="1" dirty="0">
                <a:solidFill>
                  <a:srgbClr val="00FF9D"/>
                </a:solidFill>
                <a:latin typeface="Calibri" pitchFamily="34" charset="0"/>
                <a:ea typeface="Calibri" pitchFamily="34" charset="-122"/>
                <a:cs typeface="Calibri" pitchFamily="34" charset="-120"/>
              </a:rPr>
              <a:t>05</a:t>
            </a:r>
            <a:endParaRPr lang="en-US" sz="1400" dirty="0"/>
          </a:p>
        </p:txBody>
      </p:sp>
      <p:sp>
        <p:nvSpPr>
          <p:cNvPr id="43" name="Shape 41"/>
          <p:cNvSpPr/>
          <p:nvPr/>
        </p:nvSpPr>
        <p:spPr>
          <a:xfrm>
            <a:off x="274320" y="3730752"/>
            <a:ext cx="8595360" cy="640080"/>
          </a:xfrm>
          <a:prstGeom prst="rect">
            <a:avLst/>
          </a:prstGeom>
          <a:solidFill>
            <a:srgbClr val="111C35"/>
          </a:solidFill>
          <a:ln w="12700">
            <a:solidFill>
              <a:srgbClr val="1A3A5C"/>
            </a:solidFill>
            <a:prstDash val="solid"/>
          </a:ln>
        </p:spPr>
      </p:sp>
      <p:sp>
        <p:nvSpPr>
          <p:cNvPr id="44" name="Text 42"/>
          <p:cNvSpPr/>
          <p:nvPr/>
        </p:nvSpPr>
        <p:spPr>
          <a:xfrm>
            <a:off x="365760" y="3794760"/>
            <a:ext cx="8412480" cy="512064"/>
          </a:xfrm>
          <a:prstGeom prst="rect">
            <a:avLst/>
          </a:prstGeom>
          <a:noFill/>
          <a:ln/>
        </p:spPr>
        <p:txBody>
          <a:bodyPr wrap="square"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Implementation: Google Colab  |  Framework: kitsune-pytorch  |  Dataset: Kaggle Cybersecurity (ARP MitM Traffic)</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00D4FF"/>
          </a:solidFill>
          <a:ln w="12700">
            <a:solidFill>
              <a:srgbClr val="00D4FF"/>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WORKFLOW PIPELINE</a:t>
            </a:r>
            <a:endParaRPr lang="en-US" sz="2200" dirty="0"/>
          </a:p>
        </p:txBody>
      </p:sp>
      <p:sp>
        <p:nvSpPr>
          <p:cNvPr id="5" name="Shape 3"/>
          <p:cNvSpPr/>
          <p:nvPr/>
        </p:nvSpPr>
        <p:spPr>
          <a:xfrm>
            <a:off x="274320" y="822960"/>
            <a:ext cx="3931920" cy="502920"/>
          </a:xfrm>
          <a:prstGeom prst="rect">
            <a:avLst/>
          </a:prstGeom>
          <a:solidFill>
            <a:srgbClr val="0A1A30"/>
          </a:solidFill>
          <a:ln w="12700">
            <a:solidFill>
              <a:srgbClr val="0066CC"/>
            </a:solidFill>
            <a:prstDash val="solid"/>
          </a:ln>
        </p:spPr>
      </p:sp>
      <p:sp>
        <p:nvSpPr>
          <p:cNvPr id="6" name="Shape 4"/>
          <p:cNvSpPr/>
          <p:nvPr/>
        </p:nvSpPr>
        <p:spPr>
          <a:xfrm>
            <a:off x="274320" y="822960"/>
            <a:ext cx="457200" cy="502920"/>
          </a:xfrm>
          <a:prstGeom prst="rect">
            <a:avLst/>
          </a:prstGeom>
          <a:solidFill>
            <a:srgbClr val="0066CC">
              <a:alpha val="85000"/>
            </a:srgbClr>
          </a:solidFill>
          <a:ln w="12700">
            <a:solidFill>
              <a:srgbClr val="0066CC"/>
            </a:solidFill>
            <a:prstDash val="solid"/>
          </a:ln>
        </p:spPr>
      </p:sp>
      <p:sp>
        <p:nvSpPr>
          <p:cNvPr id="7" name="Text 5"/>
          <p:cNvSpPr/>
          <p:nvPr/>
        </p:nvSpPr>
        <p:spPr>
          <a:xfrm>
            <a:off x="274320" y="822960"/>
            <a:ext cx="457200" cy="502920"/>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01</a:t>
            </a:r>
            <a:endParaRPr lang="en-US" sz="1000" dirty="0"/>
          </a:p>
        </p:txBody>
      </p:sp>
      <p:sp>
        <p:nvSpPr>
          <p:cNvPr id="8" name="Text 6"/>
          <p:cNvSpPr/>
          <p:nvPr/>
        </p:nvSpPr>
        <p:spPr>
          <a:xfrm>
            <a:off x="822960" y="822960"/>
            <a:ext cx="3310128"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Compressed PCAP File</a:t>
            </a:r>
            <a:endParaRPr lang="en-US" sz="1050" dirty="0"/>
          </a:p>
        </p:txBody>
      </p:sp>
      <p:sp>
        <p:nvSpPr>
          <p:cNvPr id="9" name="Shape 7"/>
          <p:cNvSpPr/>
          <p:nvPr/>
        </p:nvSpPr>
        <p:spPr>
          <a:xfrm>
            <a:off x="2240280" y="1325880"/>
            <a:ext cx="0" cy="137160"/>
          </a:xfrm>
          <a:prstGeom prst="line">
            <a:avLst/>
          </a:prstGeom>
          <a:noFill/>
          <a:ln w="12700">
            <a:solidFill>
              <a:srgbClr val="0066CC"/>
            </a:solidFill>
            <a:prstDash val="solid"/>
          </a:ln>
        </p:spPr>
      </p:sp>
      <p:sp>
        <p:nvSpPr>
          <p:cNvPr id="10" name="Shape 8"/>
          <p:cNvSpPr/>
          <p:nvPr/>
        </p:nvSpPr>
        <p:spPr>
          <a:xfrm>
            <a:off x="274320" y="1490472"/>
            <a:ext cx="3931920" cy="502920"/>
          </a:xfrm>
          <a:prstGeom prst="rect">
            <a:avLst/>
          </a:prstGeom>
          <a:solidFill>
            <a:srgbClr val="0A1A30"/>
          </a:solidFill>
          <a:ln w="12700">
            <a:solidFill>
              <a:srgbClr val="0066CC"/>
            </a:solidFill>
            <a:prstDash val="solid"/>
          </a:ln>
        </p:spPr>
      </p:sp>
      <p:sp>
        <p:nvSpPr>
          <p:cNvPr id="11" name="Shape 9"/>
          <p:cNvSpPr/>
          <p:nvPr/>
        </p:nvSpPr>
        <p:spPr>
          <a:xfrm>
            <a:off x="274320" y="1490472"/>
            <a:ext cx="457200" cy="502920"/>
          </a:xfrm>
          <a:prstGeom prst="rect">
            <a:avLst/>
          </a:prstGeom>
          <a:solidFill>
            <a:srgbClr val="0066CC">
              <a:alpha val="85000"/>
            </a:srgbClr>
          </a:solidFill>
          <a:ln w="12700">
            <a:solidFill>
              <a:srgbClr val="0066CC"/>
            </a:solidFill>
            <a:prstDash val="solid"/>
          </a:ln>
        </p:spPr>
      </p:sp>
      <p:sp>
        <p:nvSpPr>
          <p:cNvPr id="12" name="Text 10"/>
          <p:cNvSpPr/>
          <p:nvPr/>
        </p:nvSpPr>
        <p:spPr>
          <a:xfrm>
            <a:off x="274320" y="1490472"/>
            <a:ext cx="457200" cy="502920"/>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02</a:t>
            </a:r>
            <a:endParaRPr lang="en-US" sz="1000" dirty="0"/>
          </a:p>
        </p:txBody>
      </p:sp>
      <p:sp>
        <p:nvSpPr>
          <p:cNvPr id="13" name="Text 11"/>
          <p:cNvSpPr/>
          <p:nvPr/>
        </p:nvSpPr>
        <p:spPr>
          <a:xfrm>
            <a:off x="822960" y="1490472"/>
            <a:ext cx="3310128"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Extract .pcapng File</a:t>
            </a:r>
            <a:endParaRPr lang="en-US" sz="1050" dirty="0"/>
          </a:p>
        </p:txBody>
      </p:sp>
      <p:sp>
        <p:nvSpPr>
          <p:cNvPr id="14" name="Shape 12"/>
          <p:cNvSpPr/>
          <p:nvPr/>
        </p:nvSpPr>
        <p:spPr>
          <a:xfrm>
            <a:off x="2240280" y="1993392"/>
            <a:ext cx="0" cy="137160"/>
          </a:xfrm>
          <a:prstGeom prst="line">
            <a:avLst/>
          </a:prstGeom>
          <a:noFill/>
          <a:ln w="12700">
            <a:solidFill>
              <a:srgbClr val="0066CC"/>
            </a:solidFill>
            <a:prstDash val="solid"/>
          </a:ln>
        </p:spPr>
      </p:sp>
      <p:sp>
        <p:nvSpPr>
          <p:cNvPr id="15" name="Shape 13"/>
          <p:cNvSpPr/>
          <p:nvPr/>
        </p:nvSpPr>
        <p:spPr>
          <a:xfrm>
            <a:off x="274320" y="2157984"/>
            <a:ext cx="3931920" cy="502920"/>
          </a:xfrm>
          <a:prstGeom prst="rect">
            <a:avLst/>
          </a:prstGeom>
          <a:solidFill>
            <a:srgbClr val="0A1A30"/>
          </a:solidFill>
          <a:ln w="12700">
            <a:solidFill>
              <a:srgbClr val="00D4FF"/>
            </a:solidFill>
            <a:prstDash val="solid"/>
          </a:ln>
        </p:spPr>
      </p:sp>
      <p:sp>
        <p:nvSpPr>
          <p:cNvPr id="16" name="Shape 14"/>
          <p:cNvSpPr/>
          <p:nvPr/>
        </p:nvSpPr>
        <p:spPr>
          <a:xfrm>
            <a:off x="274320" y="2157984"/>
            <a:ext cx="457200" cy="502920"/>
          </a:xfrm>
          <a:prstGeom prst="rect">
            <a:avLst/>
          </a:prstGeom>
          <a:solidFill>
            <a:srgbClr val="00D4FF">
              <a:alpha val="85000"/>
            </a:srgbClr>
          </a:solidFill>
          <a:ln w="12700">
            <a:solidFill>
              <a:srgbClr val="00D4FF"/>
            </a:solidFill>
            <a:prstDash val="solid"/>
          </a:ln>
        </p:spPr>
      </p:sp>
      <p:sp>
        <p:nvSpPr>
          <p:cNvPr id="17" name="Text 15"/>
          <p:cNvSpPr/>
          <p:nvPr/>
        </p:nvSpPr>
        <p:spPr>
          <a:xfrm>
            <a:off x="274320" y="2157984"/>
            <a:ext cx="457200" cy="502920"/>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03</a:t>
            </a:r>
            <a:endParaRPr lang="en-US" sz="1000" dirty="0"/>
          </a:p>
        </p:txBody>
      </p:sp>
      <p:sp>
        <p:nvSpPr>
          <p:cNvPr id="18" name="Text 16"/>
          <p:cNvSpPr/>
          <p:nvPr/>
        </p:nvSpPr>
        <p:spPr>
          <a:xfrm>
            <a:off x="822960" y="2157984"/>
            <a:ext cx="3310128"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TShark Feature Extraction</a:t>
            </a:r>
            <a:endParaRPr lang="en-US" sz="1050" dirty="0"/>
          </a:p>
        </p:txBody>
      </p:sp>
      <p:sp>
        <p:nvSpPr>
          <p:cNvPr id="19" name="Shape 17"/>
          <p:cNvSpPr/>
          <p:nvPr/>
        </p:nvSpPr>
        <p:spPr>
          <a:xfrm>
            <a:off x="2240280" y="2660904"/>
            <a:ext cx="0" cy="137160"/>
          </a:xfrm>
          <a:prstGeom prst="line">
            <a:avLst/>
          </a:prstGeom>
          <a:noFill/>
          <a:ln w="12700">
            <a:solidFill>
              <a:srgbClr val="00D4FF"/>
            </a:solidFill>
            <a:prstDash val="solid"/>
          </a:ln>
        </p:spPr>
      </p:sp>
      <p:sp>
        <p:nvSpPr>
          <p:cNvPr id="20" name="Shape 18"/>
          <p:cNvSpPr/>
          <p:nvPr/>
        </p:nvSpPr>
        <p:spPr>
          <a:xfrm>
            <a:off x="274320" y="2825496"/>
            <a:ext cx="3931920" cy="502920"/>
          </a:xfrm>
          <a:prstGeom prst="rect">
            <a:avLst/>
          </a:prstGeom>
          <a:solidFill>
            <a:srgbClr val="0A1A30"/>
          </a:solidFill>
          <a:ln w="12700">
            <a:solidFill>
              <a:srgbClr val="00D4FF"/>
            </a:solidFill>
            <a:prstDash val="solid"/>
          </a:ln>
        </p:spPr>
      </p:sp>
      <p:sp>
        <p:nvSpPr>
          <p:cNvPr id="21" name="Shape 19"/>
          <p:cNvSpPr/>
          <p:nvPr/>
        </p:nvSpPr>
        <p:spPr>
          <a:xfrm>
            <a:off x="274320" y="2825496"/>
            <a:ext cx="457200" cy="502920"/>
          </a:xfrm>
          <a:prstGeom prst="rect">
            <a:avLst/>
          </a:prstGeom>
          <a:solidFill>
            <a:srgbClr val="00D4FF">
              <a:alpha val="85000"/>
            </a:srgbClr>
          </a:solidFill>
          <a:ln w="12700">
            <a:solidFill>
              <a:srgbClr val="00D4FF"/>
            </a:solidFill>
            <a:prstDash val="solid"/>
          </a:ln>
        </p:spPr>
      </p:sp>
      <p:sp>
        <p:nvSpPr>
          <p:cNvPr id="22" name="Text 20"/>
          <p:cNvSpPr/>
          <p:nvPr/>
        </p:nvSpPr>
        <p:spPr>
          <a:xfrm>
            <a:off x="274320" y="2825496"/>
            <a:ext cx="457200" cy="502920"/>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04</a:t>
            </a:r>
            <a:endParaRPr lang="en-US" sz="1000" dirty="0"/>
          </a:p>
        </p:txBody>
      </p:sp>
      <p:sp>
        <p:nvSpPr>
          <p:cNvPr id="23" name="Text 21"/>
          <p:cNvSpPr/>
          <p:nvPr/>
        </p:nvSpPr>
        <p:spPr>
          <a:xfrm>
            <a:off x="822960" y="2825496"/>
            <a:ext cx="3310128"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CSV Dataset Creation</a:t>
            </a:r>
            <a:endParaRPr lang="en-US" sz="1050" dirty="0"/>
          </a:p>
        </p:txBody>
      </p:sp>
      <p:sp>
        <p:nvSpPr>
          <p:cNvPr id="24" name="Shape 22"/>
          <p:cNvSpPr/>
          <p:nvPr/>
        </p:nvSpPr>
        <p:spPr>
          <a:xfrm>
            <a:off x="2240280" y="3328416"/>
            <a:ext cx="0" cy="137160"/>
          </a:xfrm>
          <a:prstGeom prst="line">
            <a:avLst/>
          </a:prstGeom>
          <a:noFill/>
          <a:ln w="12700">
            <a:solidFill>
              <a:srgbClr val="00D4FF"/>
            </a:solidFill>
            <a:prstDash val="solid"/>
          </a:ln>
        </p:spPr>
      </p:sp>
      <p:sp>
        <p:nvSpPr>
          <p:cNvPr id="25" name="Shape 23"/>
          <p:cNvSpPr/>
          <p:nvPr/>
        </p:nvSpPr>
        <p:spPr>
          <a:xfrm>
            <a:off x="274320" y="3493008"/>
            <a:ext cx="3931920" cy="502920"/>
          </a:xfrm>
          <a:prstGeom prst="rect">
            <a:avLst/>
          </a:prstGeom>
          <a:solidFill>
            <a:srgbClr val="0A1A30"/>
          </a:solidFill>
          <a:ln w="12700">
            <a:solidFill>
              <a:srgbClr val="AA44FF"/>
            </a:solidFill>
            <a:prstDash val="solid"/>
          </a:ln>
        </p:spPr>
      </p:sp>
      <p:sp>
        <p:nvSpPr>
          <p:cNvPr id="26" name="Shape 24"/>
          <p:cNvSpPr/>
          <p:nvPr/>
        </p:nvSpPr>
        <p:spPr>
          <a:xfrm>
            <a:off x="274320" y="3493008"/>
            <a:ext cx="457200" cy="502920"/>
          </a:xfrm>
          <a:prstGeom prst="rect">
            <a:avLst/>
          </a:prstGeom>
          <a:solidFill>
            <a:srgbClr val="AA44FF">
              <a:alpha val="85000"/>
            </a:srgbClr>
          </a:solidFill>
          <a:ln w="12700">
            <a:solidFill>
              <a:srgbClr val="AA44FF"/>
            </a:solidFill>
            <a:prstDash val="solid"/>
          </a:ln>
        </p:spPr>
      </p:sp>
      <p:sp>
        <p:nvSpPr>
          <p:cNvPr id="27" name="Text 25"/>
          <p:cNvSpPr/>
          <p:nvPr/>
        </p:nvSpPr>
        <p:spPr>
          <a:xfrm>
            <a:off x="274320" y="3493008"/>
            <a:ext cx="457200" cy="502920"/>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05</a:t>
            </a:r>
            <a:endParaRPr lang="en-US" sz="1000" dirty="0"/>
          </a:p>
        </p:txBody>
      </p:sp>
      <p:sp>
        <p:nvSpPr>
          <p:cNvPr id="28" name="Text 26"/>
          <p:cNvSpPr/>
          <p:nvPr/>
        </p:nvSpPr>
        <p:spPr>
          <a:xfrm>
            <a:off x="822960" y="3493008"/>
            <a:ext cx="3310128"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115 Feature Formatting</a:t>
            </a:r>
            <a:endParaRPr lang="en-US" sz="1050" dirty="0"/>
          </a:p>
        </p:txBody>
      </p:sp>
      <p:sp>
        <p:nvSpPr>
          <p:cNvPr id="29" name="Shape 27"/>
          <p:cNvSpPr/>
          <p:nvPr/>
        </p:nvSpPr>
        <p:spPr>
          <a:xfrm>
            <a:off x="2240280" y="3995928"/>
            <a:ext cx="0" cy="137160"/>
          </a:xfrm>
          <a:prstGeom prst="line">
            <a:avLst/>
          </a:prstGeom>
          <a:noFill/>
          <a:ln w="12700">
            <a:solidFill>
              <a:srgbClr val="AA44FF"/>
            </a:solidFill>
            <a:prstDash val="solid"/>
          </a:ln>
        </p:spPr>
      </p:sp>
      <p:sp>
        <p:nvSpPr>
          <p:cNvPr id="30" name="Shape 28"/>
          <p:cNvSpPr/>
          <p:nvPr/>
        </p:nvSpPr>
        <p:spPr>
          <a:xfrm>
            <a:off x="274320" y="4160520"/>
            <a:ext cx="3931920" cy="502920"/>
          </a:xfrm>
          <a:prstGeom prst="rect">
            <a:avLst/>
          </a:prstGeom>
          <a:solidFill>
            <a:srgbClr val="0A1A30"/>
          </a:solidFill>
          <a:ln w="12700">
            <a:solidFill>
              <a:srgbClr val="AA44FF"/>
            </a:solidFill>
            <a:prstDash val="solid"/>
          </a:ln>
        </p:spPr>
      </p:sp>
      <p:sp>
        <p:nvSpPr>
          <p:cNvPr id="31" name="Shape 29"/>
          <p:cNvSpPr/>
          <p:nvPr/>
        </p:nvSpPr>
        <p:spPr>
          <a:xfrm>
            <a:off x="274320" y="4160520"/>
            <a:ext cx="457200" cy="502920"/>
          </a:xfrm>
          <a:prstGeom prst="rect">
            <a:avLst/>
          </a:prstGeom>
          <a:solidFill>
            <a:srgbClr val="AA44FF">
              <a:alpha val="85000"/>
            </a:srgbClr>
          </a:solidFill>
          <a:ln w="12700">
            <a:solidFill>
              <a:srgbClr val="AA44FF"/>
            </a:solidFill>
            <a:prstDash val="solid"/>
          </a:ln>
        </p:spPr>
      </p:sp>
      <p:sp>
        <p:nvSpPr>
          <p:cNvPr id="32" name="Text 30"/>
          <p:cNvSpPr/>
          <p:nvPr/>
        </p:nvSpPr>
        <p:spPr>
          <a:xfrm>
            <a:off x="274320" y="4160520"/>
            <a:ext cx="457200" cy="502920"/>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06</a:t>
            </a:r>
            <a:endParaRPr lang="en-US" sz="1000" dirty="0"/>
          </a:p>
        </p:txBody>
      </p:sp>
      <p:sp>
        <p:nvSpPr>
          <p:cNvPr id="33" name="Text 31"/>
          <p:cNvSpPr/>
          <p:nvPr/>
        </p:nvSpPr>
        <p:spPr>
          <a:xfrm>
            <a:off x="822960" y="4160520"/>
            <a:ext cx="3310128"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Data Normalization (MinMaxScaler)</a:t>
            </a:r>
            <a:endParaRPr lang="en-US" sz="1050" dirty="0"/>
          </a:p>
        </p:txBody>
      </p:sp>
      <p:sp>
        <p:nvSpPr>
          <p:cNvPr id="34" name="Shape 32"/>
          <p:cNvSpPr/>
          <p:nvPr/>
        </p:nvSpPr>
        <p:spPr>
          <a:xfrm>
            <a:off x="4937760" y="822960"/>
            <a:ext cx="3931920" cy="502920"/>
          </a:xfrm>
          <a:prstGeom prst="rect">
            <a:avLst/>
          </a:prstGeom>
          <a:solidFill>
            <a:srgbClr val="0A1A30"/>
          </a:solidFill>
          <a:ln w="12700">
            <a:solidFill>
              <a:srgbClr val="FF6B35"/>
            </a:solidFill>
            <a:prstDash val="solid"/>
          </a:ln>
        </p:spPr>
      </p:sp>
      <p:sp>
        <p:nvSpPr>
          <p:cNvPr id="35" name="Shape 33"/>
          <p:cNvSpPr/>
          <p:nvPr/>
        </p:nvSpPr>
        <p:spPr>
          <a:xfrm>
            <a:off x="4937760" y="822960"/>
            <a:ext cx="457200" cy="502920"/>
          </a:xfrm>
          <a:prstGeom prst="rect">
            <a:avLst/>
          </a:prstGeom>
          <a:solidFill>
            <a:srgbClr val="FF6B35">
              <a:alpha val="85000"/>
            </a:srgbClr>
          </a:solidFill>
          <a:ln w="12700">
            <a:solidFill>
              <a:srgbClr val="FF6B35"/>
            </a:solidFill>
            <a:prstDash val="solid"/>
          </a:ln>
        </p:spPr>
      </p:sp>
      <p:sp>
        <p:nvSpPr>
          <p:cNvPr id="36" name="Text 34"/>
          <p:cNvSpPr/>
          <p:nvPr/>
        </p:nvSpPr>
        <p:spPr>
          <a:xfrm>
            <a:off x="4937760" y="822960"/>
            <a:ext cx="457200" cy="502920"/>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07</a:t>
            </a:r>
            <a:endParaRPr lang="en-US" sz="1000" dirty="0"/>
          </a:p>
        </p:txBody>
      </p:sp>
      <p:sp>
        <p:nvSpPr>
          <p:cNvPr id="37" name="Text 35"/>
          <p:cNvSpPr/>
          <p:nvPr/>
        </p:nvSpPr>
        <p:spPr>
          <a:xfrm>
            <a:off x="5486400" y="822960"/>
            <a:ext cx="3310128"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Benign Traffic Training</a:t>
            </a:r>
            <a:endParaRPr lang="en-US" sz="1050" dirty="0"/>
          </a:p>
        </p:txBody>
      </p:sp>
      <p:sp>
        <p:nvSpPr>
          <p:cNvPr id="38" name="Shape 36"/>
          <p:cNvSpPr/>
          <p:nvPr/>
        </p:nvSpPr>
        <p:spPr>
          <a:xfrm>
            <a:off x="6903720" y="1325880"/>
            <a:ext cx="0" cy="137160"/>
          </a:xfrm>
          <a:prstGeom prst="line">
            <a:avLst/>
          </a:prstGeom>
          <a:noFill/>
          <a:ln w="12700">
            <a:solidFill>
              <a:srgbClr val="FF6B35"/>
            </a:solidFill>
            <a:prstDash val="solid"/>
          </a:ln>
        </p:spPr>
      </p:sp>
      <p:sp>
        <p:nvSpPr>
          <p:cNvPr id="39" name="Shape 37"/>
          <p:cNvSpPr/>
          <p:nvPr/>
        </p:nvSpPr>
        <p:spPr>
          <a:xfrm>
            <a:off x="4937760" y="1490472"/>
            <a:ext cx="3931920" cy="502920"/>
          </a:xfrm>
          <a:prstGeom prst="rect">
            <a:avLst/>
          </a:prstGeom>
          <a:solidFill>
            <a:srgbClr val="0A1A30"/>
          </a:solidFill>
          <a:ln w="12700">
            <a:solidFill>
              <a:srgbClr val="FF6B35"/>
            </a:solidFill>
            <a:prstDash val="solid"/>
          </a:ln>
        </p:spPr>
      </p:sp>
      <p:sp>
        <p:nvSpPr>
          <p:cNvPr id="40" name="Shape 38"/>
          <p:cNvSpPr/>
          <p:nvPr/>
        </p:nvSpPr>
        <p:spPr>
          <a:xfrm>
            <a:off x="4937760" y="1490472"/>
            <a:ext cx="457200" cy="502920"/>
          </a:xfrm>
          <a:prstGeom prst="rect">
            <a:avLst/>
          </a:prstGeom>
          <a:solidFill>
            <a:srgbClr val="FF6B35">
              <a:alpha val="85000"/>
            </a:srgbClr>
          </a:solidFill>
          <a:ln w="12700">
            <a:solidFill>
              <a:srgbClr val="FF6B35"/>
            </a:solidFill>
            <a:prstDash val="solid"/>
          </a:ln>
        </p:spPr>
      </p:sp>
      <p:sp>
        <p:nvSpPr>
          <p:cNvPr id="41" name="Text 39"/>
          <p:cNvSpPr/>
          <p:nvPr/>
        </p:nvSpPr>
        <p:spPr>
          <a:xfrm>
            <a:off x="4937760" y="1490472"/>
            <a:ext cx="457200" cy="502920"/>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08</a:t>
            </a:r>
            <a:endParaRPr lang="en-US" sz="1000" dirty="0"/>
          </a:p>
        </p:txBody>
      </p:sp>
      <p:sp>
        <p:nvSpPr>
          <p:cNvPr id="42" name="Text 40"/>
          <p:cNvSpPr/>
          <p:nvPr/>
        </p:nvSpPr>
        <p:spPr>
          <a:xfrm>
            <a:off x="5486400" y="1490472"/>
            <a:ext cx="3310128"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Kitsune Model Training</a:t>
            </a:r>
            <a:endParaRPr lang="en-US" sz="1050" dirty="0"/>
          </a:p>
        </p:txBody>
      </p:sp>
      <p:sp>
        <p:nvSpPr>
          <p:cNvPr id="43" name="Shape 41"/>
          <p:cNvSpPr/>
          <p:nvPr/>
        </p:nvSpPr>
        <p:spPr>
          <a:xfrm>
            <a:off x="6903720" y="1993392"/>
            <a:ext cx="0" cy="137160"/>
          </a:xfrm>
          <a:prstGeom prst="line">
            <a:avLst/>
          </a:prstGeom>
          <a:noFill/>
          <a:ln w="12700">
            <a:solidFill>
              <a:srgbClr val="FF6B35"/>
            </a:solidFill>
            <a:prstDash val="solid"/>
          </a:ln>
        </p:spPr>
      </p:sp>
      <p:sp>
        <p:nvSpPr>
          <p:cNvPr id="44" name="Shape 42"/>
          <p:cNvSpPr/>
          <p:nvPr/>
        </p:nvSpPr>
        <p:spPr>
          <a:xfrm>
            <a:off x="4937760" y="2157984"/>
            <a:ext cx="3931920" cy="502920"/>
          </a:xfrm>
          <a:prstGeom prst="rect">
            <a:avLst/>
          </a:prstGeom>
          <a:solidFill>
            <a:srgbClr val="0A1A30"/>
          </a:solidFill>
          <a:ln w="12700">
            <a:solidFill>
              <a:srgbClr val="00FF9D"/>
            </a:solidFill>
            <a:prstDash val="solid"/>
          </a:ln>
        </p:spPr>
      </p:sp>
      <p:sp>
        <p:nvSpPr>
          <p:cNvPr id="45" name="Shape 43"/>
          <p:cNvSpPr/>
          <p:nvPr/>
        </p:nvSpPr>
        <p:spPr>
          <a:xfrm>
            <a:off x="4937760" y="2157984"/>
            <a:ext cx="457200" cy="502920"/>
          </a:xfrm>
          <a:prstGeom prst="rect">
            <a:avLst/>
          </a:prstGeom>
          <a:solidFill>
            <a:srgbClr val="00FF9D">
              <a:alpha val="85000"/>
            </a:srgbClr>
          </a:solidFill>
          <a:ln w="12700">
            <a:solidFill>
              <a:srgbClr val="00FF9D"/>
            </a:solidFill>
            <a:prstDash val="solid"/>
          </a:ln>
        </p:spPr>
      </p:sp>
      <p:sp>
        <p:nvSpPr>
          <p:cNvPr id="46" name="Text 44"/>
          <p:cNvSpPr/>
          <p:nvPr/>
        </p:nvSpPr>
        <p:spPr>
          <a:xfrm>
            <a:off x="4937760" y="2157984"/>
            <a:ext cx="457200" cy="502920"/>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09</a:t>
            </a:r>
            <a:endParaRPr lang="en-US" sz="1000" dirty="0"/>
          </a:p>
        </p:txBody>
      </p:sp>
      <p:sp>
        <p:nvSpPr>
          <p:cNvPr id="47" name="Text 45"/>
          <p:cNvSpPr/>
          <p:nvPr/>
        </p:nvSpPr>
        <p:spPr>
          <a:xfrm>
            <a:off x="5486400" y="2157984"/>
            <a:ext cx="3310128"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Full Dataset Evaluation</a:t>
            </a:r>
            <a:endParaRPr lang="en-US" sz="1050" dirty="0"/>
          </a:p>
        </p:txBody>
      </p:sp>
      <p:sp>
        <p:nvSpPr>
          <p:cNvPr id="48" name="Shape 46"/>
          <p:cNvSpPr/>
          <p:nvPr/>
        </p:nvSpPr>
        <p:spPr>
          <a:xfrm>
            <a:off x="6903720" y="2660904"/>
            <a:ext cx="0" cy="137160"/>
          </a:xfrm>
          <a:prstGeom prst="line">
            <a:avLst/>
          </a:prstGeom>
          <a:noFill/>
          <a:ln w="12700">
            <a:solidFill>
              <a:srgbClr val="00FF9D"/>
            </a:solidFill>
            <a:prstDash val="solid"/>
          </a:ln>
        </p:spPr>
      </p:sp>
      <p:sp>
        <p:nvSpPr>
          <p:cNvPr id="49" name="Shape 47"/>
          <p:cNvSpPr/>
          <p:nvPr/>
        </p:nvSpPr>
        <p:spPr>
          <a:xfrm>
            <a:off x="4937760" y="2825496"/>
            <a:ext cx="3931920" cy="502920"/>
          </a:xfrm>
          <a:prstGeom prst="rect">
            <a:avLst/>
          </a:prstGeom>
          <a:solidFill>
            <a:srgbClr val="0A1A30"/>
          </a:solidFill>
          <a:ln w="12700">
            <a:solidFill>
              <a:srgbClr val="00FF9D"/>
            </a:solidFill>
            <a:prstDash val="solid"/>
          </a:ln>
        </p:spPr>
      </p:sp>
      <p:sp>
        <p:nvSpPr>
          <p:cNvPr id="50" name="Shape 48"/>
          <p:cNvSpPr/>
          <p:nvPr/>
        </p:nvSpPr>
        <p:spPr>
          <a:xfrm>
            <a:off x="4937760" y="2825496"/>
            <a:ext cx="457200" cy="502920"/>
          </a:xfrm>
          <a:prstGeom prst="rect">
            <a:avLst/>
          </a:prstGeom>
          <a:solidFill>
            <a:srgbClr val="00FF9D">
              <a:alpha val="85000"/>
            </a:srgbClr>
          </a:solidFill>
          <a:ln w="12700">
            <a:solidFill>
              <a:srgbClr val="00FF9D"/>
            </a:solidFill>
            <a:prstDash val="solid"/>
          </a:ln>
        </p:spPr>
      </p:sp>
      <p:sp>
        <p:nvSpPr>
          <p:cNvPr id="51" name="Text 49"/>
          <p:cNvSpPr/>
          <p:nvPr/>
        </p:nvSpPr>
        <p:spPr>
          <a:xfrm>
            <a:off x="4937760" y="2825496"/>
            <a:ext cx="457200" cy="502920"/>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10</a:t>
            </a:r>
            <a:endParaRPr lang="en-US" sz="1000" dirty="0"/>
          </a:p>
        </p:txBody>
      </p:sp>
      <p:sp>
        <p:nvSpPr>
          <p:cNvPr id="52" name="Text 50"/>
          <p:cNvSpPr/>
          <p:nvPr/>
        </p:nvSpPr>
        <p:spPr>
          <a:xfrm>
            <a:off x="5486400" y="2825496"/>
            <a:ext cx="3310128"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Anomaly Score Generation</a:t>
            </a:r>
            <a:endParaRPr lang="en-US" sz="1050" dirty="0"/>
          </a:p>
        </p:txBody>
      </p:sp>
      <p:sp>
        <p:nvSpPr>
          <p:cNvPr id="53" name="Shape 51"/>
          <p:cNvSpPr/>
          <p:nvPr/>
        </p:nvSpPr>
        <p:spPr>
          <a:xfrm>
            <a:off x="6903720" y="3328416"/>
            <a:ext cx="0" cy="137160"/>
          </a:xfrm>
          <a:prstGeom prst="line">
            <a:avLst/>
          </a:prstGeom>
          <a:noFill/>
          <a:ln w="12700">
            <a:solidFill>
              <a:srgbClr val="00FF9D"/>
            </a:solidFill>
            <a:prstDash val="solid"/>
          </a:ln>
        </p:spPr>
      </p:sp>
      <p:sp>
        <p:nvSpPr>
          <p:cNvPr id="54" name="Shape 52"/>
          <p:cNvSpPr/>
          <p:nvPr/>
        </p:nvSpPr>
        <p:spPr>
          <a:xfrm>
            <a:off x="4937760" y="3493008"/>
            <a:ext cx="3931920" cy="502920"/>
          </a:xfrm>
          <a:prstGeom prst="rect">
            <a:avLst/>
          </a:prstGeom>
          <a:solidFill>
            <a:srgbClr val="0A1A30"/>
          </a:solidFill>
          <a:ln w="12700">
            <a:solidFill>
              <a:srgbClr val="FF4488"/>
            </a:solidFill>
            <a:prstDash val="solid"/>
          </a:ln>
        </p:spPr>
      </p:sp>
      <p:sp>
        <p:nvSpPr>
          <p:cNvPr id="55" name="Shape 53"/>
          <p:cNvSpPr/>
          <p:nvPr/>
        </p:nvSpPr>
        <p:spPr>
          <a:xfrm>
            <a:off x="4937760" y="3493008"/>
            <a:ext cx="457200" cy="502920"/>
          </a:xfrm>
          <a:prstGeom prst="rect">
            <a:avLst/>
          </a:prstGeom>
          <a:solidFill>
            <a:srgbClr val="FF4488">
              <a:alpha val="85000"/>
            </a:srgbClr>
          </a:solidFill>
          <a:ln w="12700">
            <a:solidFill>
              <a:srgbClr val="FF4488"/>
            </a:solidFill>
            <a:prstDash val="solid"/>
          </a:ln>
        </p:spPr>
      </p:sp>
      <p:sp>
        <p:nvSpPr>
          <p:cNvPr id="56" name="Text 54"/>
          <p:cNvSpPr/>
          <p:nvPr/>
        </p:nvSpPr>
        <p:spPr>
          <a:xfrm>
            <a:off x="4937760" y="3493008"/>
            <a:ext cx="457200" cy="502920"/>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11</a:t>
            </a:r>
            <a:endParaRPr lang="en-US" sz="1000" dirty="0"/>
          </a:p>
        </p:txBody>
      </p:sp>
      <p:sp>
        <p:nvSpPr>
          <p:cNvPr id="57" name="Text 55"/>
          <p:cNvSpPr/>
          <p:nvPr/>
        </p:nvSpPr>
        <p:spPr>
          <a:xfrm>
            <a:off x="5486400" y="3493008"/>
            <a:ext cx="3310128"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Threshold Classification</a:t>
            </a:r>
            <a:endParaRPr lang="en-US" sz="1050" dirty="0"/>
          </a:p>
        </p:txBody>
      </p:sp>
      <p:sp>
        <p:nvSpPr>
          <p:cNvPr id="58" name="Shape 56"/>
          <p:cNvSpPr/>
          <p:nvPr/>
        </p:nvSpPr>
        <p:spPr>
          <a:xfrm>
            <a:off x="6903720" y="3995928"/>
            <a:ext cx="0" cy="137160"/>
          </a:xfrm>
          <a:prstGeom prst="line">
            <a:avLst/>
          </a:prstGeom>
          <a:noFill/>
          <a:ln w="12700">
            <a:solidFill>
              <a:srgbClr val="FF4488"/>
            </a:solidFill>
            <a:prstDash val="solid"/>
          </a:ln>
        </p:spPr>
      </p:sp>
      <p:sp>
        <p:nvSpPr>
          <p:cNvPr id="59" name="Shape 57"/>
          <p:cNvSpPr/>
          <p:nvPr/>
        </p:nvSpPr>
        <p:spPr>
          <a:xfrm>
            <a:off x="4937760" y="4160520"/>
            <a:ext cx="3931920" cy="502920"/>
          </a:xfrm>
          <a:prstGeom prst="rect">
            <a:avLst/>
          </a:prstGeom>
          <a:solidFill>
            <a:srgbClr val="0A1A30"/>
          </a:solidFill>
          <a:ln w="12700">
            <a:solidFill>
              <a:srgbClr val="FF4488"/>
            </a:solidFill>
            <a:prstDash val="solid"/>
          </a:ln>
        </p:spPr>
      </p:sp>
      <p:sp>
        <p:nvSpPr>
          <p:cNvPr id="60" name="Shape 58"/>
          <p:cNvSpPr/>
          <p:nvPr/>
        </p:nvSpPr>
        <p:spPr>
          <a:xfrm>
            <a:off x="4937760" y="4160520"/>
            <a:ext cx="457200" cy="502920"/>
          </a:xfrm>
          <a:prstGeom prst="rect">
            <a:avLst/>
          </a:prstGeom>
          <a:solidFill>
            <a:srgbClr val="FF4488">
              <a:alpha val="85000"/>
            </a:srgbClr>
          </a:solidFill>
          <a:ln w="12700">
            <a:solidFill>
              <a:srgbClr val="FF4488"/>
            </a:solidFill>
            <a:prstDash val="solid"/>
          </a:ln>
        </p:spPr>
      </p:sp>
      <p:sp>
        <p:nvSpPr>
          <p:cNvPr id="61" name="Text 59"/>
          <p:cNvSpPr/>
          <p:nvPr/>
        </p:nvSpPr>
        <p:spPr>
          <a:xfrm>
            <a:off x="4937760" y="4160520"/>
            <a:ext cx="457200" cy="502920"/>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12</a:t>
            </a:r>
            <a:endParaRPr lang="en-US" sz="1000" dirty="0"/>
          </a:p>
        </p:txBody>
      </p:sp>
      <p:sp>
        <p:nvSpPr>
          <p:cNvPr id="62" name="Text 60"/>
          <p:cNvSpPr/>
          <p:nvPr/>
        </p:nvSpPr>
        <p:spPr>
          <a:xfrm>
            <a:off x="5486400" y="4160520"/>
            <a:ext cx="3310128"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Metrics &amp; Confusion Matrix</a:t>
            </a:r>
            <a:endParaRPr lang="en-US" sz="1050" dirty="0"/>
          </a:p>
        </p:txBody>
      </p:sp>
      <p:sp>
        <p:nvSpPr>
          <p:cNvPr id="63" name="Shape 61"/>
          <p:cNvSpPr/>
          <p:nvPr/>
        </p:nvSpPr>
        <p:spPr>
          <a:xfrm>
            <a:off x="4343400" y="3337560"/>
            <a:ext cx="640080" cy="91440"/>
          </a:xfrm>
          <a:prstGeom prst="rect">
            <a:avLst/>
          </a:prstGeom>
          <a:solidFill>
            <a:srgbClr val="00D4FF"/>
          </a:solidFill>
          <a:ln w="12700">
            <a:solidFill>
              <a:srgbClr val="00D4F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FF6B35"/>
          </a:solidFill>
          <a:ln w="12700">
            <a:solidFill>
              <a:srgbClr val="FF6B35"/>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TECHNOLOGIES &amp; TOOLS USED</a:t>
            </a:r>
            <a:endParaRPr lang="en-US" sz="2200" dirty="0"/>
          </a:p>
        </p:txBody>
      </p:sp>
      <p:sp>
        <p:nvSpPr>
          <p:cNvPr id="5" name="Shape 3"/>
          <p:cNvSpPr/>
          <p:nvPr/>
        </p:nvSpPr>
        <p:spPr>
          <a:xfrm>
            <a:off x="274320" y="841248"/>
            <a:ext cx="2697480" cy="1783080"/>
          </a:xfrm>
          <a:prstGeom prst="rect">
            <a:avLst/>
          </a:prstGeom>
          <a:solidFill>
            <a:srgbClr val="111C35"/>
          </a:solidFill>
          <a:ln w="19050">
            <a:solidFill>
              <a:srgbClr val="00D4FF"/>
            </a:solidFill>
            <a:prstDash val="solid"/>
          </a:ln>
        </p:spPr>
      </p:sp>
      <p:sp>
        <p:nvSpPr>
          <p:cNvPr id="6" name="Shape 4"/>
          <p:cNvSpPr/>
          <p:nvPr/>
        </p:nvSpPr>
        <p:spPr>
          <a:xfrm>
            <a:off x="274320" y="841248"/>
            <a:ext cx="2697480" cy="457200"/>
          </a:xfrm>
          <a:prstGeom prst="rect">
            <a:avLst/>
          </a:prstGeom>
          <a:solidFill>
            <a:srgbClr val="00D4FF">
              <a:alpha val="80000"/>
            </a:srgbClr>
          </a:solidFill>
          <a:ln w="12700">
            <a:solidFill>
              <a:srgbClr val="00D4FF"/>
            </a:solidFill>
            <a:prstDash val="solid"/>
          </a:ln>
        </p:spPr>
      </p:sp>
      <p:sp>
        <p:nvSpPr>
          <p:cNvPr id="7" name="Text 5"/>
          <p:cNvSpPr/>
          <p:nvPr/>
        </p:nvSpPr>
        <p:spPr>
          <a:xfrm>
            <a:off x="365760" y="841248"/>
            <a:ext cx="2514600" cy="457200"/>
          </a:xfrm>
          <a:prstGeom prst="rect">
            <a:avLst/>
          </a:prstGeom>
          <a:noFill/>
          <a:ln/>
        </p:spPr>
        <p:txBody>
          <a:bodyPr wrap="square" rtlCol="0" anchor="ctr"/>
          <a:lstStyle/>
          <a:p>
            <a:pPr indent="0" marL="0">
              <a:buNone/>
            </a:pPr>
            <a:r>
              <a:rPr lang="en-US" sz="1200" b="1" dirty="0">
                <a:solidFill>
                  <a:srgbClr val="0A0F1E"/>
                </a:solidFill>
                <a:latin typeface="Calibri" pitchFamily="34" charset="0"/>
                <a:ea typeface="Calibri" pitchFamily="34" charset="-122"/>
                <a:cs typeface="Calibri" pitchFamily="34" charset="-120"/>
              </a:rPr>
              <a:t>🐍  Python</a:t>
            </a:r>
            <a:endParaRPr lang="en-US" sz="1200" dirty="0"/>
          </a:p>
        </p:txBody>
      </p:sp>
      <p:sp>
        <p:nvSpPr>
          <p:cNvPr id="8" name="Text 6"/>
          <p:cNvSpPr/>
          <p:nvPr/>
        </p:nvSpPr>
        <p:spPr>
          <a:xfrm>
            <a:off x="384048" y="1371600"/>
            <a:ext cx="2468880" cy="1115568"/>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Core programming language for all processing, ML, and evaluation</a:t>
            </a:r>
            <a:endParaRPr lang="en-US" sz="1050" dirty="0"/>
          </a:p>
        </p:txBody>
      </p:sp>
      <p:sp>
        <p:nvSpPr>
          <p:cNvPr id="9" name="Shape 7"/>
          <p:cNvSpPr/>
          <p:nvPr/>
        </p:nvSpPr>
        <p:spPr>
          <a:xfrm>
            <a:off x="3200400" y="841248"/>
            <a:ext cx="2697480" cy="1783080"/>
          </a:xfrm>
          <a:prstGeom prst="rect">
            <a:avLst/>
          </a:prstGeom>
          <a:solidFill>
            <a:srgbClr val="111C35"/>
          </a:solidFill>
          <a:ln w="19050">
            <a:solidFill>
              <a:srgbClr val="FF6B35"/>
            </a:solidFill>
            <a:prstDash val="solid"/>
          </a:ln>
        </p:spPr>
      </p:sp>
      <p:sp>
        <p:nvSpPr>
          <p:cNvPr id="10" name="Shape 8"/>
          <p:cNvSpPr/>
          <p:nvPr/>
        </p:nvSpPr>
        <p:spPr>
          <a:xfrm>
            <a:off x="3200400" y="841248"/>
            <a:ext cx="2697480" cy="457200"/>
          </a:xfrm>
          <a:prstGeom prst="rect">
            <a:avLst/>
          </a:prstGeom>
          <a:solidFill>
            <a:srgbClr val="FF6B35">
              <a:alpha val="80000"/>
            </a:srgbClr>
          </a:solidFill>
          <a:ln w="12700">
            <a:solidFill>
              <a:srgbClr val="FF6B35"/>
            </a:solidFill>
            <a:prstDash val="solid"/>
          </a:ln>
        </p:spPr>
      </p:sp>
      <p:sp>
        <p:nvSpPr>
          <p:cNvPr id="11" name="Text 9"/>
          <p:cNvSpPr/>
          <p:nvPr/>
        </p:nvSpPr>
        <p:spPr>
          <a:xfrm>
            <a:off x="3291840" y="841248"/>
            <a:ext cx="2514600" cy="457200"/>
          </a:xfrm>
          <a:prstGeom prst="rect">
            <a:avLst/>
          </a:prstGeom>
          <a:noFill/>
          <a:ln/>
        </p:spPr>
        <p:txBody>
          <a:bodyPr wrap="square" rtlCol="0" anchor="ctr"/>
          <a:lstStyle/>
          <a:p>
            <a:pPr indent="0" marL="0">
              <a:buNone/>
            </a:pPr>
            <a:r>
              <a:rPr lang="en-US" sz="1200" b="1" dirty="0">
                <a:solidFill>
                  <a:srgbClr val="0A0F1E"/>
                </a:solidFill>
                <a:latin typeface="Calibri" pitchFamily="34" charset="0"/>
                <a:ea typeface="Calibri" pitchFamily="34" charset="-122"/>
                <a:cs typeface="Calibri" pitchFamily="34" charset="-120"/>
              </a:rPr>
              <a:t>🦊  Kitsune Framework</a:t>
            </a:r>
            <a:endParaRPr lang="en-US" sz="1200" dirty="0"/>
          </a:p>
        </p:txBody>
      </p:sp>
      <p:sp>
        <p:nvSpPr>
          <p:cNvPr id="12" name="Text 10"/>
          <p:cNvSpPr/>
          <p:nvPr/>
        </p:nvSpPr>
        <p:spPr>
          <a:xfrm>
            <a:off x="3310128" y="1371600"/>
            <a:ext cx="2468880" cy="1115568"/>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kitsune-pytorch — ensemble autoencoders for network IDS</a:t>
            </a:r>
            <a:endParaRPr lang="en-US" sz="1050" dirty="0"/>
          </a:p>
        </p:txBody>
      </p:sp>
      <p:sp>
        <p:nvSpPr>
          <p:cNvPr id="13" name="Shape 11"/>
          <p:cNvSpPr/>
          <p:nvPr/>
        </p:nvSpPr>
        <p:spPr>
          <a:xfrm>
            <a:off x="6126480" y="841248"/>
            <a:ext cx="2697480" cy="1783080"/>
          </a:xfrm>
          <a:prstGeom prst="rect">
            <a:avLst/>
          </a:prstGeom>
          <a:solidFill>
            <a:srgbClr val="111C35"/>
          </a:solidFill>
          <a:ln w="19050">
            <a:solidFill>
              <a:srgbClr val="00FF9D"/>
            </a:solidFill>
            <a:prstDash val="solid"/>
          </a:ln>
        </p:spPr>
      </p:sp>
      <p:sp>
        <p:nvSpPr>
          <p:cNvPr id="14" name="Shape 12"/>
          <p:cNvSpPr/>
          <p:nvPr/>
        </p:nvSpPr>
        <p:spPr>
          <a:xfrm>
            <a:off x="6126480" y="841248"/>
            <a:ext cx="2697480" cy="457200"/>
          </a:xfrm>
          <a:prstGeom prst="rect">
            <a:avLst/>
          </a:prstGeom>
          <a:solidFill>
            <a:srgbClr val="00FF9D">
              <a:alpha val="80000"/>
            </a:srgbClr>
          </a:solidFill>
          <a:ln w="12700">
            <a:solidFill>
              <a:srgbClr val="00FF9D"/>
            </a:solidFill>
            <a:prstDash val="solid"/>
          </a:ln>
        </p:spPr>
      </p:sp>
      <p:sp>
        <p:nvSpPr>
          <p:cNvPr id="15" name="Text 13"/>
          <p:cNvSpPr/>
          <p:nvPr/>
        </p:nvSpPr>
        <p:spPr>
          <a:xfrm>
            <a:off x="6217920" y="841248"/>
            <a:ext cx="2514600" cy="457200"/>
          </a:xfrm>
          <a:prstGeom prst="rect">
            <a:avLst/>
          </a:prstGeom>
          <a:noFill/>
          <a:ln/>
        </p:spPr>
        <p:txBody>
          <a:bodyPr wrap="square" rtlCol="0" anchor="ctr"/>
          <a:lstStyle/>
          <a:p>
            <a:pPr indent="0" marL="0">
              <a:buNone/>
            </a:pPr>
            <a:r>
              <a:rPr lang="en-US" sz="1200" b="1" dirty="0">
                <a:solidFill>
                  <a:srgbClr val="0A0F1E"/>
                </a:solidFill>
                <a:latin typeface="Calibri" pitchFamily="34" charset="0"/>
                <a:ea typeface="Calibri" pitchFamily="34" charset="-122"/>
                <a:cs typeface="Calibri" pitchFamily="34" charset="-120"/>
              </a:rPr>
              <a:t>🦈  TShark</a:t>
            </a:r>
            <a:endParaRPr lang="en-US" sz="1200" dirty="0"/>
          </a:p>
        </p:txBody>
      </p:sp>
      <p:sp>
        <p:nvSpPr>
          <p:cNvPr id="16" name="Text 14"/>
          <p:cNvSpPr/>
          <p:nvPr/>
        </p:nvSpPr>
        <p:spPr>
          <a:xfrm>
            <a:off x="6236208" y="1371600"/>
            <a:ext cx="2468880" cy="1115568"/>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CLI packet analyzer for extracting 115 features from .pcapng files</a:t>
            </a:r>
            <a:endParaRPr lang="en-US" sz="1050" dirty="0"/>
          </a:p>
        </p:txBody>
      </p:sp>
      <p:sp>
        <p:nvSpPr>
          <p:cNvPr id="17" name="Shape 15"/>
          <p:cNvSpPr/>
          <p:nvPr/>
        </p:nvSpPr>
        <p:spPr>
          <a:xfrm>
            <a:off x="274320" y="2852928"/>
            <a:ext cx="2697480" cy="1783080"/>
          </a:xfrm>
          <a:prstGeom prst="rect">
            <a:avLst/>
          </a:prstGeom>
          <a:solidFill>
            <a:srgbClr val="111C35"/>
          </a:solidFill>
          <a:ln w="19050">
            <a:solidFill>
              <a:srgbClr val="AA44FF"/>
            </a:solidFill>
            <a:prstDash val="solid"/>
          </a:ln>
        </p:spPr>
      </p:sp>
      <p:sp>
        <p:nvSpPr>
          <p:cNvPr id="18" name="Shape 16"/>
          <p:cNvSpPr/>
          <p:nvPr/>
        </p:nvSpPr>
        <p:spPr>
          <a:xfrm>
            <a:off x="274320" y="2852928"/>
            <a:ext cx="2697480" cy="457200"/>
          </a:xfrm>
          <a:prstGeom prst="rect">
            <a:avLst/>
          </a:prstGeom>
          <a:solidFill>
            <a:srgbClr val="AA44FF">
              <a:alpha val="80000"/>
            </a:srgbClr>
          </a:solidFill>
          <a:ln w="12700">
            <a:solidFill>
              <a:srgbClr val="AA44FF"/>
            </a:solidFill>
            <a:prstDash val="solid"/>
          </a:ln>
        </p:spPr>
      </p:sp>
      <p:sp>
        <p:nvSpPr>
          <p:cNvPr id="19" name="Text 17"/>
          <p:cNvSpPr/>
          <p:nvPr/>
        </p:nvSpPr>
        <p:spPr>
          <a:xfrm>
            <a:off x="365760" y="2852928"/>
            <a:ext cx="2514600" cy="457200"/>
          </a:xfrm>
          <a:prstGeom prst="rect">
            <a:avLst/>
          </a:prstGeom>
          <a:noFill/>
          <a:ln/>
        </p:spPr>
        <p:txBody>
          <a:bodyPr wrap="square" rtlCol="0" anchor="ctr"/>
          <a:lstStyle/>
          <a:p>
            <a:pPr indent="0" marL="0">
              <a:buNone/>
            </a:pPr>
            <a:r>
              <a:rPr lang="en-US" sz="1200" b="1" dirty="0">
                <a:solidFill>
                  <a:srgbClr val="0A0F1E"/>
                </a:solidFill>
                <a:latin typeface="Calibri" pitchFamily="34" charset="0"/>
                <a:ea typeface="Calibri" pitchFamily="34" charset="-122"/>
                <a:cs typeface="Calibri" pitchFamily="34" charset="-120"/>
              </a:rPr>
              <a:t>📊  Pandas / NumPy</a:t>
            </a:r>
            <a:endParaRPr lang="en-US" sz="1200" dirty="0"/>
          </a:p>
        </p:txBody>
      </p:sp>
      <p:sp>
        <p:nvSpPr>
          <p:cNvPr id="20" name="Text 18"/>
          <p:cNvSpPr/>
          <p:nvPr/>
        </p:nvSpPr>
        <p:spPr>
          <a:xfrm>
            <a:off x="384048" y="3383280"/>
            <a:ext cx="2468880" cy="1115568"/>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Data manipulation, preprocessing, and numerical operations</a:t>
            </a:r>
            <a:endParaRPr lang="en-US" sz="1050" dirty="0"/>
          </a:p>
        </p:txBody>
      </p:sp>
      <p:sp>
        <p:nvSpPr>
          <p:cNvPr id="21" name="Shape 19"/>
          <p:cNvSpPr/>
          <p:nvPr/>
        </p:nvSpPr>
        <p:spPr>
          <a:xfrm>
            <a:off x="3200400" y="2852928"/>
            <a:ext cx="2697480" cy="1783080"/>
          </a:xfrm>
          <a:prstGeom prst="rect">
            <a:avLst/>
          </a:prstGeom>
          <a:solidFill>
            <a:srgbClr val="111C35"/>
          </a:solidFill>
          <a:ln w="19050">
            <a:solidFill>
              <a:srgbClr val="FF4488"/>
            </a:solidFill>
            <a:prstDash val="solid"/>
          </a:ln>
        </p:spPr>
      </p:sp>
      <p:sp>
        <p:nvSpPr>
          <p:cNvPr id="22" name="Shape 20"/>
          <p:cNvSpPr/>
          <p:nvPr/>
        </p:nvSpPr>
        <p:spPr>
          <a:xfrm>
            <a:off x="3200400" y="2852928"/>
            <a:ext cx="2697480" cy="457200"/>
          </a:xfrm>
          <a:prstGeom prst="rect">
            <a:avLst/>
          </a:prstGeom>
          <a:solidFill>
            <a:srgbClr val="FF4488">
              <a:alpha val="80000"/>
            </a:srgbClr>
          </a:solidFill>
          <a:ln w="12700">
            <a:solidFill>
              <a:srgbClr val="FF4488"/>
            </a:solidFill>
            <a:prstDash val="solid"/>
          </a:ln>
        </p:spPr>
      </p:sp>
      <p:sp>
        <p:nvSpPr>
          <p:cNvPr id="23" name="Text 21"/>
          <p:cNvSpPr/>
          <p:nvPr/>
        </p:nvSpPr>
        <p:spPr>
          <a:xfrm>
            <a:off x="3291840" y="2852928"/>
            <a:ext cx="2514600" cy="457200"/>
          </a:xfrm>
          <a:prstGeom prst="rect">
            <a:avLst/>
          </a:prstGeom>
          <a:noFill/>
          <a:ln/>
        </p:spPr>
        <p:txBody>
          <a:bodyPr wrap="square" rtlCol="0" anchor="ctr"/>
          <a:lstStyle/>
          <a:p>
            <a:pPr indent="0" marL="0">
              <a:buNone/>
            </a:pPr>
            <a:r>
              <a:rPr lang="en-US" sz="1200" b="1" dirty="0">
                <a:solidFill>
                  <a:srgbClr val="0A0F1E"/>
                </a:solidFill>
                <a:latin typeface="Calibri" pitchFamily="34" charset="0"/>
                <a:ea typeface="Calibri" pitchFamily="34" charset="-122"/>
                <a:cs typeface="Calibri" pitchFamily="34" charset="-120"/>
              </a:rPr>
              <a:t>🔧  Scikit-learn</a:t>
            </a:r>
            <a:endParaRPr lang="en-US" sz="1200" dirty="0"/>
          </a:p>
        </p:txBody>
      </p:sp>
      <p:sp>
        <p:nvSpPr>
          <p:cNvPr id="24" name="Text 22"/>
          <p:cNvSpPr/>
          <p:nvPr/>
        </p:nvSpPr>
        <p:spPr>
          <a:xfrm>
            <a:off x="3310128" y="3383280"/>
            <a:ext cx="2468880" cy="1115568"/>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MinMaxScaler normalization and evaluation metrics</a:t>
            </a:r>
            <a:endParaRPr lang="en-US" sz="1050" dirty="0"/>
          </a:p>
        </p:txBody>
      </p:sp>
      <p:sp>
        <p:nvSpPr>
          <p:cNvPr id="25" name="Shape 23"/>
          <p:cNvSpPr/>
          <p:nvPr/>
        </p:nvSpPr>
        <p:spPr>
          <a:xfrm>
            <a:off x="6126480" y="2852928"/>
            <a:ext cx="2697480" cy="1783080"/>
          </a:xfrm>
          <a:prstGeom prst="rect">
            <a:avLst/>
          </a:prstGeom>
          <a:solidFill>
            <a:srgbClr val="111C35"/>
          </a:solidFill>
          <a:ln w="19050">
            <a:solidFill>
              <a:srgbClr val="0066CC"/>
            </a:solidFill>
            <a:prstDash val="solid"/>
          </a:ln>
        </p:spPr>
      </p:sp>
      <p:sp>
        <p:nvSpPr>
          <p:cNvPr id="26" name="Shape 24"/>
          <p:cNvSpPr/>
          <p:nvPr/>
        </p:nvSpPr>
        <p:spPr>
          <a:xfrm>
            <a:off x="6126480" y="2852928"/>
            <a:ext cx="2697480" cy="457200"/>
          </a:xfrm>
          <a:prstGeom prst="rect">
            <a:avLst/>
          </a:prstGeom>
          <a:solidFill>
            <a:srgbClr val="0066CC">
              <a:alpha val="80000"/>
            </a:srgbClr>
          </a:solidFill>
          <a:ln w="12700">
            <a:solidFill>
              <a:srgbClr val="0066CC"/>
            </a:solidFill>
            <a:prstDash val="solid"/>
          </a:ln>
        </p:spPr>
      </p:sp>
      <p:sp>
        <p:nvSpPr>
          <p:cNvPr id="27" name="Text 25"/>
          <p:cNvSpPr/>
          <p:nvPr/>
        </p:nvSpPr>
        <p:spPr>
          <a:xfrm>
            <a:off x="6217920" y="2852928"/>
            <a:ext cx="2514600" cy="457200"/>
          </a:xfrm>
          <a:prstGeom prst="rect">
            <a:avLst/>
          </a:prstGeom>
          <a:noFill/>
          <a:ln/>
        </p:spPr>
        <p:txBody>
          <a:bodyPr wrap="square" rtlCol="0" anchor="ctr"/>
          <a:lstStyle/>
          <a:p>
            <a:pPr indent="0" marL="0">
              <a:buNone/>
            </a:pPr>
            <a:r>
              <a:rPr lang="en-US" sz="1200" b="1" dirty="0">
                <a:solidFill>
                  <a:srgbClr val="0A0F1E"/>
                </a:solidFill>
                <a:latin typeface="Calibri" pitchFamily="34" charset="0"/>
                <a:ea typeface="Calibri" pitchFamily="34" charset="-122"/>
                <a:cs typeface="Calibri" pitchFamily="34" charset="-120"/>
              </a:rPr>
              <a:t>☁️  Google Colab</a:t>
            </a:r>
            <a:endParaRPr lang="en-US" sz="1200" dirty="0"/>
          </a:p>
        </p:txBody>
      </p:sp>
      <p:sp>
        <p:nvSpPr>
          <p:cNvPr id="28" name="Text 26"/>
          <p:cNvSpPr/>
          <p:nvPr/>
        </p:nvSpPr>
        <p:spPr>
          <a:xfrm>
            <a:off x="6236208" y="3383280"/>
            <a:ext cx="2468880" cy="1115568"/>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Cloud-based GPU environment for training and experimentation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00FF9D"/>
          </a:solidFill>
          <a:ln w="12700">
            <a:solidFill>
              <a:srgbClr val="00FF9D"/>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CORE CONCEPTS APPLIED</a:t>
            </a:r>
            <a:endParaRPr lang="en-US" sz="2200" dirty="0"/>
          </a:p>
        </p:txBody>
      </p:sp>
      <p:sp>
        <p:nvSpPr>
          <p:cNvPr id="5" name="Shape 3"/>
          <p:cNvSpPr/>
          <p:nvPr/>
        </p:nvSpPr>
        <p:spPr>
          <a:xfrm>
            <a:off x="274320" y="841248"/>
            <a:ext cx="2697480" cy="1783080"/>
          </a:xfrm>
          <a:prstGeom prst="rect">
            <a:avLst/>
          </a:prstGeom>
          <a:solidFill>
            <a:srgbClr val="111C35"/>
          </a:solidFill>
          <a:ln w="12700">
            <a:solidFill>
              <a:srgbClr val="FF6B35"/>
            </a:solidFill>
            <a:prstDash val="solid"/>
          </a:ln>
        </p:spPr>
      </p:sp>
      <p:sp>
        <p:nvSpPr>
          <p:cNvPr id="6" name="Shape 4"/>
          <p:cNvSpPr/>
          <p:nvPr/>
        </p:nvSpPr>
        <p:spPr>
          <a:xfrm>
            <a:off x="365760" y="1024128"/>
            <a:ext cx="502920" cy="502920"/>
          </a:xfrm>
          <a:prstGeom prst="ellipse">
            <a:avLst/>
          </a:prstGeom>
          <a:solidFill>
            <a:srgbClr val="FF6B35">
              <a:alpha val="75000"/>
            </a:srgbClr>
          </a:solidFill>
          <a:ln w="12700">
            <a:solidFill>
              <a:srgbClr val="FF6B35"/>
            </a:solidFill>
            <a:prstDash val="solid"/>
          </a:ln>
        </p:spPr>
      </p:sp>
      <p:sp>
        <p:nvSpPr>
          <p:cNvPr id="7" name="Text 5"/>
          <p:cNvSpPr/>
          <p:nvPr/>
        </p:nvSpPr>
        <p:spPr>
          <a:xfrm>
            <a:off x="365760" y="1024128"/>
            <a:ext cx="502920" cy="50292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960120" y="1042416"/>
            <a:ext cx="1920240" cy="457200"/>
          </a:xfrm>
          <a:prstGeom prst="rect">
            <a:avLst/>
          </a:prstGeom>
          <a:noFill/>
          <a:ln/>
        </p:spPr>
        <p:txBody>
          <a:bodyPr wrap="square" rtlCol="0" anchor="ctr"/>
          <a:lstStyle/>
          <a:p>
            <a:pPr indent="0" marL="0">
              <a:buNone/>
            </a:pPr>
            <a:r>
              <a:rPr lang="en-US" sz="1100" b="1" dirty="0">
                <a:solidFill>
                  <a:srgbClr val="FF6B35"/>
                </a:solidFill>
                <a:latin typeface="Calibri" pitchFamily="34" charset="0"/>
                <a:ea typeface="Calibri" pitchFamily="34" charset="-122"/>
                <a:cs typeface="Calibri" pitchFamily="34" charset="-120"/>
              </a:rPr>
              <a:t>Autoencoders</a:t>
            </a:r>
            <a:endParaRPr lang="en-US" sz="1100" dirty="0"/>
          </a:p>
        </p:txBody>
      </p:sp>
      <p:sp>
        <p:nvSpPr>
          <p:cNvPr id="9" name="Text 7"/>
          <p:cNvSpPr/>
          <p:nvPr/>
        </p:nvSpPr>
        <p:spPr>
          <a:xfrm>
            <a:off x="365760" y="1618488"/>
            <a:ext cx="2487168" cy="91440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Neural networks trained to compress &amp; reconstruct input. Ensemble of autoencoders used in Kitsune.</a:t>
            </a:r>
            <a:endParaRPr lang="en-US" sz="1000" dirty="0"/>
          </a:p>
        </p:txBody>
      </p:sp>
      <p:sp>
        <p:nvSpPr>
          <p:cNvPr id="10" name="Shape 8"/>
          <p:cNvSpPr/>
          <p:nvPr/>
        </p:nvSpPr>
        <p:spPr>
          <a:xfrm>
            <a:off x="3200400" y="841248"/>
            <a:ext cx="2697480" cy="1783080"/>
          </a:xfrm>
          <a:prstGeom prst="rect">
            <a:avLst/>
          </a:prstGeom>
          <a:solidFill>
            <a:srgbClr val="111C35"/>
          </a:solidFill>
          <a:ln w="12700">
            <a:solidFill>
              <a:srgbClr val="00D4FF"/>
            </a:solidFill>
            <a:prstDash val="solid"/>
          </a:ln>
        </p:spPr>
      </p:sp>
      <p:sp>
        <p:nvSpPr>
          <p:cNvPr id="11" name="Shape 9"/>
          <p:cNvSpPr/>
          <p:nvPr/>
        </p:nvSpPr>
        <p:spPr>
          <a:xfrm>
            <a:off x="3291840" y="1024128"/>
            <a:ext cx="502920" cy="502920"/>
          </a:xfrm>
          <a:prstGeom prst="ellipse">
            <a:avLst/>
          </a:prstGeom>
          <a:solidFill>
            <a:srgbClr val="00D4FF">
              <a:alpha val="75000"/>
            </a:srgbClr>
          </a:solidFill>
          <a:ln w="12700">
            <a:solidFill>
              <a:srgbClr val="00D4FF"/>
            </a:solidFill>
            <a:prstDash val="solid"/>
          </a:ln>
        </p:spPr>
      </p:sp>
      <p:sp>
        <p:nvSpPr>
          <p:cNvPr id="12" name="Text 10"/>
          <p:cNvSpPr/>
          <p:nvPr/>
        </p:nvSpPr>
        <p:spPr>
          <a:xfrm>
            <a:off x="3291840" y="1024128"/>
            <a:ext cx="502920" cy="50292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3886200" y="1042416"/>
            <a:ext cx="1920240" cy="45720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Unsupervised Learning</a:t>
            </a:r>
            <a:endParaRPr lang="en-US" sz="1100" dirty="0"/>
          </a:p>
        </p:txBody>
      </p:sp>
      <p:sp>
        <p:nvSpPr>
          <p:cNvPr id="14" name="Text 12"/>
          <p:cNvSpPr/>
          <p:nvPr/>
        </p:nvSpPr>
        <p:spPr>
          <a:xfrm>
            <a:off x="3291840" y="1618488"/>
            <a:ext cx="2487168" cy="91440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Trained only on normal traffic. Learns patterns without attack labels.</a:t>
            </a:r>
            <a:endParaRPr lang="en-US" sz="1000" dirty="0"/>
          </a:p>
        </p:txBody>
      </p:sp>
      <p:sp>
        <p:nvSpPr>
          <p:cNvPr id="15" name="Shape 13"/>
          <p:cNvSpPr/>
          <p:nvPr/>
        </p:nvSpPr>
        <p:spPr>
          <a:xfrm>
            <a:off x="6126480" y="841248"/>
            <a:ext cx="2697480" cy="1783080"/>
          </a:xfrm>
          <a:prstGeom prst="rect">
            <a:avLst/>
          </a:prstGeom>
          <a:solidFill>
            <a:srgbClr val="111C35"/>
          </a:solidFill>
          <a:ln w="12700">
            <a:solidFill>
              <a:srgbClr val="AA44FF"/>
            </a:solidFill>
            <a:prstDash val="solid"/>
          </a:ln>
        </p:spPr>
      </p:sp>
      <p:sp>
        <p:nvSpPr>
          <p:cNvPr id="16" name="Shape 14"/>
          <p:cNvSpPr/>
          <p:nvPr/>
        </p:nvSpPr>
        <p:spPr>
          <a:xfrm>
            <a:off x="6217920" y="1024128"/>
            <a:ext cx="502920" cy="502920"/>
          </a:xfrm>
          <a:prstGeom prst="ellipse">
            <a:avLst/>
          </a:prstGeom>
          <a:solidFill>
            <a:srgbClr val="AA44FF">
              <a:alpha val="75000"/>
            </a:srgbClr>
          </a:solidFill>
          <a:ln w="12700">
            <a:solidFill>
              <a:srgbClr val="AA44FF"/>
            </a:solidFill>
            <a:prstDash val="solid"/>
          </a:ln>
        </p:spPr>
      </p:sp>
      <p:sp>
        <p:nvSpPr>
          <p:cNvPr id="17" name="Text 15"/>
          <p:cNvSpPr/>
          <p:nvPr/>
        </p:nvSpPr>
        <p:spPr>
          <a:xfrm>
            <a:off x="6217920" y="1024128"/>
            <a:ext cx="502920" cy="50292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6812280" y="1042416"/>
            <a:ext cx="1920240" cy="457200"/>
          </a:xfrm>
          <a:prstGeom prst="rect">
            <a:avLst/>
          </a:prstGeom>
          <a:noFill/>
          <a:ln/>
        </p:spPr>
        <p:txBody>
          <a:bodyPr wrap="square" rtlCol="0" anchor="ctr"/>
          <a:lstStyle/>
          <a:p>
            <a:pPr indent="0" marL="0">
              <a:buNone/>
            </a:pPr>
            <a:r>
              <a:rPr lang="en-US" sz="1100" b="1" dirty="0">
                <a:solidFill>
                  <a:srgbClr val="AA44FF"/>
                </a:solidFill>
                <a:latin typeface="Calibri" pitchFamily="34" charset="0"/>
                <a:ea typeface="Calibri" pitchFamily="34" charset="-122"/>
                <a:cs typeface="Calibri" pitchFamily="34" charset="-120"/>
              </a:rPr>
              <a:t>Feature Engineering</a:t>
            </a:r>
            <a:endParaRPr lang="en-US" sz="1100" dirty="0"/>
          </a:p>
        </p:txBody>
      </p:sp>
      <p:sp>
        <p:nvSpPr>
          <p:cNvPr id="19" name="Text 17"/>
          <p:cNvSpPr/>
          <p:nvPr/>
        </p:nvSpPr>
        <p:spPr>
          <a:xfrm>
            <a:off x="6217920" y="1618488"/>
            <a:ext cx="2487168" cy="91440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115 features per packet capturing timing, size, and protocol statistics.</a:t>
            </a:r>
            <a:endParaRPr lang="en-US" sz="1000" dirty="0"/>
          </a:p>
        </p:txBody>
      </p:sp>
      <p:sp>
        <p:nvSpPr>
          <p:cNvPr id="20" name="Shape 18"/>
          <p:cNvSpPr/>
          <p:nvPr/>
        </p:nvSpPr>
        <p:spPr>
          <a:xfrm>
            <a:off x="274320" y="2852928"/>
            <a:ext cx="2697480" cy="1783080"/>
          </a:xfrm>
          <a:prstGeom prst="rect">
            <a:avLst/>
          </a:prstGeom>
          <a:solidFill>
            <a:srgbClr val="111C35"/>
          </a:solidFill>
          <a:ln w="12700">
            <a:solidFill>
              <a:srgbClr val="00FF9D"/>
            </a:solidFill>
            <a:prstDash val="solid"/>
          </a:ln>
        </p:spPr>
      </p:sp>
      <p:sp>
        <p:nvSpPr>
          <p:cNvPr id="21" name="Shape 19"/>
          <p:cNvSpPr/>
          <p:nvPr/>
        </p:nvSpPr>
        <p:spPr>
          <a:xfrm>
            <a:off x="365760" y="3035808"/>
            <a:ext cx="502920" cy="502920"/>
          </a:xfrm>
          <a:prstGeom prst="ellipse">
            <a:avLst/>
          </a:prstGeom>
          <a:solidFill>
            <a:srgbClr val="00FF9D">
              <a:alpha val="75000"/>
            </a:srgbClr>
          </a:solidFill>
          <a:ln w="12700">
            <a:solidFill>
              <a:srgbClr val="00FF9D"/>
            </a:solidFill>
            <a:prstDash val="solid"/>
          </a:ln>
        </p:spPr>
      </p:sp>
      <p:sp>
        <p:nvSpPr>
          <p:cNvPr id="22" name="Text 20"/>
          <p:cNvSpPr/>
          <p:nvPr/>
        </p:nvSpPr>
        <p:spPr>
          <a:xfrm>
            <a:off x="365760" y="3035808"/>
            <a:ext cx="502920" cy="50292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960120" y="3054096"/>
            <a:ext cx="1920240" cy="457200"/>
          </a:xfrm>
          <a:prstGeom prst="rect">
            <a:avLst/>
          </a:prstGeom>
          <a:noFill/>
          <a:ln/>
        </p:spPr>
        <p:txBody>
          <a:bodyPr wrap="square" rtlCol="0" anchor="ctr"/>
          <a:lstStyle/>
          <a:p>
            <a:pPr indent="0" marL="0">
              <a:buNone/>
            </a:pPr>
            <a:r>
              <a:rPr lang="en-US" sz="1100" b="1" dirty="0">
                <a:solidFill>
                  <a:srgbClr val="00FF9D"/>
                </a:solidFill>
                <a:latin typeface="Calibri" pitchFamily="34" charset="0"/>
                <a:ea typeface="Calibri" pitchFamily="34" charset="-122"/>
                <a:cs typeface="Calibri" pitchFamily="34" charset="-120"/>
              </a:rPr>
              <a:t>Data Normalization</a:t>
            </a:r>
            <a:endParaRPr lang="en-US" sz="1100" dirty="0"/>
          </a:p>
        </p:txBody>
      </p:sp>
      <p:sp>
        <p:nvSpPr>
          <p:cNvPr id="24" name="Text 22"/>
          <p:cNvSpPr/>
          <p:nvPr/>
        </p:nvSpPr>
        <p:spPr>
          <a:xfrm>
            <a:off x="365760" y="3630168"/>
            <a:ext cx="2487168" cy="91440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MinMaxScaler scales all features to [0, 1] for training stability.</a:t>
            </a:r>
            <a:endParaRPr lang="en-US" sz="1000" dirty="0"/>
          </a:p>
        </p:txBody>
      </p:sp>
      <p:sp>
        <p:nvSpPr>
          <p:cNvPr id="25" name="Shape 23"/>
          <p:cNvSpPr/>
          <p:nvPr/>
        </p:nvSpPr>
        <p:spPr>
          <a:xfrm>
            <a:off x="3200400" y="2852928"/>
            <a:ext cx="2697480" cy="1783080"/>
          </a:xfrm>
          <a:prstGeom prst="rect">
            <a:avLst/>
          </a:prstGeom>
          <a:solidFill>
            <a:srgbClr val="111C35"/>
          </a:solidFill>
          <a:ln w="12700">
            <a:solidFill>
              <a:srgbClr val="FF4488"/>
            </a:solidFill>
            <a:prstDash val="solid"/>
          </a:ln>
        </p:spPr>
      </p:sp>
      <p:sp>
        <p:nvSpPr>
          <p:cNvPr id="26" name="Shape 24"/>
          <p:cNvSpPr/>
          <p:nvPr/>
        </p:nvSpPr>
        <p:spPr>
          <a:xfrm>
            <a:off x="3291840" y="3035808"/>
            <a:ext cx="502920" cy="502920"/>
          </a:xfrm>
          <a:prstGeom prst="ellipse">
            <a:avLst/>
          </a:prstGeom>
          <a:solidFill>
            <a:srgbClr val="FF4488">
              <a:alpha val="75000"/>
            </a:srgbClr>
          </a:solidFill>
          <a:ln w="12700">
            <a:solidFill>
              <a:srgbClr val="FF4488"/>
            </a:solidFill>
            <a:prstDash val="solid"/>
          </a:ln>
        </p:spPr>
      </p:sp>
      <p:sp>
        <p:nvSpPr>
          <p:cNvPr id="27" name="Text 25"/>
          <p:cNvSpPr/>
          <p:nvPr/>
        </p:nvSpPr>
        <p:spPr>
          <a:xfrm>
            <a:off x="3291840" y="3035808"/>
            <a:ext cx="502920" cy="50292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8" name="Text 26"/>
          <p:cNvSpPr/>
          <p:nvPr/>
        </p:nvSpPr>
        <p:spPr>
          <a:xfrm>
            <a:off x="3886200" y="3054096"/>
            <a:ext cx="1920240" cy="457200"/>
          </a:xfrm>
          <a:prstGeom prst="rect">
            <a:avLst/>
          </a:prstGeom>
          <a:noFill/>
          <a:ln/>
        </p:spPr>
        <p:txBody>
          <a:bodyPr wrap="square" rtlCol="0" anchor="ctr"/>
          <a:lstStyle/>
          <a:p>
            <a:pPr indent="0" marL="0">
              <a:buNone/>
            </a:pPr>
            <a:r>
              <a:rPr lang="en-US" sz="1100" b="1" dirty="0">
                <a:solidFill>
                  <a:srgbClr val="FF4488"/>
                </a:solidFill>
                <a:latin typeface="Calibri" pitchFamily="34" charset="0"/>
                <a:ea typeface="Calibri" pitchFamily="34" charset="-122"/>
                <a:cs typeface="Calibri" pitchFamily="34" charset="-120"/>
              </a:rPr>
              <a:t>Reconstruction Error</a:t>
            </a:r>
            <a:endParaRPr lang="en-US" sz="1100" dirty="0"/>
          </a:p>
        </p:txBody>
      </p:sp>
      <p:sp>
        <p:nvSpPr>
          <p:cNvPr id="29" name="Text 27"/>
          <p:cNvSpPr/>
          <p:nvPr/>
        </p:nvSpPr>
        <p:spPr>
          <a:xfrm>
            <a:off x="3291840" y="3630168"/>
            <a:ext cx="2487168" cy="91440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Anomaly score = how poorly Kitsune reconstructs a sample. High error = anomaly.</a:t>
            </a:r>
            <a:endParaRPr lang="en-US" sz="1000" dirty="0"/>
          </a:p>
        </p:txBody>
      </p:sp>
      <p:sp>
        <p:nvSpPr>
          <p:cNvPr id="30" name="Shape 28"/>
          <p:cNvSpPr/>
          <p:nvPr/>
        </p:nvSpPr>
        <p:spPr>
          <a:xfrm>
            <a:off x="6126480" y="2852928"/>
            <a:ext cx="2697480" cy="1783080"/>
          </a:xfrm>
          <a:prstGeom prst="rect">
            <a:avLst/>
          </a:prstGeom>
          <a:solidFill>
            <a:srgbClr val="111C35"/>
          </a:solidFill>
          <a:ln w="12700">
            <a:solidFill>
              <a:srgbClr val="0066CC"/>
            </a:solidFill>
            <a:prstDash val="solid"/>
          </a:ln>
        </p:spPr>
      </p:sp>
      <p:sp>
        <p:nvSpPr>
          <p:cNvPr id="31" name="Shape 29"/>
          <p:cNvSpPr/>
          <p:nvPr/>
        </p:nvSpPr>
        <p:spPr>
          <a:xfrm>
            <a:off x="6217920" y="3035808"/>
            <a:ext cx="502920" cy="502920"/>
          </a:xfrm>
          <a:prstGeom prst="ellipse">
            <a:avLst/>
          </a:prstGeom>
          <a:solidFill>
            <a:srgbClr val="0066CC">
              <a:alpha val="75000"/>
            </a:srgbClr>
          </a:solidFill>
          <a:ln w="12700">
            <a:solidFill>
              <a:srgbClr val="0066CC"/>
            </a:solidFill>
            <a:prstDash val="solid"/>
          </a:ln>
        </p:spPr>
      </p:sp>
      <p:sp>
        <p:nvSpPr>
          <p:cNvPr id="32" name="Text 30"/>
          <p:cNvSpPr/>
          <p:nvPr/>
        </p:nvSpPr>
        <p:spPr>
          <a:xfrm>
            <a:off x="6217920" y="3035808"/>
            <a:ext cx="502920" cy="50292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3" name="Text 31"/>
          <p:cNvSpPr/>
          <p:nvPr/>
        </p:nvSpPr>
        <p:spPr>
          <a:xfrm>
            <a:off x="6812280" y="3054096"/>
            <a:ext cx="1920240" cy="457200"/>
          </a:xfrm>
          <a:prstGeom prst="rect">
            <a:avLst/>
          </a:prstGeom>
          <a:noFill/>
          <a:ln/>
        </p:spPr>
        <p:txBody>
          <a:bodyPr wrap="square" rtlCol="0" anchor="ctr"/>
          <a:lstStyle/>
          <a:p>
            <a:pPr indent="0" marL="0">
              <a:buNone/>
            </a:pPr>
            <a:r>
              <a:rPr lang="en-US" sz="1100" b="1" dirty="0">
                <a:solidFill>
                  <a:srgbClr val="0066CC"/>
                </a:solidFill>
                <a:latin typeface="Calibri" pitchFamily="34" charset="0"/>
                <a:ea typeface="Calibri" pitchFamily="34" charset="-122"/>
                <a:cs typeface="Calibri" pitchFamily="34" charset="-120"/>
              </a:rPr>
              <a:t>Batch Training</a:t>
            </a:r>
            <a:endParaRPr lang="en-US" sz="1100" dirty="0"/>
          </a:p>
        </p:txBody>
      </p:sp>
      <p:sp>
        <p:nvSpPr>
          <p:cNvPr id="34" name="Text 32"/>
          <p:cNvSpPr/>
          <p:nvPr/>
        </p:nvSpPr>
        <p:spPr>
          <a:xfrm>
            <a:off x="6217920" y="3630168"/>
            <a:ext cx="2487168" cy="91440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Batch size of 32 used during training for computational efficiency.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FF6B35"/>
          </a:solidFill>
          <a:ln w="12700">
            <a:solidFill>
              <a:srgbClr val="FF6B35"/>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WHY KITSUNE WAS CHOSEN</a:t>
            </a:r>
            <a:endParaRPr lang="en-US" sz="2200" dirty="0"/>
          </a:p>
        </p:txBody>
      </p:sp>
      <p:sp>
        <p:nvSpPr>
          <p:cNvPr id="5" name="Shape 3"/>
          <p:cNvSpPr/>
          <p:nvPr/>
        </p:nvSpPr>
        <p:spPr>
          <a:xfrm>
            <a:off x="365760" y="896112"/>
            <a:ext cx="8412480" cy="658368"/>
          </a:xfrm>
          <a:prstGeom prst="rect">
            <a:avLst/>
          </a:prstGeom>
          <a:solidFill>
            <a:srgbClr val="111C35"/>
          </a:solidFill>
          <a:ln w="12700">
            <a:solidFill>
              <a:srgbClr val="00D4FF"/>
            </a:solidFill>
            <a:prstDash val="solid"/>
          </a:ln>
        </p:spPr>
      </p:sp>
      <p:sp>
        <p:nvSpPr>
          <p:cNvPr id="6" name="Shape 4"/>
          <p:cNvSpPr/>
          <p:nvPr/>
        </p:nvSpPr>
        <p:spPr>
          <a:xfrm>
            <a:off x="365760" y="896112"/>
            <a:ext cx="502920" cy="658368"/>
          </a:xfrm>
          <a:prstGeom prst="rect">
            <a:avLst/>
          </a:prstGeom>
          <a:solidFill>
            <a:srgbClr val="00D4FF">
              <a:alpha val="85000"/>
            </a:srgbClr>
          </a:solidFill>
          <a:ln w="12700">
            <a:solidFill>
              <a:srgbClr val="00D4FF"/>
            </a:solidFill>
            <a:prstDash val="solid"/>
          </a:ln>
        </p:spPr>
      </p:sp>
      <p:sp>
        <p:nvSpPr>
          <p:cNvPr id="7" name="Text 5"/>
          <p:cNvSpPr/>
          <p:nvPr/>
        </p:nvSpPr>
        <p:spPr>
          <a:xfrm>
            <a:off x="365760" y="896112"/>
            <a:ext cx="502920" cy="658368"/>
          </a:xfrm>
          <a:prstGeom prst="rect">
            <a:avLst/>
          </a:prstGeom>
          <a:noFill/>
          <a:ln/>
        </p:spPr>
        <p:txBody>
          <a:bodyPr wrap="square" rtlCol="0" anchor="ctr"/>
          <a:lstStyle/>
          <a:p>
            <a:pPr algn="ctr" indent="0" marL="0">
              <a:buNone/>
            </a:pPr>
            <a:r>
              <a:rPr lang="en-US" sz="1100" b="1" dirty="0">
                <a:solidFill>
                  <a:srgbClr val="0A0F1E"/>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960120" y="950976"/>
            <a:ext cx="2377440" cy="548640"/>
          </a:xfrm>
          <a:prstGeom prst="rect">
            <a:avLst/>
          </a:prstGeom>
          <a:noFill/>
          <a:ln/>
        </p:spPr>
        <p:txBody>
          <a:bodyPr wrap="square"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Real-Time Detection</a:t>
            </a:r>
            <a:endParaRPr lang="en-US" sz="1200" dirty="0"/>
          </a:p>
        </p:txBody>
      </p:sp>
      <p:sp>
        <p:nvSpPr>
          <p:cNvPr id="9" name="Shape 7"/>
          <p:cNvSpPr/>
          <p:nvPr/>
        </p:nvSpPr>
        <p:spPr>
          <a:xfrm>
            <a:off x="3337560" y="1060704"/>
            <a:ext cx="0" cy="329184"/>
          </a:xfrm>
          <a:prstGeom prst="line">
            <a:avLst/>
          </a:prstGeom>
          <a:noFill/>
          <a:ln w="12700">
            <a:solidFill>
              <a:srgbClr val="1A3A5C"/>
            </a:solidFill>
            <a:prstDash val="solid"/>
          </a:ln>
        </p:spPr>
      </p:sp>
      <p:sp>
        <p:nvSpPr>
          <p:cNvPr id="10" name="Text 8"/>
          <p:cNvSpPr/>
          <p:nvPr/>
        </p:nvSpPr>
        <p:spPr>
          <a:xfrm>
            <a:off x="3474720" y="950976"/>
            <a:ext cx="5120640" cy="548640"/>
          </a:xfrm>
          <a:prstGeom prst="rect">
            <a:avLst/>
          </a:prstGeom>
          <a:noFill/>
          <a:ln/>
        </p:spPr>
        <p:txBody>
          <a:bodyPr wrap="square" rtlCol="0" anchor="ctr"/>
          <a:lstStyle/>
          <a:p>
            <a:pPr indent="0" marL="0">
              <a:buNone/>
            </a:pPr>
            <a:r>
              <a:rPr lang="en-US" sz="1100" dirty="0">
                <a:solidFill>
                  <a:srgbClr val="B0D4F1"/>
                </a:solidFill>
                <a:latin typeface="Calibri" pitchFamily="34" charset="0"/>
                <a:ea typeface="Calibri" pitchFamily="34" charset="-122"/>
                <a:cs typeface="Calibri" pitchFamily="34" charset="-120"/>
              </a:rPr>
              <a:t>Processes packets in online fashion — one instance at a time, no buffering needed.</a:t>
            </a:r>
            <a:endParaRPr lang="en-US" sz="1100" dirty="0"/>
          </a:p>
        </p:txBody>
      </p:sp>
      <p:sp>
        <p:nvSpPr>
          <p:cNvPr id="11" name="Shape 9"/>
          <p:cNvSpPr/>
          <p:nvPr/>
        </p:nvSpPr>
        <p:spPr>
          <a:xfrm>
            <a:off x="365760" y="1700784"/>
            <a:ext cx="8412480" cy="658368"/>
          </a:xfrm>
          <a:prstGeom prst="rect">
            <a:avLst/>
          </a:prstGeom>
          <a:solidFill>
            <a:srgbClr val="111C35"/>
          </a:solidFill>
          <a:ln w="12700">
            <a:solidFill>
              <a:srgbClr val="FF6B35"/>
            </a:solidFill>
            <a:prstDash val="solid"/>
          </a:ln>
        </p:spPr>
      </p:sp>
      <p:sp>
        <p:nvSpPr>
          <p:cNvPr id="12" name="Shape 10"/>
          <p:cNvSpPr/>
          <p:nvPr/>
        </p:nvSpPr>
        <p:spPr>
          <a:xfrm>
            <a:off x="365760" y="1700784"/>
            <a:ext cx="502920" cy="658368"/>
          </a:xfrm>
          <a:prstGeom prst="rect">
            <a:avLst/>
          </a:prstGeom>
          <a:solidFill>
            <a:srgbClr val="FF6B35">
              <a:alpha val="85000"/>
            </a:srgbClr>
          </a:solidFill>
          <a:ln w="12700">
            <a:solidFill>
              <a:srgbClr val="FF6B35"/>
            </a:solidFill>
            <a:prstDash val="solid"/>
          </a:ln>
        </p:spPr>
      </p:sp>
      <p:sp>
        <p:nvSpPr>
          <p:cNvPr id="13" name="Text 11"/>
          <p:cNvSpPr/>
          <p:nvPr/>
        </p:nvSpPr>
        <p:spPr>
          <a:xfrm>
            <a:off x="365760" y="1700784"/>
            <a:ext cx="502920" cy="658368"/>
          </a:xfrm>
          <a:prstGeom prst="rect">
            <a:avLst/>
          </a:prstGeom>
          <a:noFill/>
          <a:ln/>
        </p:spPr>
        <p:txBody>
          <a:bodyPr wrap="square" rtlCol="0" anchor="ctr"/>
          <a:lstStyle/>
          <a:p>
            <a:pPr algn="ctr" indent="0" marL="0">
              <a:buNone/>
            </a:pPr>
            <a:r>
              <a:rPr lang="en-US" sz="1100" b="1" dirty="0">
                <a:solidFill>
                  <a:srgbClr val="0A0F1E"/>
                </a:solidFill>
                <a:latin typeface="Calibri" pitchFamily="34" charset="0"/>
                <a:ea typeface="Calibri" pitchFamily="34" charset="-122"/>
                <a:cs typeface="Calibri" pitchFamily="34" charset="-120"/>
              </a:rPr>
              <a:t>02</a:t>
            </a:r>
            <a:endParaRPr lang="en-US" sz="1100" dirty="0"/>
          </a:p>
        </p:txBody>
      </p:sp>
      <p:sp>
        <p:nvSpPr>
          <p:cNvPr id="14" name="Text 12"/>
          <p:cNvSpPr/>
          <p:nvPr/>
        </p:nvSpPr>
        <p:spPr>
          <a:xfrm>
            <a:off x="960120" y="1755648"/>
            <a:ext cx="2377440" cy="548640"/>
          </a:xfrm>
          <a:prstGeom prst="rect">
            <a:avLst/>
          </a:prstGeom>
          <a:noFill/>
          <a:ln/>
        </p:spPr>
        <p:txBody>
          <a:bodyPr wrap="square" rtlCol="0" anchor="ctr"/>
          <a:lstStyle/>
          <a:p>
            <a:pPr indent="0" marL="0">
              <a:buNone/>
            </a:pPr>
            <a:r>
              <a:rPr lang="en-US" sz="1200" b="1" dirty="0">
                <a:solidFill>
                  <a:srgbClr val="FF6B35"/>
                </a:solidFill>
                <a:latin typeface="Calibri" pitchFamily="34" charset="0"/>
                <a:ea typeface="Calibri" pitchFamily="34" charset="-122"/>
                <a:cs typeface="Calibri" pitchFamily="34" charset="-120"/>
              </a:rPr>
              <a:t>🔭  Detects Unseen Attacks</a:t>
            </a:r>
            <a:endParaRPr lang="en-US" sz="1200" dirty="0"/>
          </a:p>
        </p:txBody>
      </p:sp>
      <p:sp>
        <p:nvSpPr>
          <p:cNvPr id="15" name="Shape 13"/>
          <p:cNvSpPr/>
          <p:nvPr/>
        </p:nvSpPr>
        <p:spPr>
          <a:xfrm>
            <a:off x="3337560" y="1865376"/>
            <a:ext cx="0" cy="329184"/>
          </a:xfrm>
          <a:prstGeom prst="line">
            <a:avLst/>
          </a:prstGeom>
          <a:noFill/>
          <a:ln w="12700">
            <a:solidFill>
              <a:srgbClr val="1A3A5C"/>
            </a:solidFill>
            <a:prstDash val="solid"/>
          </a:ln>
        </p:spPr>
      </p:sp>
      <p:sp>
        <p:nvSpPr>
          <p:cNvPr id="16" name="Text 14"/>
          <p:cNvSpPr/>
          <p:nvPr/>
        </p:nvSpPr>
        <p:spPr>
          <a:xfrm>
            <a:off x="3474720" y="1755648"/>
            <a:ext cx="5120640" cy="548640"/>
          </a:xfrm>
          <a:prstGeom prst="rect">
            <a:avLst/>
          </a:prstGeom>
          <a:noFill/>
          <a:ln/>
        </p:spPr>
        <p:txBody>
          <a:bodyPr wrap="square" rtlCol="0" anchor="ctr"/>
          <a:lstStyle/>
          <a:p>
            <a:pPr indent="0" marL="0">
              <a:buNone/>
            </a:pPr>
            <a:r>
              <a:rPr lang="en-US" sz="1100" dirty="0">
                <a:solidFill>
                  <a:srgbClr val="B0D4F1"/>
                </a:solidFill>
                <a:latin typeface="Calibri" pitchFamily="34" charset="0"/>
                <a:ea typeface="Calibri" pitchFamily="34" charset="-122"/>
                <a:cs typeface="Calibri" pitchFamily="34" charset="-120"/>
              </a:rPr>
              <a:t>Identifies zero-day and novel attacks that were never seen during training.</a:t>
            </a:r>
            <a:endParaRPr lang="en-US" sz="1100" dirty="0"/>
          </a:p>
        </p:txBody>
      </p:sp>
      <p:sp>
        <p:nvSpPr>
          <p:cNvPr id="17" name="Shape 15"/>
          <p:cNvSpPr/>
          <p:nvPr/>
        </p:nvSpPr>
        <p:spPr>
          <a:xfrm>
            <a:off x="365760" y="2505456"/>
            <a:ext cx="8412480" cy="658368"/>
          </a:xfrm>
          <a:prstGeom prst="rect">
            <a:avLst/>
          </a:prstGeom>
          <a:solidFill>
            <a:srgbClr val="111C35"/>
          </a:solidFill>
          <a:ln w="12700">
            <a:solidFill>
              <a:srgbClr val="00FF9D"/>
            </a:solidFill>
            <a:prstDash val="solid"/>
          </a:ln>
        </p:spPr>
      </p:sp>
      <p:sp>
        <p:nvSpPr>
          <p:cNvPr id="18" name="Shape 16"/>
          <p:cNvSpPr/>
          <p:nvPr/>
        </p:nvSpPr>
        <p:spPr>
          <a:xfrm>
            <a:off x="365760" y="2505456"/>
            <a:ext cx="502920" cy="658368"/>
          </a:xfrm>
          <a:prstGeom prst="rect">
            <a:avLst/>
          </a:prstGeom>
          <a:solidFill>
            <a:srgbClr val="00FF9D">
              <a:alpha val="85000"/>
            </a:srgbClr>
          </a:solidFill>
          <a:ln w="12700">
            <a:solidFill>
              <a:srgbClr val="00FF9D"/>
            </a:solidFill>
            <a:prstDash val="solid"/>
          </a:ln>
        </p:spPr>
      </p:sp>
      <p:sp>
        <p:nvSpPr>
          <p:cNvPr id="19" name="Text 17"/>
          <p:cNvSpPr/>
          <p:nvPr/>
        </p:nvSpPr>
        <p:spPr>
          <a:xfrm>
            <a:off x="365760" y="2505456"/>
            <a:ext cx="502920" cy="658368"/>
          </a:xfrm>
          <a:prstGeom prst="rect">
            <a:avLst/>
          </a:prstGeom>
          <a:noFill/>
          <a:ln/>
        </p:spPr>
        <p:txBody>
          <a:bodyPr wrap="square" rtlCol="0" anchor="ctr"/>
          <a:lstStyle/>
          <a:p>
            <a:pPr algn="ctr" indent="0" marL="0">
              <a:buNone/>
            </a:pPr>
            <a:r>
              <a:rPr lang="en-US" sz="1100" b="1" dirty="0">
                <a:solidFill>
                  <a:srgbClr val="0A0F1E"/>
                </a:solidFill>
                <a:latin typeface="Calibri" pitchFamily="34" charset="0"/>
                <a:ea typeface="Calibri" pitchFamily="34" charset="-122"/>
                <a:cs typeface="Calibri" pitchFamily="34" charset="-120"/>
              </a:rPr>
              <a:t>03</a:t>
            </a:r>
            <a:endParaRPr lang="en-US" sz="1100" dirty="0"/>
          </a:p>
        </p:txBody>
      </p:sp>
      <p:sp>
        <p:nvSpPr>
          <p:cNvPr id="20" name="Text 18"/>
          <p:cNvSpPr/>
          <p:nvPr/>
        </p:nvSpPr>
        <p:spPr>
          <a:xfrm>
            <a:off x="960120" y="2560320"/>
            <a:ext cx="2377440" cy="548640"/>
          </a:xfrm>
          <a:prstGeom prst="rect">
            <a:avLst/>
          </a:prstGeom>
          <a:noFill/>
          <a:ln/>
        </p:spPr>
        <p:txBody>
          <a:bodyPr wrap="square" rtlCol="0" anchor="ctr"/>
          <a:lstStyle/>
          <a:p>
            <a:pPr indent="0" marL="0">
              <a:buNone/>
            </a:pPr>
            <a:r>
              <a:rPr lang="en-US" sz="1200" b="1" dirty="0">
                <a:solidFill>
                  <a:srgbClr val="00FF9D"/>
                </a:solidFill>
                <a:latin typeface="Calibri" pitchFamily="34" charset="0"/>
                <a:ea typeface="Calibri" pitchFamily="34" charset="-122"/>
                <a:cs typeface="Calibri" pitchFamily="34" charset="-120"/>
              </a:rPr>
              <a:t>✅  Benign-Only Training</a:t>
            </a:r>
            <a:endParaRPr lang="en-US" sz="1200" dirty="0"/>
          </a:p>
        </p:txBody>
      </p:sp>
      <p:sp>
        <p:nvSpPr>
          <p:cNvPr id="21" name="Shape 19"/>
          <p:cNvSpPr/>
          <p:nvPr/>
        </p:nvSpPr>
        <p:spPr>
          <a:xfrm>
            <a:off x="3337560" y="2670048"/>
            <a:ext cx="0" cy="329184"/>
          </a:xfrm>
          <a:prstGeom prst="line">
            <a:avLst/>
          </a:prstGeom>
          <a:noFill/>
          <a:ln w="12700">
            <a:solidFill>
              <a:srgbClr val="1A3A5C"/>
            </a:solidFill>
            <a:prstDash val="solid"/>
          </a:ln>
        </p:spPr>
      </p:sp>
      <p:sp>
        <p:nvSpPr>
          <p:cNvPr id="22" name="Text 20"/>
          <p:cNvSpPr/>
          <p:nvPr/>
        </p:nvSpPr>
        <p:spPr>
          <a:xfrm>
            <a:off x="3474720" y="2560320"/>
            <a:ext cx="5120640" cy="548640"/>
          </a:xfrm>
          <a:prstGeom prst="rect">
            <a:avLst/>
          </a:prstGeom>
          <a:noFill/>
          <a:ln/>
        </p:spPr>
        <p:txBody>
          <a:bodyPr wrap="square" rtlCol="0" anchor="ctr"/>
          <a:lstStyle/>
          <a:p>
            <a:pPr indent="0" marL="0">
              <a:buNone/>
            </a:pPr>
            <a:r>
              <a:rPr lang="en-US" sz="1100" dirty="0">
                <a:solidFill>
                  <a:srgbClr val="B0D4F1"/>
                </a:solidFill>
                <a:latin typeface="Calibri" pitchFamily="34" charset="0"/>
                <a:ea typeface="Calibri" pitchFamily="34" charset="-122"/>
                <a:cs typeface="Calibri" pitchFamily="34" charset="-120"/>
              </a:rPr>
              <a:t>Only requires normal traffic data. No labeled attack samples needed.</a:t>
            </a:r>
            <a:endParaRPr lang="en-US" sz="1100" dirty="0"/>
          </a:p>
        </p:txBody>
      </p:sp>
      <p:sp>
        <p:nvSpPr>
          <p:cNvPr id="23" name="Shape 21"/>
          <p:cNvSpPr/>
          <p:nvPr/>
        </p:nvSpPr>
        <p:spPr>
          <a:xfrm>
            <a:off x="365760" y="3310128"/>
            <a:ext cx="8412480" cy="658368"/>
          </a:xfrm>
          <a:prstGeom prst="rect">
            <a:avLst/>
          </a:prstGeom>
          <a:solidFill>
            <a:srgbClr val="111C35"/>
          </a:solidFill>
          <a:ln w="12700">
            <a:solidFill>
              <a:srgbClr val="AA44FF"/>
            </a:solidFill>
            <a:prstDash val="solid"/>
          </a:ln>
        </p:spPr>
      </p:sp>
      <p:sp>
        <p:nvSpPr>
          <p:cNvPr id="24" name="Shape 22"/>
          <p:cNvSpPr/>
          <p:nvPr/>
        </p:nvSpPr>
        <p:spPr>
          <a:xfrm>
            <a:off x="365760" y="3310128"/>
            <a:ext cx="502920" cy="658368"/>
          </a:xfrm>
          <a:prstGeom prst="rect">
            <a:avLst/>
          </a:prstGeom>
          <a:solidFill>
            <a:srgbClr val="AA44FF">
              <a:alpha val="85000"/>
            </a:srgbClr>
          </a:solidFill>
          <a:ln w="12700">
            <a:solidFill>
              <a:srgbClr val="AA44FF"/>
            </a:solidFill>
            <a:prstDash val="solid"/>
          </a:ln>
        </p:spPr>
      </p:sp>
      <p:sp>
        <p:nvSpPr>
          <p:cNvPr id="25" name="Text 23"/>
          <p:cNvSpPr/>
          <p:nvPr/>
        </p:nvSpPr>
        <p:spPr>
          <a:xfrm>
            <a:off x="365760" y="3310128"/>
            <a:ext cx="502920" cy="658368"/>
          </a:xfrm>
          <a:prstGeom prst="rect">
            <a:avLst/>
          </a:prstGeom>
          <a:noFill/>
          <a:ln/>
        </p:spPr>
        <p:txBody>
          <a:bodyPr wrap="square" rtlCol="0" anchor="ctr"/>
          <a:lstStyle/>
          <a:p>
            <a:pPr algn="ctr" indent="0" marL="0">
              <a:buNone/>
            </a:pPr>
            <a:r>
              <a:rPr lang="en-US" sz="1100" b="1" dirty="0">
                <a:solidFill>
                  <a:srgbClr val="0A0F1E"/>
                </a:solidFill>
                <a:latin typeface="Calibri" pitchFamily="34" charset="0"/>
                <a:ea typeface="Calibri" pitchFamily="34" charset="-122"/>
                <a:cs typeface="Calibri" pitchFamily="34" charset="-120"/>
              </a:rPr>
              <a:t>04</a:t>
            </a:r>
            <a:endParaRPr lang="en-US" sz="1100" dirty="0"/>
          </a:p>
        </p:txBody>
      </p:sp>
      <p:sp>
        <p:nvSpPr>
          <p:cNvPr id="26" name="Text 24"/>
          <p:cNvSpPr/>
          <p:nvPr/>
        </p:nvSpPr>
        <p:spPr>
          <a:xfrm>
            <a:off x="960120" y="3364992"/>
            <a:ext cx="2377440" cy="548640"/>
          </a:xfrm>
          <a:prstGeom prst="rect">
            <a:avLst/>
          </a:prstGeom>
          <a:noFill/>
          <a:ln/>
        </p:spPr>
        <p:txBody>
          <a:bodyPr wrap="square" rtlCol="0" anchor="ctr"/>
          <a:lstStyle/>
          <a:p>
            <a:pPr indent="0" marL="0">
              <a:buNone/>
            </a:pPr>
            <a:r>
              <a:rPr lang="en-US" sz="1200" b="1" dirty="0">
                <a:solidFill>
                  <a:srgbClr val="AA44FF"/>
                </a:solidFill>
                <a:latin typeface="Calibri" pitchFamily="34" charset="0"/>
                <a:ea typeface="Calibri" pitchFamily="34" charset="-122"/>
                <a:cs typeface="Calibri" pitchFamily="34" charset="-120"/>
              </a:rPr>
              <a:t>🚀  Lightweight &amp; Efficient</a:t>
            </a:r>
            <a:endParaRPr lang="en-US" sz="1200" dirty="0"/>
          </a:p>
        </p:txBody>
      </p:sp>
      <p:sp>
        <p:nvSpPr>
          <p:cNvPr id="27" name="Shape 25"/>
          <p:cNvSpPr/>
          <p:nvPr/>
        </p:nvSpPr>
        <p:spPr>
          <a:xfrm>
            <a:off x="3337560" y="3474720"/>
            <a:ext cx="0" cy="329184"/>
          </a:xfrm>
          <a:prstGeom prst="line">
            <a:avLst/>
          </a:prstGeom>
          <a:noFill/>
          <a:ln w="12700">
            <a:solidFill>
              <a:srgbClr val="1A3A5C"/>
            </a:solidFill>
            <a:prstDash val="solid"/>
          </a:ln>
        </p:spPr>
      </p:sp>
      <p:sp>
        <p:nvSpPr>
          <p:cNvPr id="28" name="Text 26"/>
          <p:cNvSpPr/>
          <p:nvPr/>
        </p:nvSpPr>
        <p:spPr>
          <a:xfrm>
            <a:off x="3474720" y="3364992"/>
            <a:ext cx="5120640" cy="548640"/>
          </a:xfrm>
          <a:prstGeom prst="rect">
            <a:avLst/>
          </a:prstGeom>
          <a:noFill/>
          <a:ln/>
        </p:spPr>
        <p:txBody>
          <a:bodyPr wrap="square" rtlCol="0" anchor="ctr"/>
          <a:lstStyle/>
          <a:p>
            <a:pPr indent="0" marL="0">
              <a:buNone/>
            </a:pPr>
            <a:r>
              <a:rPr lang="en-US" sz="1100" dirty="0">
                <a:solidFill>
                  <a:srgbClr val="B0D4F1"/>
                </a:solidFill>
                <a:latin typeface="Calibri" pitchFamily="34" charset="0"/>
                <a:ea typeface="Calibri" pitchFamily="34" charset="-122"/>
                <a:cs typeface="Calibri" pitchFamily="34" charset="-120"/>
              </a:rPr>
              <a:t>Far lighter than deep classifiers. Suited for resource-constrained environments.</a:t>
            </a:r>
            <a:endParaRPr lang="en-US" sz="1100" dirty="0"/>
          </a:p>
        </p:txBody>
      </p:sp>
      <p:sp>
        <p:nvSpPr>
          <p:cNvPr id="29" name="Shape 27"/>
          <p:cNvSpPr/>
          <p:nvPr/>
        </p:nvSpPr>
        <p:spPr>
          <a:xfrm>
            <a:off x="365760" y="4114800"/>
            <a:ext cx="8412480" cy="658368"/>
          </a:xfrm>
          <a:prstGeom prst="rect">
            <a:avLst/>
          </a:prstGeom>
          <a:solidFill>
            <a:srgbClr val="111C35"/>
          </a:solidFill>
          <a:ln w="12700">
            <a:solidFill>
              <a:srgbClr val="FF4488"/>
            </a:solidFill>
            <a:prstDash val="solid"/>
          </a:ln>
        </p:spPr>
      </p:sp>
      <p:sp>
        <p:nvSpPr>
          <p:cNvPr id="30" name="Shape 28"/>
          <p:cNvSpPr/>
          <p:nvPr/>
        </p:nvSpPr>
        <p:spPr>
          <a:xfrm>
            <a:off x="365760" y="4114800"/>
            <a:ext cx="502920" cy="658368"/>
          </a:xfrm>
          <a:prstGeom prst="rect">
            <a:avLst/>
          </a:prstGeom>
          <a:solidFill>
            <a:srgbClr val="FF4488">
              <a:alpha val="85000"/>
            </a:srgbClr>
          </a:solidFill>
          <a:ln w="12700">
            <a:solidFill>
              <a:srgbClr val="FF4488"/>
            </a:solidFill>
            <a:prstDash val="solid"/>
          </a:ln>
        </p:spPr>
      </p:sp>
      <p:sp>
        <p:nvSpPr>
          <p:cNvPr id="31" name="Text 29"/>
          <p:cNvSpPr/>
          <p:nvPr/>
        </p:nvSpPr>
        <p:spPr>
          <a:xfrm>
            <a:off x="365760" y="4114800"/>
            <a:ext cx="502920" cy="658368"/>
          </a:xfrm>
          <a:prstGeom prst="rect">
            <a:avLst/>
          </a:prstGeom>
          <a:noFill/>
          <a:ln/>
        </p:spPr>
        <p:txBody>
          <a:bodyPr wrap="square" rtlCol="0" anchor="ctr"/>
          <a:lstStyle/>
          <a:p>
            <a:pPr algn="ctr" indent="0" marL="0">
              <a:buNone/>
            </a:pPr>
            <a:r>
              <a:rPr lang="en-US" sz="1100" b="1" dirty="0">
                <a:solidFill>
                  <a:srgbClr val="0A0F1E"/>
                </a:solidFill>
                <a:latin typeface="Calibri" pitchFamily="34" charset="0"/>
                <a:ea typeface="Calibri" pitchFamily="34" charset="-122"/>
                <a:cs typeface="Calibri" pitchFamily="34" charset="-120"/>
              </a:rPr>
              <a:t>05</a:t>
            </a:r>
            <a:endParaRPr lang="en-US" sz="1100" dirty="0"/>
          </a:p>
        </p:txBody>
      </p:sp>
      <p:sp>
        <p:nvSpPr>
          <p:cNvPr id="32" name="Text 30"/>
          <p:cNvSpPr/>
          <p:nvPr/>
        </p:nvSpPr>
        <p:spPr>
          <a:xfrm>
            <a:off x="960120" y="4169664"/>
            <a:ext cx="2377440" cy="548640"/>
          </a:xfrm>
          <a:prstGeom prst="rect">
            <a:avLst/>
          </a:prstGeom>
          <a:noFill/>
          <a:ln/>
        </p:spPr>
        <p:txBody>
          <a:bodyPr wrap="square" rtlCol="0" anchor="ctr"/>
          <a:lstStyle/>
          <a:p>
            <a:pPr indent="0" marL="0">
              <a:buNone/>
            </a:pPr>
            <a:r>
              <a:rPr lang="en-US" sz="1200" b="1" dirty="0">
                <a:solidFill>
                  <a:srgbClr val="FF4488"/>
                </a:solidFill>
                <a:latin typeface="Calibri" pitchFamily="34" charset="0"/>
                <a:ea typeface="Calibri" pitchFamily="34" charset="-122"/>
                <a:cs typeface="Calibri" pitchFamily="34" charset="-120"/>
              </a:rPr>
              <a:t>🛡️  Cybersecurity Native</a:t>
            </a:r>
            <a:endParaRPr lang="en-US" sz="1200" dirty="0"/>
          </a:p>
        </p:txBody>
      </p:sp>
      <p:sp>
        <p:nvSpPr>
          <p:cNvPr id="33" name="Shape 31"/>
          <p:cNvSpPr/>
          <p:nvPr/>
        </p:nvSpPr>
        <p:spPr>
          <a:xfrm>
            <a:off x="3337560" y="4279392"/>
            <a:ext cx="0" cy="329184"/>
          </a:xfrm>
          <a:prstGeom prst="line">
            <a:avLst/>
          </a:prstGeom>
          <a:noFill/>
          <a:ln w="12700">
            <a:solidFill>
              <a:srgbClr val="1A3A5C"/>
            </a:solidFill>
            <a:prstDash val="solid"/>
          </a:ln>
        </p:spPr>
      </p:sp>
      <p:sp>
        <p:nvSpPr>
          <p:cNvPr id="34" name="Text 32"/>
          <p:cNvSpPr/>
          <p:nvPr/>
        </p:nvSpPr>
        <p:spPr>
          <a:xfrm>
            <a:off x="3474720" y="4169664"/>
            <a:ext cx="5120640" cy="548640"/>
          </a:xfrm>
          <a:prstGeom prst="rect">
            <a:avLst/>
          </a:prstGeom>
          <a:noFill/>
          <a:ln/>
        </p:spPr>
        <p:txBody>
          <a:bodyPr wrap="square" rtlCol="0" anchor="ctr"/>
          <a:lstStyle/>
          <a:p>
            <a:pPr indent="0" marL="0">
              <a:buNone/>
            </a:pPr>
            <a:r>
              <a:rPr lang="en-US" sz="1100" dirty="0">
                <a:solidFill>
                  <a:srgbClr val="B0D4F1"/>
                </a:solidFill>
                <a:latin typeface="Calibri" pitchFamily="34" charset="0"/>
                <a:ea typeface="Calibri" pitchFamily="34" charset="-122"/>
                <a:cs typeface="Calibri" pitchFamily="34" charset="-120"/>
              </a:rPr>
              <a:t>Designed specifically for network intrusion detection (published at NDSS 2018).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00D4FF"/>
          </a:solidFill>
          <a:ln w="12700">
            <a:solidFill>
              <a:srgbClr val="00D4FF"/>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MODEL TRAINING &amp; EVALUATION</a:t>
            </a:r>
            <a:endParaRPr lang="en-US" sz="2200" dirty="0"/>
          </a:p>
        </p:txBody>
      </p:sp>
      <p:sp>
        <p:nvSpPr>
          <p:cNvPr id="5" name="Shape 3"/>
          <p:cNvSpPr/>
          <p:nvPr/>
        </p:nvSpPr>
        <p:spPr>
          <a:xfrm>
            <a:off x="274320" y="841248"/>
            <a:ext cx="3931920" cy="3931920"/>
          </a:xfrm>
          <a:prstGeom prst="rect">
            <a:avLst/>
          </a:prstGeom>
          <a:solidFill>
            <a:srgbClr val="111C35"/>
          </a:solidFill>
          <a:ln w="19050">
            <a:solidFill>
              <a:srgbClr val="00D4FF"/>
            </a:solidFill>
            <a:prstDash val="solid"/>
          </a:ln>
        </p:spPr>
      </p:sp>
      <p:sp>
        <p:nvSpPr>
          <p:cNvPr id="6" name="Shape 4"/>
          <p:cNvSpPr/>
          <p:nvPr/>
        </p:nvSpPr>
        <p:spPr>
          <a:xfrm>
            <a:off x="274320" y="841248"/>
            <a:ext cx="3931920" cy="411480"/>
          </a:xfrm>
          <a:prstGeom prst="rect">
            <a:avLst/>
          </a:prstGeom>
          <a:solidFill>
            <a:srgbClr val="001840"/>
          </a:solidFill>
          <a:ln w="12700">
            <a:solidFill>
              <a:srgbClr val="00D4FF"/>
            </a:solidFill>
            <a:prstDash val="solid"/>
          </a:ln>
        </p:spPr>
      </p:sp>
      <p:sp>
        <p:nvSpPr>
          <p:cNvPr id="7" name="Text 5"/>
          <p:cNvSpPr/>
          <p:nvPr/>
        </p:nvSpPr>
        <p:spPr>
          <a:xfrm>
            <a:off x="411480" y="868680"/>
            <a:ext cx="3657600" cy="347472"/>
          </a:xfrm>
          <a:prstGeom prst="rect">
            <a:avLst/>
          </a:prstGeom>
          <a:noFill/>
          <a:ln/>
        </p:spPr>
        <p:txBody>
          <a:bodyPr wrap="square"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  Training Phase</a:t>
            </a:r>
            <a:endParaRPr lang="en-US" sz="1300" dirty="0"/>
          </a:p>
        </p:txBody>
      </p:sp>
      <p:sp>
        <p:nvSpPr>
          <p:cNvPr id="8" name="Shape 6"/>
          <p:cNvSpPr/>
          <p:nvPr/>
        </p:nvSpPr>
        <p:spPr>
          <a:xfrm>
            <a:off x="411480" y="1444752"/>
            <a:ext cx="256032" cy="256032"/>
          </a:xfrm>
          <a:prstGeom prst="ellipse">
            <a:avLst/>
          </a:prstGeom>
          <a:solidFill>
            <a:srgbClr val="00D4FF">
              <a:alpha val="80000"/>
            </a:srgbClr>
          </a:solidFill>
          <a:ln w="12700">
            <a:solidFill>
              <a:srgbClr val="00D4FF"/>
            </a:solidFill>
            <a:prstDash val="solid"/>
          </a:ln>
        </p:spPr>
      </p:sp>
      <p:sp>
        <p:nvSpPr>
          <p:cNvPr id="9" name="Text 7"/>
          <p:cNvSpPr/>
          <p:nvPr/>
        </p:nvSpPr>
        <p:spPr>
          <a:xfrm>
            <a:off x="411480" y="1444752"/>
            <a:ext cx="256032" cy="256032"/>
          </a:xfrm>
          <a:prstGeom prst="rect">
            <a:avLst/>
          </a:prstGeom>
          <a:noFill/>
          <a:ln/>
        </p:spPr>
        <p:txBody>
          <a:bodyPr wrap="square" rtlCol="0" anchor="ctr"/>
          <a:lstStyle/>
          <a:p>
            <a:pPr algn="ctr" indent="0" marL="0">
              <a:buNone/>
            </a:pPr>
            <a:r>
              <a:rPr lang="en-US" sz="850" b="1" dirty="0">
                <a:solidFill>
                  <a:srgbClr val="00D4FF"/>
                </a:solidFill>
                <a:latin typeface="Calibri" pitchFamily="34" charset="0"/>
                <a:ea typeface="Calibri" pitchFamily="34" charset="-122"/>
                <a:cs typeface="Calibri" pitchFamily="34" charset="-120"/>
              </a:rPr>
              <a:t>1</a:t>
            </a:r>
            <a:endParaRPr lang="en-US" sz="850" dirty="0"/>
          </a:p>
        </p:txBody>
      </p:sp>
      <p:sp>
        <p:nvSpPr>
          <p:cNvPr id="10" name="Text 8"/>
          <p:cNvSpPr/>
          <p:nvPr/>
        </p:nvSpPr>
        <p:spPr>
          <a:xfrm>
            <a:off x="749808" y="1371600"/>
            <a:ext cx="3291840" cy="45720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Select benign-only traffic samples from dataset</a:t>
            </a:r>
            <a:endParaRPr lang="en-US" sz="1000" dirty="0"/>
          </a:p>
        </p:txBody>
      </p:sp>
      <p:sp>
        <p:nvSpPr>
          <p:cNvPr id="11" name="Shape 9"/>
          <p:cNvSpPr/>
          <p:nvPr/>
        </p:nvSpPr>
        <p:spPr>
          <a:xfrm>
            <a:off x="411480" y="2066544"/>
            <a:ext cx="256032" cy="256032"/>
          </a:xfrm>
          <a:prstGeom prst="ellipse">
            <a:avLst/>
          </a:prstGeom>
          <a:solidFill>
            <a:srgbClr val="00D4FF">
              <a:alpha val="80000"/>
            </a:srgbClr>
          </a:solidFill>
          <a:ln w="12700">
            <a:solidFill>
              <a:srgbClr val="00D4FF"/>
            </a:solidFill>
            <a:prstDash val="solid"/>
          </a:ln>
        </p:spPr>
      </p:sp>
      <p:sp>
        <p:nvSpPr>
          <p:cNvPr id="12" name="Text 10"/>
          <p:cNvSpPr/>
          <p:nvPr/>
        </p:nvSpPr>
        <p:spPr>
          <a:xfrm>
            <a:off x="411480" y="2066544"/>
            <a:ext cx="256032" cy="256032"/>
          </a:xfrm>
          <a:prstGeom prst="rect">
            <a:avLst/>
          </a:prstGeom>
          <a:noFill/>
          <a:ln/>
        </p:spPr>
        <p:txBody>
          <a:bodyPr wrap="square" rtlCol="0" anchor="ctr"/>
          <a:lstStyle/>
          <a:p>
            <a:pPr algn="ctr" indent="0" marL="0">
              <a:buNone/>
            </a:pPr>
            <a:r>
              <a:rPr lang="en-US" sz="850" b="1" dirty="0">
                <a:solidFill>
                  <a:srgbClr val="00D4FF"/>
                </a:solidFill>
                <a:latin typeface="Calibri" pitchFamily="34" charset="0"/>
                <a:ea typeface="Calibri" pitchFamily="34" charset="-122"/>
                <a:cs typeface="Calibri" pitchFamily="34" charset="-120"/>
              </a:rPr>
              <a:t>2</a:t>
            </a:r>
            <a:endParaRPr lang="en-US" sz="850" dirty="0"/>
          </a:p>
        </p:txBody>
      </p:sp>
      <p:sp>
        <p:nvSpPr>
          <p:cNvPr id="13" name="Text 11"/>
          <p:cNvSpPr/>
          <p:nvPr/>
        </p:nvSpPr>
        <p:spPr>
          <a:xfrm>
            <a:off x="749808" y="1993392"/>
            <a:ext cx="3291840" cy="45720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Normalize features with MinMaxScaler to [0, 1]</a:t>
            </a:r>
            <a:endParaRPr lang="en-US" sz="1000" dirty="0"/>
          </a:p>
        </p:txBody>
      </p:sp>
      <p:sp>
        <p:nvSpPr>
          <p:cNvPr id="14" name="Shape 12"/>
          <p:cNvSpPr/>
          <p:nvPr/>
        </p:nvSpPr>
        <p:spPr>
          <a:xfrm>
            <a:off x="411480" y="2688336"/>
            <a:ext cx="256032" cy="256032"/>
          </a:xfrm>
          <a:prstGeom prst="ellipse">
            <a:avLst/>
          </a:prstGeom>
          <a:solidFill>
            <a:srgbClr val="00D4FF">
              <a:alpha val="80000"/>
            </a:srgbClr>
          </a:solidFill>
          <a:ln w="12700">
            <a:solidFill>
              <a:srgbClr val="00D4FF"/>
            </a:solidFill>
            <a:prstDash val="solid"/>
          </a:ln>
        </p:spPr>
      </p:sp>
      <p:sp>
        <p:nvSpPr>
          <p:cNvPr id="15" name="Text 13"/>
          <p:cNvSpPr/>
          <p:nvPr/>
        </p:nvSpPr>
        <p:spPr>
          <a:xfrm>
            <a:off x="411480" y="2688336"/>
            <a:ext cx="256032" cy="256032"/>
          </a:xfrm>
          <a:prstGeom prst="rect">
            <a:avLst/>
          </a:prstGeom>
          <a:noFill/>
          <a:ln/>
        </p:spPr>
        <p:txBody>
          <a:bodyPr wrap="square" rtlCol="0" anchor="ctr"/>
          <a:lstStyle/>
          <a:p>
            <a:pPr algn="ctr" indent="0" marL="0">
              <a:buNone/>
            </a:pPr>
            <a:r>
              <a:rPr lang="en-US" sz="850" b="1" dirty="0">
                <a:solidFill>
                  <a:srgbClr val="00D4FF"/>
                </a:solidFill>
                <a:latin typeface="Calibri" pitchFamily="34" charset="0"/>
                <a:ea typeface="Calibri" pitchFamily="34" charset="-122"/>
                <a:cs typeface="Calibri" pitchFamily="34" charset="-120"/>
              </a:rPr>
              <a:t>3</a:t>
            </a:r>
            <a:endParaRPr lang="en-US" sz="850" dirty="0"/>
          </a:p>
        </p:txBody>
      </p:sp>
      <p:sp>
        <p:nvSpPr>
          <p:cNvPr id="16" name="Text 14"/>
          <p:cNvSpPr/>
          <p:nvPr/>
        </p:nvSpPr>
        <p:spPr>
          <a:xfrm>
            <a:off x="749808" y="2615184"/>
            <a:ext cx="3291840" cy="45720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Train Kitsune autoencoders on normal patterns</a:t>
            </a:r>
            <a:endParaRPr lang="en-US" sz="1000" dirty="0"/>
          </a:p>
        </p:txBody>
      </p:sp>
      <p:sp>
        <p:nvSpPr>
          <p:cNvPr id="17" name="Shape 15"/>
          <p:cNvSpPr/>
          <p:nvPr/>
        </p:nvSpPr>
        <p:spPr>
          <a:xfrm>
            <a:off x="411480" y="3310128"/>
            <a:ext cx="256032" cy="256032"/>
          </a:xfrm>
          <a:prstGeom prst="ellipse">
            <a:avLst/>
          </a:prstGeom>
          <a:solidFill>
            <a:srgbClr val="00D4FF">
              <a:alpha val="80000"/>
            </a:srgbClr>
          </a:solidFill>
          <a:ln w="12700">
            <a:solidFill>
              <a:srgbClr val="00D4FF"/>
            </a:solidFill>
            <a:prstDash val="solid"/>
          </a:ln>
        </p:spPr>
      </p:sp>
      <p:sp>
        <p:nvSpPr>
          <p:cNvPr id="18" name="Text 16"/>
          <p:cNvSpPr/>
          <p:nvPr/>
        </p:nvSpPr>
        <p:spPr>
          <a:xfrm>
            <a:off x="411480" y="3310128"/>
            <a:ext cx="256032" cy="256032"/>
          </a:xfrm>
          <a:prstGeom prst="rect">
            <a:avLst/>
          </a:prstGeom>
          <a:noFill/>
          <a:ln/>
        </p:spPr>
        <p:txBody>
          <a:bodyPr wrap="square" rtlCol="0" anchor="ctr"/>
          <a:lstStyle/>
          <a:p>
            <a:pPr algn="ctr" indent="0" marL="0">
              <a:buNone/>
            </a:pPr>
            <a:r>
              <a:rPr lang="en-US" sz="850" b="1" dirty="0">
                <a:solidFill>
                  <a:srgbClr val="00D4FF"/>
                </a:solidFill>
                <a:latin typeface="Calibri" pitchFamily="34" charset="0"/>
                <a:ea typeface="Calibri" pitchFamily="34" charset="-122"/>
                <a:cs typeface="Calibri" pitchFamily="34" charset="-120"/>
              </a:rPr>
              <a:t>4</a:t>
            </a:r>
            <a:endParaRPr lang="en-US" sz="850" dirty="0"/>
          </a:p>
        </p:txBody>
      </p:sp>
      <p:sp>
        <p:nvSpPr>
          <p:cNvPr id="19" name="Text 17"/>
          <p:cNvSpPr/>
          <p:nvPr/>
        </p:nvSpPr>
        <p:spPr>
          <a:xfrm>
            <a:off x="749808" y="3236976"/>
            <a:ext cx="3291840" cy="45720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Batch size: 32 for efficient gradient updates</a:t>
            </a:r>
            <a:endParaRPr lang="en-US" sz="1000" dirty="0"/>
          </a:p>
        </p:txBody>
      </p:sp>
      <p:sp>
        <p:nvSpPr>
          <p:cNvPr id="20" name="Shape 18"/>
          <p:cNvSpPr/>
          <p:nvPr/>
        </p:nvSpPr>
        <p:spPr>
          <a:xfrm>
            <a:off x="411480" y="3931920"/>
            <a:ext cx="256032" cy="256032"/>
          </a:xfrm>
          <a:prstGeom prst="ellipse">
            <a:avLst/>
          </a:prstGeom>
          <a:solidFill>
            <a:srgbClr val="00D4FF">
              <a:alpha val="80000"/>
            </a:srgbClr>
          </a:solidFill>
          <a:ln w="12700">
            <a:solidFill>
              <a:srgbClr val="00D4FF"/>
            </a:solidFill>
            <a:prstDash val="solid"/>
          </a:ln>
        </p:spPr>
      </p:sp>
      <p:sp>
        <p:nvSpPr>
          <p:cNvPr id="21" name="Text 19"/>
          <p:cNvSpPr/>
          <p:nvPr/>
        </p:nvSpPr>
        <p:spPr>
          <a:xfrm>
            <a:off x="411480" y="3931920"/>
            <a:ext cx="256032" cy="256032"/>
          </a:xfrm>
          <a:prstGeom prst="rect">
            <a:avLst/>
          </a:prstGeom>
          <a:noFill/>
          <a:ln/>
        </p:spPr>
        <p:txBody>
          <a:bodyPr wrap="square" rtlCol="0" anchor="ctr"/>
          <a:lstStyle/>
          <a:p>
            <a:pPr algn="ctr" indent="0" marL="0">
              <a:buNone/>
            </a:pPr>
            <a:r>
              <a:rPr lang="en-US" sz="850" b="1" dirty="0">
                <a:solidFill>
                  <a:srgbClr val="00D4FF"/>
                </a:solidFill>
                <a:latin typeface="Calibri" pitchFamily="34" charset="0"/>
                <a:ea typeface="Calibri" pitchFamily="34" charset="-122"/>
                <a:cs typeface="Calibri" pitchFamily="34" charset="-120"/>
              </a:rPr>
              <a:t>5</a:t>
            </a:r>
            <a:endParaRPr lang="en-US" sz="850" dirty="0"/>
          </a:p>
        </p:txBody>
      </p:sp>
      <p:sp>
        <p:nvSpPr>
          <p:cNvPr id="22" name="Text 20"/>
          <p:cNvSpPr/>
          <p:nvPr/>
        </p:nvSpPr>
        <p:spPr>
          <a:xfrm>
            <a:off x="749808" y="3858768"/>
            <a:ext cx="3291840" cy="457200"/>
          </a:xfrm>
          <a:prstGeom prst="rect">
            <a:avLst/>
          </a:prstGeom>
          <a:noFill/>
          <a:ln/>
        </p:spPr>
        <p:txBody>
          <a:bodyPr wrap="square" rtlCol="0" anchor="ctr"/>
          <a:lstStyle/>
          <a:p>
            <a:pPr indent="0" marL="0">
              <a:buNone/>
            </a:pPr>
            <a:r>
              <a:rPr lang="en-US" sz="1000" dirty="0">
                <a:solidFill>
                  <a:srgbClr val="B0D4F1"/>
                </a:solidFill>
                <a:latin typeface="Calibri" pitchFamily="34" charset="0"/>
                <a:ea typeface="Calibri" pitchFamily="34" charset="-122"/>
                <a:cs typeface="Calibri" pitchFamily="34" charset="-120"/>
              </a:rPr>
              <a:t>Model learns reconstruction of normal traffic</a:t>
            </a:r>
            <a:endParaRPr lang="en-US" sz="1000" dirty="0"/>
          </a:p>
        </p:txBody>
      </p:sp>
      <p:sp>
        <p:nvSpPr>
          <p:cNvPr id="23" name="Shape 21"/>
          <p:cNvSpPr/>
          <p:nvPr/>
        </p:nvSpPr>
        <p:spPr>
          <a:xfrm>
            <a:off x="4663440" y="841248"/>
            <a:ext cx="4206240" cy="3931920"/>
          </a:xfrm>
          <a:prstGeom prst="rect">
            <a:avLst/>
          </a:prstGeom>
          <a:solidFill>
            <a:srgbClr val="111C35"/>
          </a:solidFill>
          <a:ln w="19050">
            <a:solidFill>
              <a:srgbClr val="00FF9D"/>
            </a:solidFill>
            <a:prstDash val="solid"/>
          </a:ln>
        </p:spPr>
      </p:sp>
      <p:sp>
        <p:nvSpPr>
          <p:cNvPr id="24" name="Shape 22"/>
          <p:cNvSpPr/>
          <p:nvPr/>
        </p:nvSpPr>
        <p:spPr>
          <a:xfrm>
            <a:off x="4663440" y="841248"/>
            <a:ext cx="4206240" cy="411480"/>
          </a:xfrm>
          <a:prstGeom prst="rect">
            <a:avLst/>
          </a:prstGeom>
          <a:solidFill>
            <a:srgbClr val="001A00"/>
          </a:solidFill>
          <a:ln w="12700">
            <a:solidFill>
              <a:srgbClr val="00FF9D"/>
            </a:solidFill>
            <a:prstDash val="solid"/>
          </a:ln>
        </p:spPr>
      </p:sp>
      <p:sp>
        <p:nvSpPr>
          <p:cNvPr id="25" name="Text 23"/>
          <p:cNvSpPr/>
          <p:nvPr/>
        </p:nvSpPr>
        <p:spPr>
          <a:xfrm>
            <a:off x="4800600" y="868680"/>
            <a:ext cx="3931920" cy="347472"/>
          </a:xfrm>
          <a:prstGeom prst="rect">
            <a:avLst/>
          </a:prstGeom>
          <a:noFill/>
          <a:ln/>
        </p:spPr>
        <p:txBody>
          <a:bodyPr wrap="square"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  Evaluation Phase</a:t>
            </a:r>
            <a:endParaRPr lang="en-US" sz="1300" dirty="0"/>
          </a:p>
        </p:txBody>
      </p:sp>
      <p:sp>
        <p:nvSpPr>
          <p:cNvPr id="26" name="Shape 24"/>
          <p:cNvSpPr/>
          <p:nvPr/>
        </p:nvSpPr>
        <p:spPr>
          <a:xfrm>
            <a:off x="4754880" y="1371600"/>
            <a:ext cx="1783080" cy="713232"/>
          </a:xfrm>
          <a:prstGeom prst="rect">
            <a:avLst/>
          </a:prstGeom>
          <a:solidFill>
            <a:srgbClr val="0A1F3A"/>
          </a:solidFill>
          <a:ln w="12700">
            <a:solidFill>
              <a:srgbClr val="00D4FF"/>
            </a:solidFill>
            <a:prstDash val="solid"/>
          </a:ln>
        </p:spPr>
      </p:sp>
      <p:sp>
        <p:nvSpPr>
          <p:cNvPr id="27" name="Text 25"/>
          <p:cNvSpPr/>
          <p:nvPr/>
        </p:nvSpPr>
        <p:spPr>
          <a:xfrm>
            <a:off x="4828032" y="1508760"/>
            <a:ext cx="1645920" cy="438912"/>
          </a:xfrm>
          <a:prstGeom prst="rect">
            <a:avLst/>
          </a:prstGeom>
          <a:noFill/>
          <a:ln/>
        </p:spPr>
        <p:txBody>
          <a:bodyPr wrap="square" rtlCol="0" anchor="ctr"/>
          <a:lstStyle/>
          <a:p>
            <a:pPr algn="ctr" indent="0" marL="0">
              <a:buNone/>
            </a:pPr>
            <a:r>
              <a:rPr lang="en-US" sz="1050" b="1" dirty="0">
                <a:solidFill>
                  <a:srgbClr val="00D4FF"/>
                </a:solidFill>
                <a:latin typeface="Calibri" pitchFamily="34" charset="0"/>
                <a:ea typeface="Calibri" pitchFamily="34" charset="-122"/>
                <a:cs typeface="Calibri" pitchFamily="34" charset="-120"/>
              </a:rPr>
              <a:t>✓ Accuracy</a:t>
            </a:r>
            <a:endParaRPr lang="en-US" sz="1050" dirty="0"/>
          </a:p>
        </p:txBody>
      </p:sp>
      <p:sp>
        <p:nvSpPr>
          <p:cNvPr id="28" name="Shape 26"/>
          <p:cNvSpPr/>
          <p:nvPr/>
        </p:nvSpPr>
        <p:spPr>
          <a:xfrm>
            <a:off x="6766560" y="1371600"/>
            <a:ext cx="1783080" cy="713232"/>
          </a:xfrm>
          <a:prstGeom prst="rect">
            <a:avLst/>
          </a:prstGeom>
          <a:solidFill>
            <a:srgbClr val="0A1F3A"/>
          </a:solidFill>
          <a:ln w="12700">
            <a:solidFill>
              <a:srgbClr val="FF6B35"/>
            </a:solidFill>
            <a:prstDash val="solid"/>
          </a:ln>
        </p:spPr>
      </p:sp>
      <p:sp>
        <p:nvSpPr>
          <p:cNvPr id="29" name="Text 27"/>
          <p:cNvSpPr/>
          <p:nvPr/>
        </p:nvSpPr>
        <p:spPr>
          <a:xfrm>
            <a:off x="6839712" y="1508760"/>
            <a:ext cx="1645920" cy="438912"/>
          </a:xfrm>
          <a:prstGeom prst="rect">
            <a:avLst/>
          </a:prstGeom>
          <a:noFill/>
          <a:ln/>
        </p:spPr>
        <p:txBody>
          <a:bodyPr wrap="square" rtlCol="0" anchor="ctr"/>
          <a:lstStyle/>
          <a:p>
            <a:pPr algn="ctr" indent="0" marL="0">
              <a:buNone/>
            </a:pPr>
            <a:r>
              <a:rPr lang="en-US" sz="1050" b="1" dirty="0">
                <a:solidFill>
                  <a:srgbClr val="FF6B35"/>
                </a:solidFill>
                <a:latin typeface="Calibri" pitchFamily="34" charset="0"/>
                <a:ea typeface="Calibri" pitchFamily="34" charset="-122"/>
                <a:cs typeface="Calibri" pitchFamily="34" charset="-120"/>
              </a:rPr>
              <a:t>⚠ Attack Recall</a:t>
            </a:r>
            <a:endParaRPr lang="en-US" sz="1050" dirty="0"/>
          </a:p>
        </p:txBody>
      </p:sp>
      <p:sp>
        <p:nvSpPr>
          <p:cNvPr id="30" name="Shape 28"/>
          <p:cNvSpPr/>
          <p:nvPr/>
        </p:nvSpPr>
        <p:spPr>
          <a:xfrm>
            <a:off x="4754880" y="2331720"/>
            <a:ext cx="1783080" cy="713232"/>
          </a:xfrm>
          <a:prstGeom prst="rect">
            <a:avLst/>
          </a:prstGeom>
          <a:solidFill>
            <a:srgbClr val="0A1F3A"/>
          </a:solidFill>
          <a:ln w="12700">
            <a:solidFill>
              <a:srgbClr val="00FF9D"/>
            </a:solidFill>
            <a:prstDash val="solid"/>
          </a:ln>
        </p:spPr>
      </p:sp>
      <p:sp>
        <p:nvSpPr>
          <p:cNvPr id="31" name="Text 29"/>
          <p:cNvSpPr/>
          <p:nvPr/>
        </p:nvSpPr>
        <p:spPr>
          <a:xfrm>
            <a:off x="4828032" y="2468880"/>
            <a:ext cx="1645920" cy="438912"/>
          </a:xfrm>
          <a:prstGeom prst="rect">
            <a:avLst/>
          </a:prstGeom>
          <a:noFill/>
          <a:ln/>
        </p:spPr>
        <p:txBody>
          <a:bodyPr wrap="square" rtlCol="0" anchor="ctr"/>
          <a:lstStyle/>
          <a:p>
            <a:pPr algn="ctr" indent="0" marL="0">
              <a:buNone/>
            </a:pPr>
            <a:r>
              <a:rPr lang="en-US" sz="1050" b="1" dirty="0">
                <a:solidFill>
                  <a:srgbClr val="00FF9D"/>
                </a:solidFill>
                <a:latin typeface="Calibri" pitchFamily="34" charset="0"/>
                <a:ea typeface="Calibri" pitchFamily="34" charset="-122"/>
                <a:cs typeface="Calibri" pitchFamily="34" charset="-120"/>
              </a:rPr>
              <a:t>✓ Normal Recall</a:t>
            </a:r>
            <a:endParaRPr lang="en-US" sz="1050" dirty="0"/>
          </a:p>
        </p:txBody>
      </p:sp>
      <p:sp>
        <p:nvSpPr>
          <p:cNvPr id="32" name="Shape 30"/>
          <p:cNvSpPr/>
          <p:nvPr/>
        </p:nvSpPr>
        <p:spPr>
          <a:xfrm>
            <a:off x="6766560" y="2331720"/>
            <a:ext cx="1783080" cy="713232"/>
          </a:xfrm>
          <a:prstGeom prst="rect">
            <a:avLst/>
          </a:prstGeom>
          <a:solidFill>
            <a:srgbClr val="0A1F3A"/>
          </a:solidFill>
          <a:ln w="12700">
            <a:solidFill>
              <a:srgbClr val="AA44FF"/>
            </a:solidFill>
            <a:prstDash val="solid"/>
          </a:ln>
        </p:spPr>
      </p:sp>
      <p:sp>
        <p:nvSpPr>
          <p:cNvPr id="33" name="Text 31"/>
          <p:cNvSpPr/>
          <p:nvPr/>
        </p:nvSpPr>
        <p:spPr>
          <a:xfrm>
            <a:off x="6839712" y="2468880"/>
            <a:ext cx="1645920" cy="438912"/>
          </a:xfrm>
          <a:prstGeom prst="rect">
            <a:avLst/>
          </a:prstGeom>
          <a:noFill/>
          <a:ln/>
        </p:spPr>
        <p:txBody>
          <a:bodyPr wrap="square" rtlCol="0" anchor="ctr"/>
          <a:lstStyle/>
          <a:p>
            <a:pPr algn="ctr" indent="0" marL="0">
              <a:buNone/>
            </a:pPr>
            <a:r>
              <a:rPr lang="en-US" sz="1050" b="1" dirty="0">
                <a:solidFill>
                  <a:srgbClr val="AA44FF"/>
                </a:solidFill>
                <a:latin typeface="Calibri" pitchFamily="34" charset="0"/>
                <a:ea typeface="Calibri" pitchFamily="34" charset="-122"/>
                <a:cs typeface="Calibri" pitchFamily="34" charset="-120"/>
              </a:rPr>
              <a:t>⊞ Confusion Matrix</a:t>
            </a:r>
            <a:endParaRPr lang="en-US" sz="1050" dirty="0"/>
          </a:p>
        </p:txBody>
      </p:sp>
      <p:sp>
        <p:nvSpPr>
          <p:cNvPr id="34" name="Text 32"/>
          <p:cNvSpPr/>
          <p:nvPr/>
        </p:nvSpPr>
        <p:spPr>
          <a:xfrm>
            <a:off x="4800600" y="3364992"/>
            <a:ext cx="3931920" cy="274320"/>
          </a:xfrm>
          <a:prstGeom prst="rect">
            <a:avLst/>
          </a:prstGeom>
          <a:noFill/>
          <a:ln/>
        </p:spPr>
        <p:txBody>
          <a:bodyPr wrap="square" rtlCol="0" anchor="ctr"/>
          <a:lstStyle/>
          <a:p>
            <a:pPr indent="0" marL="0">
              <a:buNone/>
            </a:pPr>
            <a:r>
              <a:rPr lang="en-US" sz="1000" dirty="0">
                <a:solidFill>
                  <a:srgbClr val="8899AA"/>
                </a:solidFill>
                <a:latin typeface="Calibri" pitchFamily="34" charset="0"/>
                <a:ea typeface="Calibri" pitchFamily="34" charset="-122"/>
                <a:cs typeface="Calibri" pitchFamily="34" charset="-120"/>
              </a:rPr>
              <a:t>Confusion Matrix Structure:</a:t>
            </a:r>
            <a:endParaRPr lang="en-US" sz="1000" dirty="0"/>
          </a:p>
        </p:txBody>
      </p:sp>
      <p:sp>
        <p:nvSpPr>
          <p:cNvPr id="35" name="Shape 33"/>
          <p:cNvSpPr/>
          <p:nvPr/>
        </p:nvSpPr>
        <p:spPr>
          <a:xfrm>
            <a:off x="4800600" y="3639312"/>
            <a:ext cx="1691640" cy="566928"/>
          </a:xfrm>
          <a:prstGeom prst="rect">
            <a:avLst/>
          </a:prstGeom>
          <a:solidFill>
            <a:srgbClr val="001A00"/>
          </a:solidFill>
          <a:ln w="12700">
            <a:solidFill>
              <a:srgbClr val="00FF9D"/>
            </a:solidFill>
            <a:prstDash val="solid"/>
          </a:ln>
        </p:spPr>
      </p:sp>
      <p:sp>
        <p:nvSpPr>
          <p:cNvPr id="36" name="Text 34"/>
          <p:cNvSpPr/>
          <p:nvPr/>
        </p:nvSpPr>
        <p:spPr>
          <a:xfrm>
            <a:off x="4800600" y="3639312"/>
            <a:ext cx="1691640" cy="566928"/>
          </a:xfrm>
          <a:prstGeom prst="rect">
            <a:avLst/>
          </a:prstGeom>
          <a:noFill/>
          <a:ln/>
        </p:spPr>
        <p:txBody>
          <a:bodyPr wrap="square" rtlCol="0" anchor="ctr"/>
          <a:lstStyle/>
          <a:p>
            <a:pPr algn="ctr" indent="0" marL="0">
              <a:buNone/>
            </a:pPr>
            <a:r>
              <a:rPr lang="en-US" sz="950" b="1" dirty="0">
                <a:solidFill>
                  <a:srgbClr val="00FF9D"/>
                </a:solidFill>
                <a:latin typeface="Calibri" pitchFamily="34" charset="0"/>
                <a:ea typeface="Calibri" pitchFamily="34" charset="-122"/>
                <a:cs typeface="Calibri" pitchFamily="34" charset="-120"/>
              </a:rPr>
              <a:t>TP</a:t>
            </a:r>
            <a:endParaRPr lang="en-US" sz="950" dirty="0"/>
          </a:p>
          <a:p>
            <a:pPr algn="ctr" indent="0" marL="0">
              <a:buNone/>
            </a:pPr>
            <a:r>
              <a:rPr lang="en-US" sz="950" b="1" dirty="0">
                <a:solidFill>
                  <a:srgbClr val="00FF9D"/>
                </a:solidFill>
                <a:latin typeface="Calibri" pitchFamily="34" charset="0"/>
                <a:ea typeface="Calibri" pitchFamily="34" charset="-122"/>
                <a:cs typeface="Calibri" pitchFamily="34" charset="-120"/>
              </a:rPr>
              <a:t>Attack ✓</a:t>
            </a:r>
            <a:endParaRPr lang="en-US" sz="950" dirty="0"/>
          </a:p>
        </p:txBody>
      </p:sp>
      <p:sp>
        <p:nvSpPr>
          <p:cNvPr id="37" name="Shape 35"/>
          <p:cNvSpPr/>
          <p:nvPr/>
        </p:nvSpPr>
        <p:spPr>
          <a:xfrm>
            <a:off x="6583680" y="3639312"/>
            <a:ext cx="1691640" cy="566928"/>
          </a:xfrm>
          <a:prstGeom prst="rect">
            <a:avLst/>
          </a:prstGeom>
          <a:solidFill>
            <a:srgbClr val="1A1A00"/>
          </a:solidFill>
          <a:ln w="12700">
            <a:solidFill>
              <a:srgbClr val="FF6B35"/>
            </a:solidFill>
            <a:prstDash val="solid"/>
          </a:ln>
        </p:spPr>
      </p:sp>
      <p:sp>
        <p:nvSpPr>
          <p:cNvPr id="38" name="Text 36"/>
          <p:cNvSpPr/>
          <p:nvPr/>
        </p:nvSpPr>
        <p:spPr>
          <a:xfrm>
            <a:off x="6583680" y="3639312"/>
            <a:ext cx="1691640" cy="566928"/>
          </a:xfrm>
          <a:prstGeom prst="rect">
            <a:avLst/>
          </a:prstGeom>
          <a:noFill/>
          <a:ln/>
        </p:spPr>
        <p:txBody>
          <a:bodyPr wrap="square" rtlCol="0" anchor="ctr"/>
          <a:lstStyle/>
          <a:p>
            <a:pPr algn="ctr" indent="0" marL="0">
              <a:buNone/>
            </a:pPr>
            <a:r>
              <a:rPr lang="en-US" sz="950" b="1" dirty="0">
                <a:solidFill>
                  <a:srgbClr val="FF6B35"/>
                </a:solidFill>
                <a:latin typeface="Calibri" pitchFamily="34" charset="0"/>
                <a:ea typeface="Calibri" pitchFamily="34" charset="-122"/>
                <a:cs typeface="Calibri" pitchFamily="34" charset="-120"/>
              </a:rPr>
              <a:t>FP</a:t>
            </a:r>
            <a:endParaRPr lang="en-US" sz="950" dirty="0"/>
          </a:p>
          <a:p>
            <a:pPr algn="ctr" indent="0" marL="0">
              <a:buNone/>
            </a:pPr>
            <a:r>
              <a:rPr lang="en-US" sz="950" b="1" dirty="0">
                <a:solidFill>
                  <a:srgbClr val="FF6B35"/>
                </a:solidFill>
                <a:latin typeface="Calibri" pitchFamily="34" charset="0"/>
                <a:ea typeface="Calibri" pitchFamily="34" charset="-122"/>
                <a:cs typeface="Calibri" pitchFamily="34" charset="-120"/>
              </a:rPr>
              <a:t>Normal ✗</a:t>
            </a:r>
            <a:endParaRPr lang="en-US" sz="950" dirty="0"/>
          </a:p>
        </p:txBody>
      </p:sp>
      <p:sp>
        <p:nvSpPr>
          <p:cNvPr id="39" name="Shape 37"/>
          <p:cNvSpPr/>
          <p:nvPr/>
        </p:nvSpPr>
        <p:spPr>
          <a:xfrm>
            <a:off x="4800600" y="4297680"/>
            <a:ext cx="1691640" cy="566928"/>
          </a:xfrm>
          <a:prstGeom prst="rect">
            <a:avLst/>
          </a:prstGeom>
          <a:solidFill>
            <a:srgbClr val="1A1A00"/>
          </a:solidFill>
          <a:ln w="12700">
            <a:solidFill>
              <a:srgbClr val="FF6B35"/>
            </a:solidFill>
            <a:prstDash val="solid"/>
          </a:ln>
        </p:spPr>
      </p:sp>
      <p:sp>
        <p:nvSpPr>
          <p:cNvPr id="40" name="Text 38"/>
          <p:cNvSpPr/>
          <p:nvPr/>
        </p:nvSpPr>
        <p:spPr>
          <a:xfrm>
            <a:off x="4800600" y="4297680"/>
            <a:ext cx="1691640" cy="566928"/>
          </a:xfrm>
          <a:prstGeom prst="rect">
            <a:avLst/>
          </a:prstGeom>
          <a:noFill/>
          <a:ln/>
        </p:spPr>
        <p:txBody>
          <a:bodyPr wrap="square" rtlCol="0" anchor="ctr"/>
          <a:lstStyle/>
          <a:p>
            <a:pPr algn="ctr" indent="0" marL="0">
              <a:buNone/>
            </a:pPr>
            <a:r>
              <a:rPr lang="en-US" sz="950" b="1" dirty="0">
                <a:solidFill>
                  <a:srgbClr val="FF6B35"/>
                </a:solidFill>
                <a:latin typeface="Calibri" pitchFamily="34" charset="0"/>
                <a:ea typeface="Calibri" pitchFamily="34" charset="-122"/>
                <a:cs typeface="Calibri" pitchFamily="34" charset="-120"/>
              </a:rPr>
              <a:t>FN</a:t>
            </a:r>
            <a:endParaRPr lang="en-US" sz="950" dirty="0"/>
          </a:p>
          <a:p>
            <a:pPr algn="ctr" indent="0" marL="0">
              <a:buNone/>
            </a:pPr>
            <a:r>
              <a:rPr lang="en-US" sz="950" b="1" dirty="0">
                <a:solidFill>
                  <a:srgbClr val="FF6B35"/>
                </a:solidFill>
                <a:latin typeface="Calibri" pitchFamily="34" charset="0"/>
                <a:ea typeface="Calibri" pitchFamily="34" charset="-122"/>
                <a:cs typeface="Calibri" pitchFamily="34" charset="-120"/>
              </a:rPr>
              <a:t>Attack ✗</a:t>
            </a:r>
            <a:endParaRPr lang="en-US" sz="950" dirty="0"/>
          </a:p>
        </p:txBody>
      </p:sp>
      <p:sp>
        <p:nvSpPr>
          <p:cNvPr id="41" name="Shape 39"/>
          <p:cNvSpPr/>
          <p:nvPr/>
        </p:nvSpPr>
        <p:spPr>
          <a:xfrm>
            <a:off x="6583680" y="4297680"/>
            <a:ext cx="1691640" cy="566928"/>
          </a:xfrm>
          <a:prstGeom prst="rect">
            <a:avLst/>
          </a:prstGeom>
          <a:solidFill>
            <a:srgbClr val="001A00"/>
          </a:solidFill>
          <a:ln w="12700">
            <a:solidFill>
              <a:srgbClr val="00FF9D"/>
            </a:solidFill>
            <a:prstDash val="solid"/>
          </a:ln>
        </p:spPr>
      </p:sp>
      <p:sp>
        <p:nvSpPr>
          <p:cNvPr id="42" name="Text 40"/>
          <p:cNvSpPr/>
          <p:nvPr/>
        </p:nvSpPr>
        <p:spPr>
          <a:xfrm>
            <a:off x="6583680" y="4297680"/>
            <a:ext cx="1691640" cy="566928"/>
          </a:xfrm>
          <a:prstGeom prst="rect">
            <a:avLst/>
          </a:prstGeom>
          <a:noFill/>
          <a:ln/>
        </p:spPr>
        <p:txBody>
          <a:bodyPr wrap="square" rtlCol="0" anchor="ctr"/>
          <a:lstStyle/>
          <a:p>
            <a:pPr algn="ctr" indent="0" marL="0">
              <a:buNone/>
            </a:pPr>
            <a:r>
              <a:rPr lang="en-US" sz="950" b="1" dirty="0">
                <a:solidFill>
                  <a:srgbClr val="00FF9D"/>
                </a:solidFill>
                <a:latin typeface="Calibri" pitchFamily="34" charset="0"/>
                <a:ea typeface="Calibri" pitchFamily="34" charset="-122"/>
                <a:cs typeface="Calibri" pitchFamily="34" charset="-120"/>
              </a:rPr>
              <a:t>TN</a:t>
            </a:r>
            <a:endParaRPr lang="en-US" sz="950" dirty="0"/>
          </a:p>
          <a:p>
            <a:pPr algn="ctr" indent="0" marL="0">
              <a:buNone/>
            </a:pPr>
            <a:r>
              <a:rPr lang="en-US" sz="950" b="1" dirty="0">
                <a:solidFill>
                  <a:srgbClr val="00FF9D"/>
                </a:solidFill>
                <a:latin typeface="Calibri" pitchFamily="34" charset="0"/>
                <a:ea typeface="Calibri" pitchFamily="34" charset="-122"/>
                <a:cs typeface="Calibri" pitchFamily="34" charset="-120"/>
              </a:rPr>
              <a:t>Normal ✓</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FF6B35"/>
          </a:solidFill>
          <a:ln w="12700">
            <a:solidFill>
              <a:srgbClr val="FF6B35"/>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THRESHOLD ANALYSIS</a:t>
            </a:r>
            <a:endParaRPr lang="en-US" sz="2200" dirty="0"/>
          </a:p>
        </p:txBody>
      </p:sp>
      <p:graphicFrame>
        <p:nvGraphicFramePr>
          <p:cNvPr id="5" name="Chart 0" descr=""/>
          <p:cNvGraphicFramePr/>
          <p:nvPr/>
        </p:nvGraphicFramePr>
        <p:xfrm>
          <a:off x="274320" y="822960"/>
          <a:ext cx="530352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806440" y="822960"/>
            <a:ext cx="3063240" cy="3200400"/>
          </a:xfrm>
          <a:prstGeom prst="rect">
            <a:avLst/>
          </a:prstGeom>
          <a:solidFill>
            <a:srgbClr val="111C35"/>
          </a:solidFill>
          <a:ln w="12700">
            <a:solidFill>
              <a:srgbClr val="1A3A5C"/>
            </a:solidFill>
            <a:prstDash val="solid"/>
          </a:ln>
        </p:spPr>
      </p:sp>
      <p:sp>
        <p:nvSpPr>
          <p:cNvPr id="7" name="Text 4"/>
          <p:cNvSpPr/>
          <p:nvPr/>
        </p:nvSpPr>
        <p:spPr>
          <a:xfrm>
            <a:off x="5943600" y="896112"/>
            <a:ext cx="27432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Threshold Trade-off</a:t>
            </a:r>
            <a:endParaRPr lang="en-US" sz="1200" dirty="0"/>
          </a:p>
        </p:txBody>
      </p:sp>
      <p:sp>
        <p:nvSpPr>
          <p:cNvPr id="8" name="Shape 5"/>
          <p:cNvSpPr/>
          <p:nvPr/>
        </p:nvSpPr>
        <p:spPr>
          <a:xfrm>
            <a:off x="5897880" y="1298448"/>
            <a:ext cx="2834640" cy="347472"/>
          </a:xfrm>
          <a:prstGeom prst="rect">
            <a:avLst/>
          </a:prstGeom>
          <a:solidFill>
            <a:srgbClr val="0A1530"/>
          </a:solidFill>
          <a:ln w="12700">
            <a:solidFill>
              <a:srgbClr val="FF6B35"/>
            </a:solidFill>
            <a:prstDash val="solid"/>
          </a:ln>
        </p:spPr>
      </p:sp>
      <p:sp>
        <p:nvSpPr>
          <p:cNvPr id="9" name="Text 6"/>
          <p:cNvSpPr/>
          <p:nvPr/>
        </p:nvSpPr>
        <p:spPr>
          <a:xfrm>
            <a:off x="5961888" y="1298448"/>
            <a:ext cx="457200" cy="347472"/>
          </a:xfrm>
          <a:prstGeom prst="rect">
            <a:avLst/>
          </a:prstGeom>
          <a:noFill/>
          <a:ln/>
        </p:spPr>
        <p:txBody>
          <a:bodyPr wrap="square" rtlCol="0" anchor="ctr"/>
          <a:lstStyle/>
          <a:p>
            <a:pPr indent="0" marL="0">
              <a:buNone/>
            </a:pPr>
            <a:r>
              <a:rPr lang="en-US" sz="1000" b="1" dirty="0">
                <a:solidFill>
                  <a:srgbClr val="FF6B35"/>
                </a:solidFill>
                <a:latin typeface="Calibri" pitchFamily="34" charset="0"/>
                <a:ea typeface="Calibri" pitchFamily="34" charset="-122"/>
                <a:cs typeface="Calibri" pitchFamily="34" charset="-120"/>
              </a:rPr>
              <a:t>80%</a:t>
            </a:r>
            <a:endParaRPr lang="en-US" sz="1000" dirty="0"/>
          </a:p>
        </p:txBody>
      </p:sp>
      <p:sp>
        <p:nvSpPr>
          <p:cNvPr id="10" name="Text 7"/>
          <p:cNvSpPr/>
          <p:nvPr/>
        </p:nvSpPr>
        <p:spPr>
          <a:xfrm>
            <a:off x="6492240" y="1298448"/>
            <a:ext cx="2148840" cy="347472"/>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High sensitivity – many FP</a:t>
            </a:r>
            <a:endParaRPr lang="en-US" sz="950" dirty="0"/>
          </a:p>
        </p:txBody>
      </p:sp>
      <p:sp>
        <p:nvSpPr>
          <p:cNvPr id="11" name="Shape 8"/>
          <p:cNvSpPr/>
          <p:nvPr/>
        </p:nvSpPr>
        <p:spPr>
          <a:xfrm>
            <a:off x="5897880" y="1737360"/>
            <a:ext cx="2834640" cy="347472"/>
          </a:xfrm>
          <a:prstGeom prst="rect">
            <a:avLst/>
          </a:prstGeom>
          <a:solidFill>
            <a:srgbClr val="0A1530"/>
          </a:solidFill>
          <a:ln w="12700">
            <a:solidFill>
              <a:srgbClr val="00D4FF"/>
            </a:solidFill>
            <a:prstDash val="solid"/>
          </a:ln>
        </p:spPr>
      </p:sp>
      <p:sp>
        <p:nvSpPr>
          <p:cNvPr id="12" name="Text 9"/>
          <p:cNvSpPr/>
          <p:nvPr/>
        </p:nvSpPr>
        <p:spPr>
          <a:xfrm>
            <a:off x="5961888" y="1737360"/>
            <a:ext cx="457200" cy="347472"/>
          </a:xfrm>
          <a:prstGeom prst="rect">
            <a:avLst/>
          </a:prstGeom>
          <a:noFill/>
          <a:ln/>
        </p:spPr>
        <p:txBody>
          <a:bodyPr wrap="square"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85%</a:t>
            </a:r>
            <a:endParaRPr lang="en-US" sz="1000" dirty="0"/>
          </a:p>
        </p:txBody>
      </p:sp>
      <p:sp>
        <p:nvSpPr>
          <p:cNvPr id="13" name="Text 10"/>
          <p:cNvSpPr/>
          <p:nvPr/>
        </p:nvSpPr>
        <p:spPr>
          <a:xfrm>
            <a:off x="6492240" y="1737360"/>
            <a:ext cx="2148840" cy="347472"/>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Balanced detection</a:t>
            </a:r>
            <a:endParaRPr lang="en-US" sz="950" dirty="0"/>
          </a:p>
        </p:txBody>
      </p:sp>
      <p:sp>
        <p:nvSpPr>
          <p:cNvPr id="14" name="Shape 11"/>
          <p:cNvSpPr/>
          <p:nvPr/>
        </p:nvSpPr>
        <p:spPr>
          <a:xfrm>
            <a:off x="5897880" y="2176272"/>
            <a:ext cx="2834640" cy="347472"/>
          </a:xfrm>
          <a:prstGeom prst="rect">
            <a:avLst/>
          </a:prstGeom>
          <a:solidFill>
            <a:srgbClr val="0A1530"/>
          </a:solidFill>
          <a:ln w="12700">
            <a:solidFill>
              <a:srgbClr val="00FF9D"/>
            </a:solidFill>
            <a:prstDash val="solid"/>
          </a:ln>
        </p:spPr>
      </p:sp>
      <p:sp>
        <p:nvSpPr>
          <p:cNvPr id="15" name="Text 12"/>
          <p:cNvSpPr/>
          <p:nvPr/>
        </p:nvSpPr>
        <p:spPr>
          <a:xfrm>
            <a:off x="5961888" y="2176272"/>
            <a:ext cx="457200" cy="347472"/>
          </a:xfrm>
          <a:prstGeom prst="rect">
            <a:avLst/>
          </a:prstGeom>
          <a:noFill/>
          <a:ln/>
        </p:spPr>
        <p:txBody>
          <a:bodyPr wrap="square" rtlCol="0" anchor="ctr"/>
          <a:lstStyle/>
          <a:p>
            <a:pPr indent="0" marL="0">
              <a:buNone/>
            </a:pPr>
            <a:r>
              <a:rPr lang="en-US" sz="1000" b="1" dirty="0">
                <a:solidFill>
                  <a:srgbClr val="00FF9D"/>
                </a:solidFill>
                <a:latin typeface="Calibri" pitchFamily="34" charset="0"/>
                <a:ea typeface="Calibri" pitchFamily="34" charset="-122"/>
                <a:cs typeface="Calibri" pitchFamily="34" charset="-120"/>
              </a:rPr>
              <a:t>90%</a:t>
            </a:r>
            <a:endParaRPr lang="en-US" sz="1000" dirty="0"/>
          </a:p>
        </p:txBody>
      </p:sp>
      <p:sp>
        <p:nvSpPr>
          <p:cNvPr id="16" name="Text 13"/>
          <p:cNvSpPr/>
          <p:nvPr/>
        </p:nvSpPr>
        <p:spPr>
          <a:xfrm>
            <a:off x="6492240" y="2176272"/>
            <a:ext cx="2148840" cy="347472"/>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Good balance ✓</a:t>
            </a:r>
            <a:endParaRPr lang="en-US" sz="950" dirty="0"/>
          </a:p>
        </p:txBody>
      </p:sp>
      <p:sp>
        <p:nvSpPr>
          <p:cNvPr id="17" name="Shape 14"/>
          <p:cNvSpPr/>
          <p:nvPr/>
        </p:nvSpPr>
        <p:spPr>
          <a:xfrm>
            <a:off x="5897880" y="2615184"/>
            <a:ext cx="2834640" cy="347472"/>
          </a:xfrm>
          <a:prstGeom prst="rect">
            <a:avLst/>
          </a:prstGeom>
          <a:solidFill>
            <a:srgbClr val="0A1530"/>
          </a:solidFill>
          <a:ln w="12700">
            <a:solidFill>
              <a:srgbClr val="00D4FF"/>
            </a:solidFill>
            <a:prstDash val="solid"/>
          </a:ln>
        </p:spPr>
      </p:sp>
      <p:sp>
        <p:nvSpPr>
          <p:cNvPr id="18" name="Text 15"/>
          <p:cNvSpPr/>
          <p:nvPr/>
        </p:nvSpPr>
        <p:spPr>
          <a:xfrm>
            <a:off x="5961888" y="2615184"/>
            <a:ext cx="457200" cy="347472"/>
          </a:xfrm>
          <a:prstGeom prst="rect">
            <a:avLst/>
          </a:prstGeom>
          <a:noFill/>
          <a:ln/>
        </p:spPr>
        <p:txBody>
          <a:bodyPr wrap="square"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95%</a:t>
            </a:r>
            <a:endParaRPr lang="en-US" sz="1000" dirty="0"/>
          </a:p>
        </p:txBody>
      </p:sp>
      <p:sp>
        <p:nvSpPr>
          <p:cNvPr id="19" name="Text 16"/>
          <p:cNvSpPr/>
          <p:nvPr/>
        </p:nvSpPr>
        <p:spPr>
          <a:xfrm>
            <a:off x="6492240" y="2615184"/>
            <a:ext cx="2148840" cy="347472"/>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Lower false alarms</a:t>
            </a:r>
            <a:endParaRPr lang="en-US" sz="950" dirty="0"/>
          </a:p>
        </p:txBody>
      </p:sp>
      <p:sp>
        <p:nvSpPr>
          <p:cNvPr id="20" name="Shape 17"/>
          <p:cNvSpPr/>
          <p:nvPr/>
        </p:nvSpPr>
        <p:spPr>
          <a:xfrm>
            <a:off x="5897880" y="3054096"/>
            <a:ext cx="2834640" cy="347472"/>
          </a:xfrm>
          <a:prstGeom prst="rect">
            <a:avLst/>
          </a:prstGeom>
          <a:solidFill>
            <a:srgbClr val="0A1530"/>
          </a:solidFill>
          <a:ln w="12700">
            <a:solidFill>
              <a:srgbClr val="8899AA"/>
            </a:solidFill>
            <a:prstDash val="solid"/>
          </a:ln>
        </p:spPr>
      </p:sp>
      <p:sp>
        <p:nvSpPr>
          <p:cNvPr id="21" name="Text 18"/>
          <p:cNvSpPr/>
          <p:nvPr/>
        </p:nvSpPr>
        <p:spPr>
          <a:xfrm>
            <a:off x="5961888" y="3054096"/>
            <a:ext cx="457200" cy="347472"/>
          </a:xfrm>
          <a:prstGeom prst="rect">
            <a:avLst/>
          </a:prstGeom>
          <a:noFill/>
          <a:ln/>
        </p:spPr>
        <p:txBody>
          <a:bodyPr wrap="square" rtlCol="0" anchor="ctr"/>
          <a:lstStyle/>
          <a:p>
            <a:pPr indent="0" marL="0">
              <a:buNone/>
            </a:pPr>
            <a:r>
              <a:rPr lang="en-US" sz="1000" b="1" dirty="0">
                <a:solidFill>
                  <a:srgbClr val="8899AA"/>
                </a:solidFill>
                <a:latin typeface="Calibri" pitchFamily="34" charset="0"/>
                <a:ea typeface="Calibri" pitchFamily="34" charset="-122"/>
                <a:cs typeface="Calibri" pitchFamily="34" charset="-120"/>
              </a:rPr>
              <a:t>98%</a:t>
            </a:r>
            <a:endParaRPr lang="en-US" sz="1000" dirty="0"/>
          </a:p>
        </p:txBody>
      </p:sp>
      <p:sp>
        <p:nvSpPr>
          <p:cNvPr id="22" name="Text 19"/>
          <p:cNvSpPr/>
          <p:nvPr/>
        </p:nvSpPr>
        <p:spPr>
          <a:xfrm>
            <a:off x="6492240" y="3054096"/>
            <a:ext cx="2148840" cy="347472"/>
          </a:xfrm>
          <a:prstGeom prst="rect">
            <a:avLst/>
          </a:prstGeom>
          <a:noFill/>
          <a:ln/>
        </p:spPr>
        <p:txBody>
          <a:bodyPr wrap="square" rtlCol="0" anchor="ctr"/>
          <a:lstStyle/>
          <a:p>
            <a:pPr indent="0" marL="0">
              <a:buNone/>
            </a:pPr>
            <a:r>
              <a:rPr lang="en-US" sz="950" dirty="0">
                <a:solidFill>
                  <a:srgbClr val="8899AA"/>
                </a:solidFill>
                <a:latin typeface="Calibri" pitchFamily="34" charset="0"/>
                <a:ea typeface="Calibri" pitchFamily="34" charset="-122"/>
                <a:cs typeface="Calibri" pitchFamily="34" charset="-120"/>
              </a:rPr>
              <a:t>Very few FP, misses attacks</a:t>
            </a:r>
            <a:endParaRPr lang="en-US" sz="950" dirty="0"/>
          </a:p>
        </p:txBody>
      </p:sp>
      <p:sp>
        <p:nvSpPr>
          <p:cNvPr id="23" name="Shape 20"/>
          <p:cNvSpPr/>
          <p:nvPr/>
        </p:nvSpPr>
        <p:spPr>
          <a:xfrm>
            <a:off x="5897880" y="3493008"/>
            <a:ext cx="2834640" cy="347472"/>
          </a:xfrm>
          <a:prstGeom prst="rect">
            <a:avLst/>
          </a:prstGeom>
          <a:solidFill>
            <a:srgbClr val="0A1530"/>
          </a:solidFill>
          <a:ln w="12700">
            <a:solidFill>
              <a:srgbClr val="8899AA"/>
            </a:solidFill>
            <a:prstDash val="solid"/>
          </a:ln>
        </p:spPr>
      </p:sp>
      <p:sp>
        <p:nvSpPr>
          <p:cNvPr id="24" name="Text 21"/>
          <p:cNvSpPr/>
          <p:nvPr/>
        </p:nvSpPr>
        <p:spPr>
          <a:xfrm>
            <a:off x="5961888" y="3493008"/>
            <a:ext cx="457200" cy="347472"/>
          </a:xfrm>
          <a:prstGeom prst="rect">
            <a:avLst/>
          </a:prstGeom>
          <a:noFill/>
          <a:ln/>
        </p:spPr>
        <p:txBody>
          <a:bodyPr wrap="square" rtlCol="0" anchor="ctr"/>
          <a:lstStyle/>
          <a:p>
            <a:pPr indent="0" marL="0">
              <a:buNone/>
            </a:pPr>
            <a:r>
              <a:rPr lang="en-US" sz="1000" b="1" dirty="0">
                <a:solidFill>
                  <a:srgbClr val="8899AA"/>
                </a:solidFill>
                <a:latin typeface="Calibri" pitchFamily="34" charset="0"/>
                <a:ea typeface="Calibri" pitchFamily="34" charset="-122"/>
                <a:cs typeface="Calibri" pitchFamily="34" charset="-120"/>
              </a:rPr>
              <a:t>99%</a:t>
            </a:r>
            <a:endParaRPr lang="en-US" sz="1000" dirty="0"/>
          </a:p>
        </p:txBody>
      </p:sp>
      <p:sp>
        <p:nvSpPr>
          <p:cNvPr id="25" name="Text 22"/>
          <p:cNvSpPr/>
          <p:nvPr/>
        </p:nvSpPr>
        <p:spPr>
          <a:xfrm>
            <a:off x="6492240" y="3493008"/>
            <a:ext cx="2148840" cy="347472"/>
          </a:xfrm>
          <a:prstGeom prst="rect">
            <a:avLst/>
          </a:prstGeom>
          <a:noFill/>
          <a:ln/>
        </p:spPr>
        <p:txBody>
          <a:bodyPr wrap="square" rtlCol="0" anchor="ctr"/>
          <a:lstStyle/>
          <a:p>
            <a:pPr indent="0" marL="0">
              <a:buNone/>
            </a:pPr>
            <a:r>
              <a:rPr lang="en-US" sz="950" dirty="0">
                <a:solidFill>
                  <a:srgbClr val="8899AA"/>
                </a:solidFill>
                <a:latin typeface="Calibri" pitchFamily="34" charset="0"/>
                <a:ea typeface="Calibri" pitchFamily="34" charset="-122"/>
                <a:cs typeface="Calibri" pitchFamily="34" charset="-120"/>
              </a:rPr>
              <a:t>Minimal FP, low recall</a:t>
            </a:r>
            <a:endParaRPr lang="en-US" sz="950" dirty="0"/>
          </a:p>
        </p:txBody>
      </p:sp>
      <p:sp>
        <p:nvSpPr>
          <p:cNvPr id="26" name="Shape 23"/>
          <p:cNvSpPr/>
          <p:nvPr/>
        </p:nvSpPr>
        <p:spPr>
          <a:xfrm>
            <a:off x="274320" y="4206240"/>
            <a:ext cx="8595360" cy="640080"/>
          </a:xfrm>
          <a:prstGeom prst="rect">
            <a:avLst/>
          </a:prstGeom>
          <a:solidFill>
            <a:srgbClr val="0A1030"/>
          </a:solidFill>
          <a:ln w="12700">
            <a:solidFill>
              <a:srgbClr val="1A3A5C"/>
            </a:solidFill>
            <a:prstDash val="solid"/>
          </a:ln>
        </p:spPr>
      </p:sp>
      <p:sp>
        <p:nvSpPr>
          <p:cNvPr id="27" name="Text 24"/>
          <p:cNvSpPr/>
          <p:nvPr/>
        </p:nvSpPr>
        <p:spPr>
          <a:xfrm>
            <a:off x="411480" y="4270248"/>
            <a:ext cx="8321040" cy="512064"/>
          </a:xfrm>
          <a:prstGeom prst="rect">
            <a:avLst/>
          </a:prstGeom>
          <a:noFill/>
          <a:ln/>
        </p:spPr>
        <p:txBody>
          <a:bodyPr wrap="square" rtlCol="0" anchor="ctr"/>
          <a:lstStyle/>
          <a:p>
            <a:pPr algn="ctr" indent="0" marL="0">
              <a:buNone/>
            </a:pPr>
            <a:r>
              <a:rPr lang="en-US" sz="1050" dirty="0">
                <a:solidFill>
                  <a:srgbClr val="B0D4F1"/>
                </a:solidFill>
                <a:latin typeface="Calibri" pitchFamily="34" charset="0"/>
                <a:ea typeface="Calibri" pitchFamily="34" charset="-122"/>
                <a:cs typeface="Calibri" pitchFamily="34" charset="-120"/>
              </a:rPr>
              <a:t>Key Insight: Lower thresholds ↑ attack sensitivity | Higher thresholds ↓ false alarms. A balanced threshold (~90%) provides optimal performance.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00FF9D"/>
          </a:solidFill>
          <a:ln w="12700">
            <a:solidFill>
              <a:srgbClr val="00FF9D"/>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RESULTS &amp; VISUAL ANALYSIS</a:t>
            </a:r>
            <a:endParaRPr lang="en-US" sz="2200" dirty="0"/>
          </a:p>
        </p:txBody>
      </p:sp>
      <p:sp>
        <p:nvSpPr>
          <p:cNvPr id="5" name="Shape 3"/>
          <p:cNvSpPr/>
          <p:nvPr/>
        </p:nvSpPr>
        <p:spPr>
          <a:xfrm>
            <a:off x="274320" y="822960"/>
            <a:ext cx="4297680" cy="3566160"/>
          </a:xfrm>
          <a:prstGeom prst="rect">
            <a:avLst/>
          </a:prstGeom>
          <a:solidFill>
            <a:srgbClr val="111C35"/>
          </a:solidFill>
          <a:ln w="12700">
            <a:solidFill>
              <a:srgbClr val="1A3A5C"/>
            </a:solidFill>
            <a:prstDash val="solid"/>
          </a:ln>
        </p:spPr>
      </p:sp>
      <p:sp>
        <p:nvSpPr>
          <p:cNvPr id="6" name="Text 4"/>
          <p:cNvSpPr/>
          <p:nvPr/>
        </p:nvSpPr>
        <p:spPr>
          <a:xfrm>
            <a:off x="365760" y="886968"/>
            <a:ext cx="41148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Anomaly Score Distribution</a:t>
            </a:r>
            <a:endParaRPr lang="en-US" sz="1200" dirty="0"/>
          </a:p>
        </p:txBody>
      </p:sp>
      <p:sp>
        <p:nvSpPr>
          <p:cNvPr id="7" name="Shape 5"/>
          <p:cNvSpPr/>
          <p:nvPr/>
        </p:nvSpPr>
        <p:spPr>
          <a:xfrm>
            <a:off x="1348740" y="2686507"/>
            <a:ext cx="0" cy="351130"/>
          </a:xfrm>
          <a:prstGeom prst="line">
            <a:avLst/>
          </a:prstGeom>
          <a:noFill/>
          <a:ln w="19050">
            <a:solidFill>
              <a:srgbClr val="00FF9D"/>
            </a:solidFill>
            <a:prstDash val="solid"/>
          </a:ln>
        </p:spPr>
      </p:sp>
      <p:sp>
        <p:nvSpPr>
          <p:cNvPr id="8" name="Shape 6"/>
          <p:cNvSpPr/>
          <p:nvPr/>
        </p:nvSpPr>
        <p:spPr>
          <a:xfrm>
            <a:off x="1348740" y="3410712"/>
            <a:ext cx="0" cy="87782"/>
          </a:xfrm>
          <a:prstGeom prst="line">
            <a:avLst/>
          </a:prstGeom>
          <a:noFill/>
          <a:ln w="19050">
            <a:solidFill>
              <a:srgbClr val="00FF9D"/>
            </a:solidFill>
            <a:prstDash val="solid"/>
          </a:ln>
        </p:spPr>
      </p:sp>
      <p:sp>
        <p:nvSpPr>
          <p:cNvPr id="9" name="Shape 7"/>
          <p:cNvSpPr/>
          <p:nvPr/>
        </p:nvSpPr>
        <p:spPr>
          <a:xfrm>
            <a:off x="1188720" y="2686507"/>
            <a:ext cx="320040" cy="0"/>
          </a:xfrm>
          <a:prstGeom prst="line">
            <a:avLst/>
          </a:prstGeom>
          <a:noFill/>
          <a:ln w="12700">
            <a:solidFill>
              <a:srgbClr val="00FF9D"/>
            </a:solidFill>
            <a:prstDash val="solid"/>
          </a:ln>
        </p:spPr>
      </p:sp>
      <p:sp>
        <p:nvSpPr>
          <p:cNvPr id="10" name="Shape 8"/>
          <p:cNvSpPr/>
          <p:nvPr/>
        </p:nvSpPr>
        <p:spPr>
          <a:xfrm>
            <a:off x="1188720" y="3498494"/>
            <a:ext cx="320040" cy="0"/>
          </a:xfrm>
          <a:prstGeom prst="line">
            <a:avLst/>
          </a:prstGeom>
          <a:noFill/>
          <a:ln w="12700">
            <a:solidFill>
              <a:srgbClr val="00FF9D"/>
            </a:solidFill>
            <a:prstDash val="solid"/>
          </a:ln>
        </p:spPr>
      </p:sp>
      <p:sp>
        <p:nvSpPr>
          <p:cNvPr id="11" name="Shape 9"/>
          <p:cNvSpPr/>
          <p:nvPr/>
        </p:nvSpPr>
        <p:spPr>
          <a:xfrm>
            <a:off x="1097280" y="3037637"/>
            <a:ext cx="502920" cy="373075"/>
          </a:xfrm>
          <a:prstGeom prst="rect">
            <a:avLst/>
          </a:prstGeom>
          <a:solidFill>
            <a:srgbClr val="00FF9D">
              <a:alpha val="50000"/>
            </a:srgbClr>
          </a:solidFill>
          <a:ln w="19050">
            <a:solidFill>
              <a:srgbClr val="00FF9D"/>
            </a:solidFill>
            <a:prstDash val="solid"/>
          </a:ln>
        </p:spPr>
      </p:sp>
      <p:sp>
        <p:nvSpPr>
          <p:cNvPr id="12" name="Shape 10"/>
          <p:cNvSpPr/>
          <p:nvPr/>
        </p:nvSpPr>
        <p:spPr>
          <a:xfrm>
            <a:off x="1097280" y="3257093"/>
            <a:ext cx="502920" cy="0"/>
          </a:xfrm>
          <a:prstGeom prst="line">
            <a:avLst/>
          </a:prstGeom>
          <a:noFill/>
          <a:ln w="31750">
            <a:solidFill>
              <a:srgbClr val="00FF9D"/>
            </a:solidFill>
            <a:prstDash val="solid"/>
          </a:ln>
        </p:spPr>
      </p:sp>
      <p:sp>
        <p:nvSpPr>
          <p:cNvPr id="13" name="Text 11"/>
          <p:cNvSpPr/>
          <p:nvPr/>
        </p:nvSpPr>
        <p:spPr>
          <a:xfrm>
            <a:off x="1005840" y="3476549"/>
            <a:ext cx="685800" cy="320040"/>
          </a:xfrm>
          <a:prstGeom prst="rect">
            <a:avLst/>
          </a:prstGeom>
          <a:noFill/>
          <a:ln/>
        </p:spPr>
        <p:txBody>
          <a:bodyPr wrap="square" rtlCol="0" anchor="ctr"/>
          <a:lstStyle/>
          <a:p>
            <a:pPr algn="ctr" indent="0" marL="0">
              <a:buNone/>
            </a:pPr>
            <a:r>
              <a:rPr lang="en-US" sz="850" b="1" dirty="0">
                <a:solidFill>
                  <a:srgbClr val="00FF9D"/>
                </a:solidFill>
                <a:latin typeface="Calibri" pitchFamily="34" charset="0"/>
                <a:ea typeface="Calibri" pitchFamily="34" charset="-122"/>
                <a:cs typeface="Calibri" pitchFamily="34" charset="-120"/>
              </a:rPr>
              <a:t>Normal Traffic</a:t>
            </a:r>
            <a:endParaRPr lang="en-US" sz="850" dirty="0"/>
          </a:p>
        </p:txBody>
      </p:sp>
      <p:sp>
        <p:nvSpPr>
          <p:cNvPr id="14" name="Shape 12"/>
          <p:cNvSpPr/>
          <p:nvPr/>
        </p:nvSpPr>
        <p:spPr>
          <a:xfrm>
            <a:off x="2994660" y="1347826"/>
            <a:ext cx="0" cy="175565"/>
          </a:xfrm>
          <a:prstGeom prst="line">
            <a:avLst/>
          </a:prstGeom>
          <a:noFill/>
          <a:ln w="19050">
            <a:solidFill>
              <a:srgbClr val="FF6B35"/>
            </a:solidFill>
            <a:prstDash val="solid"/>
          </a:ln>
        </p:spPr>
      </p:sp>
      <p:sp>
        <p:nvSpPr>
          <p:cNvPr id="15" name="Shape 13"/>
          <p:cNvSpPr/>
          <p:nvPr/>
        </p:nvSpPr>
        <p:spPr>
          <a:xfrm>
            <a:off x="2994660" y="2159813"/>
            <a:ext cx="0" cy="373075"/>
          </a:xfrm>
          <a:prstGeom prst="line">
            <a:avLst/>
          </a:prstGeom>
          <a:noFill/>
          <a:ln w="19050">
            <a:solidFill>
              <a:srgbClr val="FF6B35"/>
            </a:solidFill>
            <a:prstDash val="solid"/>
          </a:ln>
        </p:spPr>
      </p:sp>
      <p:sp>
        <p:nvSpPr>
          <p:cNvPr id="16" name="Shape 14"/>
          <p:cNvSpPr/>
          <p:nvPr/>
        </p:nvSpPr>
        <p:spPr>
          <a:xfrm>
            <a:off x="2834640" y="1347826"/>
            <a:ext cx="320040" cy="0"/>
          </a:xfrm>
          <a:prstGeom prst="line">
            <a:avLst/>
          </a:prstGeom>
          <a:noFill/>
          <a:ln w="12700">
            <a:solidFill>
              <a:srgbClr val="FF6B35"/>
            </a:solidFill>
            <a:prstDash val="solid"/>
          </a:ln>
        </p:spPr>
      </p:sp>
      <p:sp>
        <p:nvSpPr>
          <p:cNvPr id="17" name="Shape 15"/>
          <p:cNvSpPr/>
          <p:nvPr/>
        </p:nvSpPr>
        <p:spPr>
          <a:xfrm>
            <a:off x="2834640" y="2532888"/>
            <a:ext cx="320040" cy="0"/>
          </a:xfrm>
          <a:prstGeom prst="line">
            <a:avLst/>
          </a:prstGeom>
          <a:noFill/>
          <a:ln w="12700">
            <a:solidFill>
              <a:srgbClr val="FF6B35"/>
            </a:solidFill>
            <a:prstDash val="solid"/>
          </a:ln>
        </p:spPr>
      </p:sp>
      <p:sp>
        <p:nvSpPr>
          <p:cNvPr id="18" name="Shape 16"/>
          <p:cNvSpPr/>
          <p:nvPr/>
        </p:nvSpPr>
        <p:spPr>
          <a:xfrm>
            <a:off x="2743200" y="1523390"/>
            <a:ext cx="502920" cy="636422"/>
          </a:xfrm>
          <a:prstGeom prst="rect">
            <a:avLst/>
          </a:prstGeom>
          <a:solidFill>
            <a:srgbClr val="FF6B35">
              <a:alpha val="50000"/>
            </a:srgbClr>
          </a:solidFill>
          <a:ln w="19050">
            <a:solidFill>
              <a:srgbClr val="FF6B35"/>
            </a:solidFill>
            <a:prstDash val="solid"/>
          </a:ln>
        </p:spPr>
      </p:sp>
      <p:sp>
        <p:nvSpPr>
          <p:cNvPr id="19" name="Shape 17"/>
          <p:cNvSpPr/>
          <p:nvPr/>
        </p:nvSpPr>
        <p:spPr>
          <a:xfrm>
            <a:off x="2743200" y="1808683"/>
            <a:ext cx="502920" cy="0"/>
          </a:xfrm>
          <a:prstGeom prst="line">
            <a:avLst/>
          </a:prstGeom>
          <a:noFill/>
          <a:ln w="31750">
            <a:solidFill>
              <a:srgbClr val="FF6B35"/>
            </a:solidFill>
            <a:prstDash val="solid"/>
          </a:ln>
        </p:spPr>
      </p:sp>
      <p:sp>
        <p:nvSpPr>
          <p:cNvPr id="20" name="Text 18"/>
          <p:cNvSpPr/>
          <p:nvPr/>
        </p:nvSpPr>
        <p:spPr>
          <a:xfrm>
            <a:off x="2651760" y="3476549"/>
            <a:ext cx="685800" cy="320040"/>
          </a:xfrm>
          <a:prstGeom prst="rect">
            <a:avLst/>
          </a:prstGeom>
          <a:noFill/>
          <a:ln/>
        </p:spPr>
        <p:txBody>
          <a:bodyPr wrap="square" rtlCol="0" anchor="ctr"/>
          <a:lstStyle/>
          <a:p>
            <a:pPr algn="ctr" indent="0" marL="0">
              <a:buNone/>
            </a:pPr>
            <a:r>
              <a:rPr lang="en-US" sz="850" b="1" dirty="0">
                <a:solidFill>
                  <a:srgbClr val="FF6B35"/>
                </a:solidFill>
                <a:latin typeface="Calibri" pitchFamily="34" charset="0"/>
                <a:ea typeface="Calibri" pitchFamily="34" charset="-122"/>
                <a:cs typeface="Calibri" pitchFamily="34" charset="-120"/>
              </a:rPr>
              <a:t>Attack Traffic</a:t>
            </a:r>
            <a:endParaRPr lang="en-US" sz="850" dirty="0"/>
          </a:p>
        </p:txBody>
      </p:sp>
      <p:sp>
        <p:nvSpPr>
          <p:cNvPr id="21" name="Text 19"/>
          <p:cNvSpPr/>
          <p:nvPr/>
        </p:nvSpPr>
        <p:spPr>
          <a:xfrm rot="16200000">
            <a:off x="292608" y="1828800"/>
            <a:ext cx="640080" cy="1371600"/>
          </a:xfrm>
          <a:prstGeom prst="rect">
            <a:avLst/>
          </a:prstGeom>
          <a:noFill/>
          <a:ln/>
        </p:spPr>
        <p:txBody>
          <a:bodyPr wrap="square" rtlCol="0" anchor="ctr"/>
          <a:lstStyle/>
          <a:p>
            <a:pPr indent="0" marL="0">
              <a:buNone/>
            </a:pPr>
            <a:r>
              <a:rPr lang="en-US" sz="850" dirty="0">
                <a:solidFill>
                  <a:srgbClr val="8899AA"/>
                </a:solidFill>
                <a:latin typeface="Calibri" pitchFamily="34" charset="0"/>
                <a:ea typeface="Calibri" pitchFamily="34" charset="-122"/>
                <a:cs typeface="Calibri" pitchFamily="34" charset="-120"/>
              </a:rPr>
              <a:t>Anomaly Score</a:t>
            </a:r>
            <a:endParaRPr lang="en-US" sz="850" dirty="0"/>
          </a:p>
        </p:txBody>
      </p:sp>
      <p:sp>
        <p:nvSpPr>
          <p:cNvPr id="22" name="Shape 20"/>
          <p:cNvSpPr/>
          <p:nvPr/>
        </p:nvSpPr>
        <p:spPr>
          <a:xfrm>
            <a:off x="1828800" y="2395728"/>
            <a:ext cx="777240" cy="228600"/>
          </a:xfrm>
          <a:prstGeom prst="rect">
            <a:avLst/>
          </a:prstGeom>
          <a:solidFill>
            <a:srgbClr val="1A0030"/>
          </a:solidFill>
          <a:ln w="12700">
            <a:solidFill>
              <a:srgbClr val="AA44FF"/>
            </a:solidFill>
            <a:prstDash val="solid"/>
          </a:ln>
        </p:spPr>
      </p:sp>
      <p:sp>
        <p:nvSpPr>
          <p:cNvPr id="23" name="Text 21"/>
          <p:cNvSpPr/>
          <p:nvPr/>
        </p:nvSpPr>
        <p:spPr>
          <a:xfrm>
            <a:off x="1828800" y="2395728"/>
            <a:ext cx="777240" cy="228600"/>
          </a:xfrm>
          <a:prstGeom prst="rect">
            <a:avLst/>
          </a:prstGeom>
          <a:noFill/>
          <a:ln/>
        </p:spPr>
        <p:txBody>
          <a:bodyPr wrap="square" rtlCol="0" anchor="ctr"/>
          <a:lstStyle/>
          <a:p>
            <a:pPr algn="ctr" indent="0" marL="0">
              <a:buNone/>
            </a:pPr>
            <a:r>
              <a:rPr lang="en-US" sz="600" b="1" dirty="0">
                <a:solidFill>
                  <a:srgbClr val="AA44FF"/>
                </a:solidFill>
                <a:latin typeface="Calibri" pitchFamily="34" charset="0"/>
                <a:ea typeface="Calibri" pitchFamily="34" charset="-122"/>
                <a:cs typeface="Calibri" pitchFamily="34" charset="-120"/>
              </a:rPr>
              <a:t>CLEAR</a:t>
            </a:r>
            <a:endParaRPr lang="en-US" sz="600" dirty="0"/>
          </a:p>
          <a:p>
            <a:pPr algn="ctr" indent="0" marL="0">
              <a:buNone/>
            </a:pPr>
            <a:r>
              <a:rPr lang="en-US" sz="600" b="1" dirty="0">
                <a:solidFill>
                  <a:srgbClr val="AA44FF"/>
                </a:solidFill>
                <a:latin typeface="Calibri" pitchFamily="34" charset="0"/>
                <a:ea typeface="Calibri" pitchFamily="34" charset="-122"/>
                <a:cs typeface="Calibri" pitchFamily="34" charset="-120"/>
              </a:rPr>
              <a:t>SEPARATION</a:t>
            </a:r>
            <a:endParaRPr lang="en-US" sz="600" dirty="0"/>
          </a:p>
        </p:txBody>
      </p:sp>
      <p:sp>
        <p:nvSpPr>
          <p:cNvPr id="24" name="Shape 22"/>
          <p:cNvSpPr/>
          <p:nvPr/>
        </p:nvSpPr>
        <p:spPr>
          <a:xfrm>
            <a:off x="4846320" y="822960"/>
            <a:ext cx="3977640" cy="3566160"/>
          </a:xfrm>
          <a:prstGeom prst="rect">
            <a:avLst/>
          </a:prstGeom>
          <a:solidFill>
            <a:srgbClr val="111C35"/>
          </a:solidFill>
          <a:ln w="12700">
            <a:solidFill>
              <a:srgbClr val="1A3A5C"/>
            </a:solidFill>
            <a:prstDash val="solid"/>
          </a:ln>
        </p:spPr>
      </p:sp>
      <p:sp>
        <p:nvSpPr>
          <p:cNvPr id="25" name="Text 23"/>
          <p:cNvSpPr/>
          <p:nvPr/>
        </p:nvSpPr>
        <p:spPr>
          <a:xfrm>
            <a:off x="4983480" y="886968"/>
            <a:ext cx="36576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Key Findings</a:t>
            </a:r>
            <a:endParaRPr lang="en-US" sz="1300" dirty="0"/>
          </a:p>
        </p:txBody>
      </p:sp>
      <p:sp>
        <p:nvSpPr>
          <p:cNvPr id="26" name="Shape 24"/>
          <p:cNvSpPr/>
          <p:nvPr/>
        </p:nvSpPr>
        <p:spPr>
          <a:xfrm>
            <a:off x="4983480" y="1325880"/>
            <a:ext cx="3611880" cy="502920"/>
          </a:xfrm>
          <a:prstGeom prst="rect">
            <a:avLst/>
          </a:prstGeom>
          <a:solidFill>
            <a:srgbClr val="0A1530"/>
          </a:solidFill>
          <a:ln w="12700">
            <a:solidFill>
              <a:srgbClr val="1A3A5C"/>
            </a:solidFill>
            <a:prstDash val="solid"/>
          </a:ln>
        </p:spPr>
      </p:sp>
      <p:sp>
        <p:nvSpPr>
          <p:cNvPr id="27" name="Text 25"/>
          <p:cNvSpPr/>
          <p:nvPr/>
        </p:nvSpPr>
        <p:spPr>
          <a:xfrm>
            <a:off x="5074920" y="1362456"/>
            <a:ext cx="3429000" cy="429768"/>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  Attack traffic scored significantly higher anomaly scores than normal traffic</a:t>
            </a:r>
            <a:endParaRPr lang="en-US" sz="950" dirty="0"/>
          </a:p>
        </p:txBody>
      </p:sp>
      <p:sp>
        <p:nvSpPr>
          <p:cNvPr id="28" name="Shape 26"/>
          <p:cNvSpPr/>
          <p:nvPr/>
        </p:nvSpPr>
        <p:spPr>
          <a:xfrm>
            <a:off x="4983480" y="1938528"/>
            <a:ext cx="3611880" cy="502920"/>
          </a:xfrm>
          <a:prstGeom prst="rect">
            <a:avLst/>
          </a:prstGeom>
          <a:solidFill>
            <a:srgbClr val="0A1530"/>
          </a:solidFill>
          <a:ln w="12700">
            <a:solidFill>
              <a:srgbClr val="1A3A5C"/>
            </a:solidFill>
            <a:prstDash val="solid"/>
          </a:ln>
        </p:spPr>
      </p:sp>
      <p:sp>
        <p:nvSpPr>
          <p:cNvPr id="29" name="Text 27"/>
          <p:cNvSpPr/>
          <p:nvPr/>
        </p:nvSpPr>
        <p:spPr>
          <a:xfrm>
            <a:off x="5074920" y="1975104"/>
            <a:ext cx="3429000" cy="429768"/>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  Box plot shows clear statistical separation between two distributions</a:t>
            </a:r>
            <a:endParaRPr lang="en-US" sz="950" dirty="0"/>
          </a:p>
        </p:txBody>
      </p:sp>
      <p:sp>
        <p:nvSpPr>
          <p:cNvPr id="30" name="Shape 28"/>
          <p:cNvSpPr/>
          <p:nvPr/>
        </p:nvSpPr>
        <p:spPr>
          <a:xfrm>
            <a:off x="4983480" y="2551176"/>
            <a:ext cx="3611880" cy="502920"/>
          </a:xfrm>
          <a:prstGeom prst="rect">
            <a:avLst/>
          </a:prstGeom>
          <a:solidFill>
            <a:srgbClr val="0A1530"/>
          </a:solidFill>
          <a:ln w="12700">
            <a:solidFill>
              <a:srgbClr val="1A3A5C"/>
            </a:solidFill>
            <a:prstDash val="solid"/>
          </a:ln>
        </p:spPr>
      </p:sp>
      <p:sp>
        <p:nvSpPr>
          <p:cNvPr id="31" name="Text 29"/>
          <p:cNvSpPr/>
          <p:nvPr/>
        </p:nvSpPr>
        <p:spPr>
          <a:xfrm>
            <a:off x="5074920" y="2587752"/>
            <a:ext cx="3429000" cy="429768"/>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  Kitsune effectively learned boundaries of normal network behavior</a:t>
            </a:r>
            <a:endParaRPr lang="en-US" sz="950" dirty="0"/>
          </a:p>
        </p:txBody>
      </p:sp>
      <p:sp>
        <p:nvSpPr>
          <p:cNvPr id="32" name="Shape 30"/>
          <p:cNvSpPr/>
          <p:nvPr/>
        </p:nvSpPr>
        <p:spPr>
          <a:xfrm>
            <a:off x="4983480" y="3163824"/>
            <a:ext cx="3611880" cy="502920"/>
          </a:xfrm>
          <a:prstGeom prst="rect">
            <a:avLst/>
          </a:prstGeom>
          <a:solidFill>
            <a:srgbClr val="0A1530"/>
          </a:solidFill>
          <a:ln w="12700">
            <a:solidFill>
              <a:srgbClr val="1A3A5C"/>
            </a:solidFill>
            <a:prstDash val="solid"/>
          </a:ln>
        </p:spPr>
      </p:sp>
      <p:sp>
        <p:nvSpPr>
          <p:cNvPr id="33" name="Text 31"/>
          <p:cNvSpPr/>
          <p:nvPr/>
        </p:nvSpPr>
        <p:spPr>
          <a:xfrm>
            <a:off x="5074920" y="3200400"/>
            <a:ext cx="3429000" cy="429768"/>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  90–95% quantile threshold provides best accuracy-recall trade-off</a:t>
            </a:r>
            <a:endParaRPr lang="en-US" sz="950" dirty="0"/>
          </a:p>
        </p:txBody>
      </p:sp>
      <p:sp>
        <p:nvSpPr>
          <p:cNvPr id="34" name="Shape 32"/>
          <p:cNvSpPr/>
          <p:nvPr/>
        </p:nvSpPr>
        <p:spPr>
          <a:xfrm>
            <a:off x="4983480" y="3776472"/>
            <a:ext cx="3611880" cy="502920"/>
          </a:xfrm>
          <a:prstGeom prst="rect">
            <a:avLst/>
          </a:prstGeom>
          <a:solidFill>
            <a:srgbClr val="0A1530"/>
          </a:solidFill>
          <a:ln w="12700">
            <a:solidFill>
              <a:srgbClr val="1A3A5C"/>
            </a:solidFill>
            <a:prstDash val="solid"/>
          </a:ln>
        </p:spPr>
      </p:sp>
      <p:sp>
        <p:nvSpPr>
          <p:cNvPr id="35" name="Text 33"/>
          <p:cNvSpPr/>
          <p:nvPr/>
        </p:nvSpPr>
        <p:spPr>
          <a:xfrm>
            <a:off x="5074920" y="3813048"/>
            <a:ext cx="3429000" cy="429768"/>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  ARP poisoning packets consistently triggered high reconstruction error</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FF4488"/>
          </a:solidFill>
          <a:ln w="12700">
            <a:solidFill>
              <a:srgbClr val="FF4488"/>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CHALLENGES FACED &amp; SOLUTIONS</a:t>
            </a:r>
            <a:endParaRPr lang="en-US" sz="2200" dirty="0"/>
          </a:p>
        </p:txBody>
      </p:sp>
      <p:sp>
        <p:nvSpPr>
          <p:cNvPr id="5" name="Shape 3"/>
          <p:cNvSpPr/>
          <p:nvPr/>
        </p:nvSpPr>
        <p:spPr>
          <a:xfrm>
            <a:off x="274320" y="841248"/>
            <a:ext cx="8595360" cy="658368"/>
          </a:xfrm>
          <a:prstGeom prst="rect">
            <a:avLst/>
          </a:prstGeom>
          <a:solidFill>
            <a:srgbClr val="111C35"/>
          </a:solidFill>
          <a:ln w="12700">
            <a:solidFill>
              <a:srgbClr val="1A3A5C"/>
            </a:solidFill>
            <a:prstDash val="solid"/>
          </a:ln>
        </p:spPr>
      </p:sp>
      <p:sp>
        <p:nvSpPr>
          <p:cNvPr id="6" name="Text 4"/>
          <p:cNvSpPr/>
          <p:nvPr/>
        </p:nvSpPr>
        <p:spPr>
          <a:xfrm>
            <a:off x="411480" y="914400"/>
            <a:ext cx="3017520" cy="502920"/>
          </a:xfrm>
          <a:prstGeom prst="rect">
            <a:avLst/>
          </a:prstGeom>
          <a:noFill/>
          <a:ln/>
        </p:spPr>
        <p:txBody>
          <a:bodyPr wrap="square" rtlCol="0" anchor="ctr"/>
          <a:lstStyle/>
          <a:p>
            <a:pPr indent="0" marL="0">
              <a:buNone/>
            </a:pPr>
            <a:r>
              <a:rPr lang="en-US" sz="1100" b="1" dirty="0">
                <a:solidFill>
                  <a:srgbClr val="FF6B35"/>
                </a:solidFill>
                <a:latin typeface="Calibri" pitchFamily="34" charset="0"/>
                <a:ea typeface="Calibri" pitchFamily="34" charset="-122"/>
                <a:cs typeface="Calibri" pitchFamily="34" charset="-120"/>
              </a:rPr>
              <a:t>⚠ Dataset Formatting</a:t>
            </a:r>
            <a:endParaRPr lang="en-US" sz="1100" dirty="0"/>
          </a:p>
        </p:txBody>
      </p:sp>
      <p:sp>
        <p:nvSpPr>
          <p:cNvPr id="7" name="Shape 5"/>
          <p:cNvSpPr/>
          <p:nvPr/>
        </p:nvSpPr>
        <p:spPr>
          <a:xfrm>
            <a:off x="3429000" y="978408"/>
            <a:ext cx="0" cy="384048"/>
          </a:xfrm>
          <a:prstGeom prst="line">
            <a:avLst/>
          </a:prstGeom>
          <a:noFill/>
          <a:ln w="12700">
            <a:solidFill>
              <a:srgbClr val="1A3A5C"/>
            </a:solidFill>
            <a:prstDash val="solid"/>
          </a:ln>
        </p:spPr>
      </p:sp>
      <p:sp>
        <p:nvSpPr>
          <p:cNvPr id="8" name="Text 6"/>
          <p:cNvSpPr/>
          <p:nvPr/>
        </p:nvSpPr>
        <p:spPr>
          <a:xfrm>
            <a:off x="3566160" y="914400"/>
            <a:ext cx="5166360" cy="502920"/>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  Implemented custom zero-padding to ensure exactly 115 features per record as required by Kitsune.</a:t>
            </a:r>
            <a:endParaRPr lang="en-US" sz="1050" dirty="0"/>
          </a:p>
        </p:txBody>
      </p:sp>
      <p:sp>
        <p:nvSpPr>
          <p:cNvPr id="9" name="Shape 7"/>
          <p:cNvSpPr/>
          <p:nvPr/>
        </p:nvSpPr>
        <p:spPr>
          <a:xfrm>
            <a:off x="274320" y="1618488"/>
            <a:ext cx="8595360" cy="658368"/>
          </a:xfrm>
          <a:prstGeom prst="rect">
            <a:avLst/>
          </a:prstGeom>
          <a:solidFill>
            <a:srgbClr val="111C35"/>
          </a:solidFill>
          <a:ln w="12700">
            <a:solidFill>
              <a:srgbClr val="1A3A5C"/>
            </a:solidFill>
            <a:prstDash val="solid"/>
          </a:ln>
        </p:spPr>
      </p:sp>
      <p:sp>
        <p:nvSpPr>
          <p:cNvPr id="10" name="Text 8"/>
          <p:cNvSpPr/>
          <p:nvPr/>
        </p:nvSpPr>
        <p:spPr>
          <a:xfrm>
            <a:off x="411480" y="1691640"/>
            <a:ext cx="3017520" cy="502920"/>
          </a:xfrm>
          <a:prstGeom prst="rect">
            <a:avLst/>
          </a:prstGeom>
          <a:noFill/>
          <a:ln/>
        </p:spPr>
        <p:txBody>
          <a:bodyPr wrap="square" rtlCol="0" anchor="ctr"/>
          <a:lstStyle/>
          <a:p>
            <a:pPr indent="0" marL="0">
              <a:buNone/>
            </a:pPr>
            <a:r>
              <a:rPr lang="en-US" sz="1100" b="1" dirty="0">
                <a:solidFill>
                  <a:srgbClr val="FF4488"/>
                </a:solidFill>
                <a:latin typeface="Calibri" pitchFamily="34" charset="0"/>
                <a:ea typeface="Calibri" pitchFamily="34" charset="-122"/>
                <a:cs typeface="Calibri" pitchFamily="34" charset="-120"/>
              </a:rPr>
              <a:t>⚠ Feature Extraction Issues</a:t>
            </a:r>
            <a:endParaRPr lang="en-US" sz="1100" dirty="0"/>
          </a:p>
        </p:txBody>
      </p:sp>
      <p:sp>
        <p:nvSpPr>
          <p:cNvPr id="11" name="Shape 9"/>
          <p:cNvSpPr/>
          <p:nvPr/>
        </p:nvSpPr>
        <p:spPr>
          <a:xfrm>
            <a:off x="3429000" y="1755648"/>
            <a:ext cx="0" cy="384048"/>
          </a:xfrm>
          <a:prstGeom prst="line">
            <a:avLst/>
          </a:prstGeom>
          <a:noFill/>
          <a:ln w="12700">
            <a:solidFill>
              <a:srgbClr val="1A3A5C"/>
            </a:solidFill>
            <a:prstDash val="solid"/>
          </a:ln>
        </p:spPr>
      </p:sp>
      <p:sp>
        <p:nvSpPr>
          <p:cNvPr id="12" name="Text 10"/>
          <p:cNvSpPr/>
          <p:nvPr/>
        </p:nvSpPr>
        <p:spPr>
          <a:xfrm>
            <a:off x="3566160" y="1691640"/>
            <a:ext cx="5166360" cy="502920"/>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  Debugged TShark CLI commands and ensured correct field mapping to the 115-feature specification.</a:t>
            </a:r>
            <a:endParaRPr lang="en-US" sz="1050" dirty="0"/>
          </a:p>
        </p:txBody>
      </p:sp>
      <p:sp>
        <p:nvSpPr>
          <p:cNvPr id="13" name="Shape 11"/>
          <p:cNvSpPr/>
          <p:nvPr/>
        </p:nvSpPr>
        <p:spPr>
          <a:xfrm>
            <a:off x="274320" y="2395728"/>
            <a:ext cx="8595360" cy="658368"/>
          </a:xfrm>
          <a:prstGeom prst="rect">
            <a:avLst/>
          </a:prstGeom>
          <a:solidFill>
            <a:srgbClr val="111C35"/>
          </a:solidFill>
          <a:ln w="12700">
            <a:solidFill>
              <a:srgbClr val="1A3A5C"/>
            </a:solidFill>
            <a:prstDash val="solid"/>
          </a:ln>
        </p:spPr>
      </p:sp>
      <p:sp>
        <p:nvSpPr>
          <p:cNvPr id="14" name="Text 12"/>
          <p:cNvSpPr/>
          <p:nvPr/>
        </p:nvSpPr>
        <p:spPr>
          <a:xfrm>
            <a:off x="411480" y="2468880"/>
            <a:ext cx="3017520" cy="502920"/>
          </a:xfrm>
          <a:prstGeom prst="rect">
            <a:avLst/>
          </a:prstGeom>
          <a:noFill/>
          <a:ln/>
        </p:spPr>
        <p:txBody>
          <a:bodyPr wrap="square" rtlCol="0" anchor="ctr"/>
          <a:lstStyle/>
          <a:p>
            <a:pPr indent="0" marL="0">
              <a:buNone/>
            </a:pPr>
            <a:r>
              <a:rPr lang="en-US" sz="1100" b="1" dirty="0">
                <a:solidFill>
                  <a:srgbClr val="AA44FF"/>
                </a:solidFill>
                <a:latin typeface="Calibri" pitchFamily="34" charset="0"/>
                <a:ea typeface="Calibri" pitchFamily="34" charset="-122"/>
                <a:cs typeface="Calibri" pitchFamily="34" charset="-120"/>
              </a:rPr>
              <a:t>⚠ Google Colab Dependencies</a:t>
            </a:r>
            <a:endParaRPr lang="en-US" sz="1100" dirty="0"/>
          </a:p>
        </p:txBody>
      </p:sp>
      <p:sp>
        <p:nvSpPr>
          <p:cNvPr id="15" name="Shape 13"/>
          <p:cNvSpPr/>
          <p:nvPr/>
        </p:nvSpPr>
        <p:spPr>
          <a:xfrm>
            <a:off x="3429000" y="2532888"/>
            <a:ext cx="0" cy="384048"/>
          </a:xfrm>
          <a:prstGeom prst="line">
            <a:avLst/>
          </a:prstGeom>
          <a:noFill/>
          <a:ln w="12700">
            <a:solidFill>
              <a:srgbClr val="1A3A5C"/>
            </a:solidFill>
            <a:prstDash val="solid"/>
          </a:ln>
        </p:spPr>
      </p:sp>
      <p:sp>
        <p:nvSpPr>
          <p:cNvPr id="16" name="Text 14"/>
          <p:cNvSpPr/>
          <p:nvPr/>
        </p:nvSpPr>
        <p:spPr>
          <a:xfrm>
            <a:off x="3566160" y="2468880"/>
            <a:ext cx="5166360" cy="502920"/>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  Resolved version conflicts with kitsune-pytorch by fixing package installation order and compatibility.</a:t>
            </a:r>
            <a:endParaRPr lang="en-US" sz="1050" dirty="0"/>
          </a:p>
        </p:txBody>
      </p:sp>
      <p:sp>
        <p:nvSpPr>
          <p:cNvPr id="17" name="Shape 15"/>
          <p:cNvSpPr/>
          <p:nvPr/>
        </p:nvSpPr>
        <p:spPr>
          <a:xfrm>
            <a:off x="274320" y="3172968"/>
            <a:ext cx="8595360" cy="658368"/>
          </a:xfrm>
          <a:prstGeom prst="rect">
            <a:avLst/>
          </a:prstGeom>
          <a:solidFill>
            <a:srgbClr val="111C35"/>
          </a:solidFill>
          <a:ln w="12700">
            <a:solidFill>
              <a:srgbClr val="1A3A5C"/>
            </a:solidFill>
            <a:prstDash val="solid"/>
          </a:ln>
        </p:spPr>
      </p:sp>
      <p:sp>
        <p:nvSpPr>
          <p:cNvPr id="18" name="Text 16"/>
          <p:cNvSpPr/>
          <p:nvPr/>
        </p:nvSpPr>
        <p:spPr>
          <a:xfrm>
            <a:off x="411480" y="3246120"/>
            <a:ext cx="3017520" cy="50292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 Threshold Tuning</a:t>
            </a:r>
            <a:endParaRPr lang="en-US" sz="1100" dirty="0"/>
          </a:p>
        </p:txBody>
      </p:sp>
      <p:sp>
        <p:nvSpPr>
          <p:cNvPr id="19" name="Shape 17"/>
          <p:cNvSpPr/>
          <p:nvPr/>
        </p:nvSpPr>
        <p:spPr>
          <a:xfrm>
            <a:off x="3429000" y="3310128"/>
            <a:ext cx="0" cy="384048"/>
          </a:xfrm>
          <a:prstGeom prst="line">
            <a:avLst/>
          </a:prstGeom>
          <a:noFill/>
          <a:ln w="12700">
            <a:solidFill>
              <a:srgbClr val="1A3A5C"/>
            </a:solidFill>
            <a:prstDash val="solid"/>
          </a:ln>
        </p:spPr>
      </p:sp>
      <p:sp>
        <p:nvSpPr>
          <p:cNvPr id="20" name="Text 18"/>
          <p:cNvSpPr/>
          <p:nvPr/>
        </p:nvSpPr>
        <p:spPr>
          <a:xfrm>
            <a:off x="3566160" y="3246120"/>
            <a:ext cx="5166360" cy="502920"/>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  Tested 6 quantile levels (80%–99%) and analyzed recall trade-offs to select optimal threshold.</a:t>
            </a:r>
            <a:endParaRPr lang="en-US" sz="1050" dirty="0"/>
          </a:p>
        </p:txBody>
      </p:sp>
      <p:sp>
        <p:nvSpPr>
          <p:cNvPr id="21" name="Shape 19"/>
          <p:cNvSpPr/>
          <p:nvPr/>
        </p:nvSpPr>
        <p:spPr>
          <a:xfrm>
            <a:off x="274320" y="3950208"/>
            <a:ext cx="8595360" cy="658368"/>
          </a:xfrm>
          <a:prstGeom prst="rect">
            <a:avLst/>
          </a:prstGeom>
          <a:solidFill>
            <a:srgbClr val="111C35"/>
          </a:solidFill>
          <a:ln w="12700">
            <a:solidFill>
              <a:srgbClr val="1A3A5C"/>
            </a:solidFill>
            <a:prstDash val="solid"/>
          </a:ln>
        </p:spPr>
      </p:sp>
      <p:sp>
        <p:nvSpPr>
          <p:cNvPr id="22" name="Text 20"/>
          <p:cNvSpPr/>
          <p:nvPr/>
        </p:nvSpPr>
        <p:spPr>
          <a:xfrm>
            <a:off x="411480" y="4023360"/>
            <a:ext cx="3017520" cy="502920"/>
          </a:xfrm>
          <a:prstGeom prst="rect">
            <a:avLst/>
          </a:prstGeom>
          <a:noFill/>
          <a:ln/>
        </p:spPr>
        <p:txBody>
          <a:bodyPr wrap="square" rtlCol="0" anchor="ctr"/>
          <a:lstStyle/>
          <a:p>
            <a:pPr indent="0" marL="0">
              <a:buNone/>
            </a:pPr>
            <a:r>
              <a:rPr lang="en-US" sz="1100" b="1" dirty="0">
                <a:solidFill>
                  <a:srgbClr val="00FF9D"/>
                </a:solidFill>
                <a:latin typeface="Calibri" pitchFamily="34" charset="0"/>
                <a:ea typeface="Calibri" pitchFamily="34" charset="-122"/>
                <a:cs typeface="Calibri" pitchFamily="34" charset="-120"/>
              </a:rPr>
              <a:t>⚠ 115 Feature Requirement</a:t>
            </a:r>
            <a:endParaRPr lang="en-US" sz="1100" dirty="0"/>
          </a:p>
        </p:txBody>
      </p:sp>
      <p:sp>
        <p:nvSpPr>
          <p:cNvPr id="23" name="Shape 21"/>
          <p:cNvSpPr/>
          <p:nvPr/>
        </p:nvSpPr>
        <p:spPr>
          <a:xfrm>
            <a:off x="3429000" y="4087368"/>
            <a:ext cx="0" cy="384048"/>
          </a:xfrm>
          <a:prstGeom prst="line">
            <a:avLst/>
          </a:prstGeom>
          <a:noFill/>
          <a:ln w="12700">
            <a:solidFill>
              <a:srgbClr val="1A3A5C"/>
            </a:solidFill>
            <a:prstDash val="solid"/>
          </a:ln>
        </p:spPr>
      </p:sp>
      <p:sp>
        <p:nvSpPr>
          <p:cNvPr id="24" name="Text 22"/>
          <p:cNvSpPr/>
          <p:nvPr/>
        </p:nvSpPr>
        <p:spPr>
          <a:xfrm>
            <a:off x="3566160" y="4023360"/>
            <a:ext cx="5166360" cy="502920"/>
          </a:xfrm>
          <a:prstGeom prst="rect">
            <a:avLst/>
          </a:prstGeom>
          <a:noFill/>
          <a:ln/>
        </p:spPr>
        <p:txBody>
          <a:bodyPr wrap="square" rtlCol="0" anchor="ctr"/>
          <a:lstStyle/>
          <a:p>
            <a:pPr indent="0" marL="0">
              <a:buNone/>
            </a:pPr>
            <a:r>
              <a:rPr lang="en-US" sz="1050" dirty="0">
                <a:solidFill>
                  <a:srgbClr val="B0D4F1"/>
                </a:solidFill>
                <a:latin typeface="Calibri" pitchFamily="34" charset="0"/>
                <a:ea typeface="Calibri" pitchFamily="34" charset="-122"/>
                <a:cs typeface="Calibri" pitchFamily="34" charset="-120"/>
              </a:rPr>
              <a:t>→  Created a preprocessing pipeline to validate, pad, and verify feature dimensionality before training.</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1A2A4A"/>
            </a:solidFill>
            <a:prstDash val="solid"/>
          </a:ln>
        </p:spPr>
      </p:sp>
      <p:sp>
        <p:nvSpPr>
          <p:cNvPr id="3" name="Shape 1"/>
          <p:cNvSpPr/>
          <p:nvPr/>
        </p:nvSpPr>
        <p:spPr>
          <a:xfrm>
            <a:off x="502920" y="0"/>
            <a:ext cx="0" cy="5143500"/>
          </a:xfrm>
          <a:prstGeom prst="line">
            <a:avLst/>
          </a:prstGeom>
          <a:noFill/>
          <a:ln w="6350">
            <a:solidFill>
              <a:srgbClr val="1A2A4A"/>
            </a:solidFill>
            <a:prstDash val="solid"/>
          </a:ln>
        </p:spPr>
      </p:sp>
      <p:sp>
        <p:nvSpPr>
          <p:cNvPr id="4" name="Shape 2"/>
          <p:cNvSpPr/>
          <p:nvPr/>
        </p:nvSpPr>
        <p:spPr>
          <a:xfrm>
            <a:off x="1005840" y="0"/>
            <a:ext cx="0" cy="5143500"/>
          </a:xfrm>
          <a:prstGeom prst="line">
            <a:avLst/>
          </a:prstGeom>
          <a:noFill/>
          <a:ln w="6350">
            <a:solidFill>
              <a:srgbClr val="1A2A4A"/>
            </a:solidFill>
            <a:prstDash val="solid"/>
          </a:ln>
        </p:spPr>
      </p:sp>
      <p:sp>
        <p:nvSpPr>
          <p:cNvPr id="5" name="Shape 3"/>
          <p:cNvSpPr/>
          <p:nvPr/>
        </p:nvSpPr>
        <p:spPr>
          <a:xfrm>
            <a:off x="1508760" y="0"/>
            <a:ext cx="0" cy="5143500"/>
          </a:xfrm>
          <a:prstGeom prst="line">
            <a:avLst/>
          </a:prstGeom>
          <a:noFill/>
          <a:ln w="6350">
            <a:solidFill>
              <a:srgbClr val="1A2A4A"/>
            </a:solidFill>
            <a:prstDash val="solid"/>
          </a:ln>
        </p:spPr>
      </p:sp>
      <p:sp>
        <p:nvSpPr>
          <p:cNvPr id="6" name="Shape 4"/>
          <p:cNvSpPr/>
          <p:nvPr/>
        </p:nvSpPr>
        <p:spPr>
          <a:xfrm>
            <a:off x="2011680" y="0"/>
            <a:ext cx="0" cy="5143500"/>
          </a:xfrm>
          <a:prstGeom prst="line">
            <a:avLst/>
          </a:prstGeom>
          <a:noFill/>
          <a:ln w="6350">
            <a:solidFill>
              <a:srgbClr val="1A2A4A"/>
            </a:solidFill>
            <a:prstDash val="solid"/>
          </a:ln>
        </p:spPr>
      </p:sp>
      <p:sp>
        <p:nvSpPr>
          <p:cNvPr id="7" name="Shape 5"/>
          <p:cNvSpPr/>
          <p:nvPr/>
        </p:nvSpPr>
        <p:spPr>
          <a:xfrm>
            <a:off x="2514600" y="0"/>
            <a:ext cx="0" cy="5143500"/>
          </a:xfrm>
          <a:prstGeom prst="line">
            <a:avLst/>
          </a:prstGeom>
          <a:noFill/>
          <a:ln w="6350">
            <a:solidFill>
              <a:srgbClr val="1A2A4A"/>
            </a:solidFill>
            <a:prstDash val="solid"/>
          </a:ln>
        </p:spPr>
      </p:sp>
      <p:sp>
        <p:nvSpPr>
          <p:cNvPr id="8" name="Shape 6"/>
          <p:cNvSpPr/>
          <p:nvPr/>
        </p:nvSpPr>
        <p:spPr>
          <a:xfrm>
            <a:off x="3017520" y="0"/>
            <a:ext cx="0" cy="5143500"/>
          </a:xfrm>
          <a:prstGeom prst="line">
            <a:avLst/>
          </a:prstGeom>
          <a:noFill/>
          <a:ln w="6350">
            <a:solidFill>
              <a:srgbClr val="1A2A4A"/>
            </a:solidFill>
            <a:prstDash val="solid"/>
          </a:ln>
        </p:spPr>
      </p:sp>
      <p:sp>
        <p:nvSpPr>
          <p:cNvPr id="9" name="Shape 7"/>
          <p:cNvSpPr/>
          <p:nvPr/>
        </p:nvSpPr>
        <p:spPr>
          <a:xfrm>
            <a:off x="3520440" y="0"/>
            <a:ext cx="0" cy="5143500"/>
          </a:xfrm>
          <a:prstGeom prst="line">
            <a:avLst/>
          </a:prstGeom>
          <a:noFill/>
          <a:ln w="6350">
            <a:solidFill>
              <a:srgbClr val="1A2A4A"/>
            </a:solidFill>
            <a:prstDash val="solid"/>
          </a:ln>
        </p:spPr>
      </p:sp>
      <p:sp>
        <p:nvSpPr>
          <p:cNvPr id="10" name="Shape 8"/>
          <p:cNvSpPr/>
          <p:nvPr/>
        </p:nvSpPr>
        <p:spPr>
          <a:xfrm>
            <a:off x="4023360" y="0"/>
            <a:ext cx="0" cy="5143500"/>
          </a:xfrm>
          <a:prstGeom prst="line">
            <a:avLst/>
          </a:prstGeom>
          <a:noFill/>
          <a:ln w="6350">
            <a:solidFill>
              <a:srgbClr val="1A2A4A"/>
            </a:solidFill>
            <a:prstDash val="solid"/>
          </a:ln>
        </p:spPr>
      </p:sp>
      <p:sp>
        <p:nvSpPr>
          <p:cNvPr id="11" name="Shape 9"/>
          <p:cNvSpPr/>
          <p:nvPr/>
        </p:nvSpPr>
        <p:spPr>
          <a:xfrm>
            <a:off x="4526280" y="0"/>
            <a:ext cx="0" cy="5143500"/>
          </a:xfrm>
          <a:prstGeom prst="line">
            <a:avLst/>
          </a:prstGeom>
          <a:noFill/>
          <a:ln w="6350">
            <a:solidFill>
              <a:srgbClr val="1A2A4A"/>
            </a:solidFill>
            <a:prstDash val="solid"/>
          </a:ln>
        </p:spPr>
      </p:sp>
      <p:sp>
        <p:nvSpPr>
          <p:cNvPr id="12" name="Shape 10"/>
          <p:cNvSpPr/>
          <p:nvPr/>
        </p:nvSpPr>
        <p:spPr>
          <a:xfrm>
            <a:off x="5029200" y="0"/>
            <a:ext cx="0" cy="5143500"/>
          </a:xfrm>
          <a:prstGeom prst="line">
            <a:avLst/>
          </a:prstGeom>
          <a:noFill/>
          <a:ln w="6350">
            <a:solidFill>
              <a:srgbClr val="1A2A4A"/>
            </a:solidFill>
            <a:prstDash val="solid"/>
          </a:ln>
        </p:spPr>
      </p:sp>
      <p:sp>
        <p:nvSpPr>
          <p:cNvPr id="13" name="Shape 11"/>
          <p:cNvSpPr/>
          <p:nvPr/>
        </p:nvSpPr>
        <p:spPr>
          <a:xfrm>
            <a:off x="5532120" y="0"/>
            <a:ext cx="0" cy="5143500"/>
          </a:xfrm>
          <a:prstGeom prst="line">
            <a:avLst/>
          </a:prstGeom>
          <a:noFill/>
          <a:ln w="6350">
            <a:solidFill>
              <a:srgbClr val="1A2A4A"/>
            </a:solidFill>
            <a:prstDash val="solid"/>
          </a:ln>
        </p:spPr>
      </p:sp>
      <p:sp>
        <p:nvSpPr>
          <p:cNvPr id="14" name="Shape 12"/>
          <p:cNvSpPr/>
          <p:nvPr/>
        </p:nvSpPr>
        <p:spPr>
          <a:xfrm>
            <a:off x="6035040" y="0"/>
            <a:ext cx="0" cy="5143500"/>
          </a:xfrm>
          <a:prstGeom prst="line">
            <a:avLst/>
          </a:prstGeom>
          <a:noFill/>
          <a:ln w="6350">
            <a:solidFill>
              <a:srgbClr val="1A2A4A"/>
            </a:solidFill>
            <a:prstDash val="solid"/>
          </a:ln>
        </p:spPr>
      </p:sp>
      <p:sp>
        <p:nvSpPr>
          <p:cNvPr id="15" name="Shape 13"/>
          <p:cNvSpPr/>
          <p:nvPr/>
        </p:nvSpPr>
        <p:spPr>
          <a:xfrm>
            <a:off x="6537960" y="0"/>
            <a:ext cx="0" cy="5143500"/>
          </a:xfrm>
          <a:prstGeom prst="line">
            <a:avLst/>
          </a:prstGeom>
          <a:noFill/>
          <a:ln w="6350">
            <a:solidFill>
              <a:srgbClr val="1A2A4A"/>
            </a:solidFill>
            <a:prstDash val="solid"/>
          </a:ln>
        </p:spPr>
      </p:sp>
      <p:sp>
        <p:nvSpPr>
          <p:cNvPr id="16" name="Shape 14"/>
          <p:cNvSpPr/>
          <p:nvPr/>
        </p:nvSpPr>
        <p:spPr>
          <a:xfrm>
            <a:off x="7040880" y="0"/>
            <a:ext cx="0" cy="5143500"/>
          </a:xfrm>
          <a:prstGeom prst="line">
            <a:avLst/>
          </a:prstGeom>
          <a:noFill/>
          <a:ln w="6350">
            <a:solidFill>
              <a:srgbClr val="1A2A4A"/>
            </a:solidFill>
            <a:prstDash val="solid"/>
          </a:ln>
        </p:spPr>
      </p:sp>
      <p:sp>
        <p:nvSpPr>
          <p:cNvPr id="17" name="Shape 15"/>
          <p:cNvSpPr/>
          <p:nvPr/>
        </p:nvSpPr>
        <p:spPr>
          <a:xfrm>
            <a:off x="7543800" y="0"/>
            <a:ext cx="0" cy="5143500"/>
          </a:xfrm>
          <a:prstGeom prst="line">
            <a:avLst/>
          </a:prstGeom>
          <a:noFill/>
          <a:ln w="6350">
            <a:solidFill>
              <a:srgbClr val="1A2A4A"/>
            </a:solidFill>
            <a:prstDash val="solid"/>
          </a:ln>
        </p:spPr>
      </p:sp>
      <p:sp>
        <p:nvSpPr>
          <p:cNvPr id="18" name="Shape 16"/>
          <p:cNvSpPr/>
          <p:nvPr/>
        </p:nvSpPr>
        <p:spPr>
          <a:xfrm>
            <a:off x="8046720" y="0"/>
            <a:ext cx="0" cy="5143500"/>
          </a:xfrm>
          <a:prstGeom prst="line">
            <a:avLst/>
          </a:prstGeom>
          <a:noFill/>
          <a:ln w="6350">
            <a:solidFill>
              <a:srgbClr val="1A2A4A"/>
            </a:solidFill>
            <a:prstDash val="solid"/>
          </a:ln>
        </p:spPr>
      </p:sp>
      <p:sp>
        <p:nvSpPr>
          <p:cNvPr id="19" name="Shape 17"/>
          <p:cNvSpPr/>
          <p:nvPr/>
        </p:nvSpPr>
        <p:spPr>
          <a:xfrm>
            <a:off x="8549640" y="0"/>
            <a:ext cx="0" cy="5143500"/>
          </a:xfrm>
          <a:prstGeom prst="line">
            <a:avLst/>
          </a:prstGeom>
          <a:noFill/>
          <a:ln w="6350">
            <a:solidFill>
              <a:srgbClr val="1A2A4A"/>
            </a:solidFill>
            <a:prstDash val="solid"/>
          </a:ln>
        </p:spPr>
      </p:sp>
      <p:sp>
        <p:nvSpPr>
          <p:cNvPr id="20" name="Shape 18"/>
          <p:cNvSpPr/>
          <p:nvPr/>
        </p:nvSpPr>
        <p:spPr>
          <a:xfrm>
            <a:off x="9052560" y="0"/>
            <a:ext cx="0" cy="5143500"/>
          </a:xfrm>
          <a:prstGeom prst="line">
            <a:avLst/>
          </a:prstGeom>
          <a:noFill/>
          <a:ln w="6350">
            <a:solidFill>
              <a:srgbClr val="1A2A4A"/>
            </a:solidFill>
            <a:prstDash val="solid"/>
          </a:ln>
        </p:spPr>
      </p:sp>
      <p:sp>
        <p:nvSpPr>
          <p:cNvPr id="21" name="Shape 19"/>
          <p:cNvSpPr/>
          <p:nvPr/>
        </p:nvSpPr>
        <p:spPr>
          <a:xfrm>
            <a:off x="9555480" y="0"/>
            <a:ext cx="0" cy="5143500"/>
          </a:xfrm>
          <a:prstGeom prst="line">
            <a:avLst/>
          </a:prstGeom>
          <a:noFill/>
          <a:ln w="6350">
            <a:solidFill>
              <a:srgbClr val="1A2A4A"/>
            </a:solidFill>
            <a:prstDash val="solid"/>
          </a:ln>
        </p:spPr>
      </p:sp>
      <p:sp>
        <p:nvSpPr>
          <p:cNvPr id="22" name="Shape 20"/>
          <p:cNvSpPr/>
          <p:nvPr/>
        </p:nvSpPr>
        <p:spPr>
          <a:xfrm>
            <a:off x="0" y="0"/>
            <a:ext cx="9144000" cy="685800"/>
          </a:xfrm>
          <a:prstGeom prst="rect">
            <a:avLst/>
          </a:prstGeom>
          <a:solidFill>
            <a:srgbClr val="051429"/>
          </a:solidFill>
          <a:ln w="12700">
            <a:solidFill>
              <a:srgbClr val="051429"/>
            </a:solidFill>
            <a:prstDash val="solid"/>
          </a:ln>
        </p:spPr>
      </p:sp>
      <p:sp>
        <p:nvSpPr>
          <p:cNvPr id="23" name="Shape 21"/>
          <p:cNvSpPr/>
          <p:nvPr/>
        </p:nvSpPr>
        <p:spPr>
          <a:xfrm>
            <a:off x="0" y="658368"/>
            <a:ext cx="9144000" cy="36576"/>
          </a:xfrm>
          <a:prstGeom prst="rect">
            <a:avLst/>
          </a:prstGeom>
          <a:solidFill>
            <a:srgbClr val="00FF9D"/>
          </a:solidFill>
          <a:ln w="12700">
            <a:solidFill>
              <a:srgbClr val="00FF9D"/>
            </a:solidFill>
            <a:prstDash val="solid"/>
          </a:ln>
        </p:spPr>
      </p:sp>
      <p:sp>
        <p:nvSpPr>
          <p:cNvPr id="24" name="Text 2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CONCLUSION</a:t>
            </a:r>
            <a:endParaRPr lang="en-US" sz="2200" dirty="0"/>
          </a:p>
        </p:txBody>
      </p:sp>
      <p:sp>
        <p:nvSpPr>
          <p:cNvPr id="25" name="Shape 23"/>
          <p:cNvSpPr/>
          <p:nvPr/>
        </p:nvSpPr>
        <p:spPr>
          <a:xfrm>
            <a:off x="274320" y="822960"/>
            <a:ext cx="4114800" cy="1572768"/>
          </a:xfrm>
          <a:prstGeom prst="rect">
            <a:avLst/>
          </a:prstGeom>
          <a:solidFill>
            <a:srgbClr val="111C35"/>
          </a:solidFill>
          <a:ln w="19050">
            <a:solidFill>
              <a:srgbClr val="00D4FF"/>
            </a:solidFill>
            <a:prstDash val="solid"/>
          </a:ln>
        </p:spPr>
      </p:sp>
      <p:sp>
        <p:nvSpPr>
          <p:cNvPr id="26" name="Text 24"/>
          <p:cNvSpPr/>
          <p:nvPr/>
        </p:nvSpPr>
        <p:spPr>
          <a:xfrm>
            <a:off x="411480" y="932688"/>
            <a:ext cx="3749040" cy="365760"/>
          </a:xfrm>
          <a:prstGeom prst="rect">
            <a:avLst/>
          </a:prstGeom>
          <a:noFill/>
          <a:ln/>
        </p:spPr>
        <p:txBody>
          <a:bodyPr wrap="square"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  Successful Detection</a:t>
            </a:r>
            <a:endParaRPr lang="en-US" sz="1300" dirty="0"/>
          </a:p>
        </p:txBody>
      </p:sp>
      <p:sp>
        <p:nvSpPr>
          <p:cNvPr id="27" name="Text 25"/>
          <p:cNvSpPr/>
          <p:nvPr/>
        </p:nvSpPr>
        <p:spPr>
          <a:xfrm>
            <a:off x="411480" y="1353312"/>
            <a:ext cx="3794760" cy="914400"/>
          </a:xfrm>
          <a:prstGeom prst="rect">
            <a:avLst/>
          </a:prstGeom>
          <a:noFill/>
          <a:ln/>
        </p:spPr>
        <p:txBody>
          <a:bodyPr wrap="square" rtlCol="0" anchor="ctr"/>
          <a:lstStyle/>
          <a:p>
            <a:pPr indent="0" marL="0">
              <a:buNone/>
            </a:pPr>
            <a:r>
              <a:rPr lang="en-US" sz="1100" dirty="0">
                <a:solidFill>
                  <a:srgbClr val="B0D4F1"/>
                </a:solidFill>
                <a:latin typeface="Calibri" pitchFamily="34" charset="0"/>
                <a:ea typeface="Calibri" pitchFamily="34" charset="-122"/>
                <a:cs typeface="Calibri" pitchFamily="34" charset="-120"/>
              </a:rPr>
              <a:t>Kitsune successfully detected ARP MitM attacks with high recall across multiple threshold settings.</a:t>
            </a:r>
            <a:endParaRPr lang="en-US" sz="1100" dirty="0"/>
          </a:p>
        </p:txBody>
      </p:sp>
      <p:sp>
        <p:nvSpPr>
          <p:cNvPr id="28" name="Shape 26"/>
          <p:cNvSpPr/>
          <p:nvPr/>
        </p:nvSpPr>
        <p:spPr>
          <a:xfrm>
            <a:off x="4709160" y="822960"/>
            <a:ext cx="4114800" cy="1572768"/>
          </a:xfrm>
          <a:prstGeom prst="rect">
            <a:avLst/>
          </a:prstGeom>
          <a:solidFill>
            <a:srgbClr val="111C35"/>
          </a:solidFill>
          <a:ln w="19050">
            <a:solidFill>
              <a:srgbClr val="00D4FF"/>
            </a:solidFill>
            <a:prstDash val="solid"/>
          </a:ln>
        </p:spPr>
      </p:sp>
      <p:sp>
        <p:nvSpPr>
          <p:cNvPr id="29" name="Text 27"/>
          <p:cNvSpPr/>
          <p:nvPr/>
        </p:nvSpPr>
        <p:spPr>
          <a:xfrm>
            <a:off x="4846320" y="932688"/>
            <a:ext cx="3749040" cy="365760"/>
          </a:xfrm>
          <a:prstGeom prst="rect">
            <a:avLst/>
          </a:prstGeom>
          <a:noFill/>
          <a:ln/>
        </p:spPr>
        <p:txBody>
          <a:bodyPr wrap="square"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  Real-Time Capability</a:t>
            </a:r>
            <a:endParaRPr lang="en-US" sz="1300" dirty="0"/>
          </a:p>
        </p:txBody>
      </p:sp>
      <p:sp>
        <p:nvSpPr>
          <p:cNvPr id="30" name="Text 28"/>
          <p:cNvSpPr/>
          <p:nvPr/>
        </p:nvSpPr>
        <p:spPr>
          <a:xfrm>
            <a:off x="4846320" y="1353312"/>
            <a:ext cx="3794760" cy="914400"/>
          </a:xfrm>
          <a:prstGeom prst="rect">
            <a:avLst/>
          </a:prstGeom>
          <a:noFill/>
          <a:ln/>
        </p:spPr>
        <p:txBody>
          <a:bodyPr wrap="square" rtlCol="0" anchor="ctr"/>
          <a:lstStyle/>
          <a:p>
            <a:pPr indent="0" marL="0">
              <a:buNone/>
            </a:pPr>
            <a:r>
              <a:rPr lang="en-US" sz="1100" dirty="0">
                <a:solidFill>
                  <a:srgbClr val="B0D4F1"/>
                </a:solidFill>
                <a:latin typeface="Calibri" pitchFamily="34" charset="0"/>
                <a:ea typeface="Calibri" pitchFamily="34" charset="-122"/>
                <a:cs typeface="Calibri" pitchFamily="34" charset="-120"/>
              </a:rPr>
              <a:t>The framework demonstrated strong potential for real-time anomaly detection in local networks.</a:t>
            </a:r>
            <a:endParaRPr lang="en-US" sz="1100" dirty="0"/>
          </a:p>
        </p:txBody>
      </p:sp>
      <p:sp>
        <p:nvSpPr>
          <p:cNvPr id="31" name="Shape 29"/>
          <p:cNvSpPr/>
          <p:nvPr/>
        </p:nvSpPr>
        <p:spPr>
          <a:xfrm>
            <a:off x="274320" y="2606040"/>
            <a:ext cx="4114800" cy="1572768"/>
          </a:xfrm>
          <a:prstGeom prst="rect">
            <a:avLst/>
          </a:prstGeom>
          <a:solidFill>
            <a:srgbClr val="111C35"/>
          </a:solidFill>
          <a:ln w="19050">
            <a:solidFill>
              <a:srgbClr val="00FF9D"/>
            </a:solidFill>
            <a:prstDash val="solid"/>
          </a:ln>
        </p:spPr>
      </p:sp>
      <p:sp>
        <p:nvSpPr>
          <p:cNvPr id="32" name="Text 30"/>
          <p:cNvSpPr/>
          <p:nvPr/>
        </p:nvSpPr>
        <p:spPr>
          <a:xfrm>
            <a:off x="411480" y="2715768"/>
            <a:ext cx="3749040" cy="365760"/>
          </a:xfrm>
          <a:prstGeom prst="rect">
            <a:avLst/>
          </a:prstGeom>
          <a:noFill/>
          <a:ln/>
        </p:spPr>
        <p:txBody>
          <a:bodyPr wrap="square"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  Threshold Tuning Key</a:t>
            </a:r>
            <a:endParaRPr lang="en-US" sz="1300" dirty="0"/>
          </a:p>
        </p:txBody>
      </p:sp>
      <p:sp>
        <p:nvSpPr>
          <p:cNvPr id="33" name="Text 31"/>
          <p:cNvSpPr/>
          <p:nvPr/>
        </p:nvSpPr>
        <p:spPr>
          <a:xfrm>
            <a:off x="411480" y="3136392"/>
            <a:ext cx="3794760" cy="914400"/>
          </a:xfrm>
          <a:prstGeom prst="rect">
            <a:avLst/>
          </a:prstGeom>
          <a:noFill/>
          <a:ln/>
        </p:spPr>
        <p:txBody>
          <a:bodyPr wrap="square" rtlCol="0" anchor="ctr"/>
          <a:lstStyle/>
          <a:p>
            <a:pPr indent="0" marL="0">
              <a:buNone/>
            </a:pPr>
            <a:r>
              <a:rPr lang="en-US" sz="1100" dirty="0">
                <a:solidFill>
                  <a:srgbClr val="B0D4F1"/>
                </a:solidFill>
                <a:latin typeface="Calibri" pitchFamily="34" charset="0"/>
                <a:ea typeface="Calibri" pitchFamily="34" charset="-122"/>
                <a:cs typeface="Calibri" pitchFamily="34" charset="-120"/>
              </a:rPr>
              <a:t>Optimal threshold (~90% quantile) balances attack sensitivity against false positive rate.</a:t>
            </a:r>
            <a:endParaRPr lang="en-US" sz="1100" dirty="0"/>
          </a:p>
        </p:txBody>
      </p:sp>
      <p:sp>
        <p:nvSpPr>
          <p:cNvPr id="34" name="Shape 32"/>
          <p:cNvSpPr/>
          <p:nvPr/>
        </p:nvSpPr>
        <p:spPr>
          <a:xfrm>
            <a:off x="4709160" y="2606040"/>
            <a:ext cx="4114800" cy="1572768"/>
          </a:xfrm>
          <a:prstGeom prst="rect">
            <a:avLst/>
          </a:prstGeom>
          <a:solidFill>
            <a:srgbClr val="111C35"/>
          </a:solidFill>
          <a:ln w="19050">
            <a:solidFill>
              <a:srgbClr val="00FF9D"/>
            </a:solidFill>
            <a:prstDash val="solid"/>
          </a:ln>
        </p:spPr>
      </p:sp>
      <p:sp>
        <p:nvSpPr>
          <p:cNvPr id="35" name="Text 33"/>
          <p:cNvSpPr/>
          <p:nvPr/>
        </p:nvSpPr>
        <p:spPr>
          <a:xfrm>
            <a:off x="4846320" y="2715768"/>
            <a:ext cx="3749040" cy="365760"/>
          </a:xfrm>
          <a:prstGeom prst="rect">
            <a:avLst/>
          </a:prstGeom>
          <a:noFill/>
          <a:ln/>
        </p:spPr>
        <p:txBody>
          <a:bodyPr wrap="square"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  Future Scope</a:t>
            </a:r>
            <a:endParaRPr lang="en-US" sz="1300" dirty="0"/>
          </a:p>
        </p:txBody>
      </p:sp>
      <p:sp>
        <p:nvSpPr>
          <p:cNvPr id="36" name="Text 34"/>
          <p:cNvSpPr/>
          <p:nvPr/>
        </p:nvSpPr>
        <p:spPr>
          <a:xfrm>
            <a:off x="4846320" y="3136392"/>
            <a:ext cx="3794760" cy="914400"/>
          </a:xfrm>
          <a:prstGeom prst="rect">
            <a:avLst/>
          </a:prstGeom>
          <a:noFill/>
          <a:ln/>
        </p:spPr>
        <p:txBody>
          <a:bodyPr wrap="square" rtlCol="0" anchor="ctr"/>
          <a:lstStyle/>
          <a:p>
            <a:pPr indent="0" marL="0">
              <a:buNone/>
            </a:pPr>
            <a:r>
              <a:rPr lang="en-US" sz="1100" dirty="0">
                <a:solidFill>
                  <a:srgbClr val="B0D4F1"/>
                </a:solidFill>
                <a:latin typeface="Calibri" pitchFamily="34" charset="0"/>
                <a:ea typeface="Calibri" pitchFamily="34" charset="-122"/>
                <a:cs typeface="Calibri" pitchFamily="34" charset="-120"/>
              </a:rPr>
              <a:t>Extend to multi-attack scenarios, larger datasets, and hardware-level deployment for production IDS.</a:t>
            </a:r>
            <a:endParaRPr lang="en-US" sz="1100" dirty="0"/>
          </a:p>
        </p:txBody>
      </p:sp>
      <p:sp>
        <p:nvSpPr>
          <p:cNvPr id="37" name="Text 35"/>
          <p:cNvSpPr/>
          <p:nvPr/>
        </p:nvSpPr>
        <p:spPr>
          <a:xfrm>
            <a:off x="457200" y="4736592"/>
            <a:ext cx="8229600" cy="256032"/>
          </a:xfrm>
          <a:prstGeom prst="rect">
            <a:avLst/>
          </a:prstGeom>
          <a:noFill/>
          <a:ln/>
        </p:spPr>
        <p:txBody>
          <a:bodyPr wrap="square" rtlCol="0" anchor="ctr"/>
          <a:lstStyle/>
          <a:p>
            <a:pPr algn="ctr" indent="0" marL="0">
              <a:buNone/>
            </a:pPr>
            <a:r>
              <a:rPr lang="en-US" sz="850" dirty="0">
                <a:solidFill>
                  <a:srgbClr val="8899AA"/>
                </a:solidFill>
                <a:latin typeface="Calibri" pitchFamily="34" charset="0"/>
                <a:ea typeface="Calibri" pitchFamily="34" charset="-122"/>
                <a:cs typeface="Calibri" pitchFamily="34" charset="-120"/>
              </a:rPr>
              <a:t>Malaviya National Institute of Technology, Jaipur  •  AI &amp; Data Engineering  •  Deep Learning</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8899AA"/>
          </a:solidFill>
          <a:ln w="12700">
            <a:solidFill>
              <a:srgbClr val="8899AA"/>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REFERENCES</a:t>
            </a:r>
            <a:endParaRPr lang="en-US" sz="2200" dirty="0"/>
          </a:p>
        </p:txBody>
      </p:sp>
      <p:sp>
        <p:nvSpPr>
          <p:cNvPr id="5" name="Shape 3"/>
          <p:cNvSpPr/>
          <p:nvPr/>
        </p:nvSpPr>
        <p:spPr>
          <a:xfrm>
            <a:off x="320040" y="822960"/>
            <a:ext cx="320040" cy="329184"/>
          </a:xfrm>
          <a:prstGeom prst="rect">
            <a:avLst/>
          </a:prstGeom>
          <a:solidFill>
            <a:srgbClr val="00D4FF">
              <a:alpha val="75000"/>
            </a:srgbClr>
          </a:solidFill>
          <a:ln w="6350">
            <a:solidFill>
              <a:srgbClr val="00D4FF"/>
            </a:solidFill>
            <a:prstDash val="solid"/>
          </a:ln>
        </p:spPr>
      </p:sp>
      <p:sp>
        <p:nvSpPr>
          <p:cNvPr id="6" name="Text 4"/>
          <p:cNvSpPr/>
          <p:nvPr/>
        </p:nvSpPr>
        <p:spPr>
          <a:xfrm>
            <a:off x="320040" y="822960"/>
            <a:ext cx="320040" cy="329184"/>
          </a:xfrm>
          <a:prstGeom prst="rect">
            <a:avLst/>
          </a:prstGeom>
          <a:noFill/>
          <a:ln/>
        </p:spPr>
        <p:txBody>
          <a:bodyPr wrap="square" rtlCol="0" anchor="ctr"/>
          <a:lstStyle/>
          <a:p>
            <a:pPr algn="ctr" indent="0" marL="0">
              <a:buNone/>
            </a:pPr>
            <a:r>
              <a:rPr lang="en-US" sz="900" b="1" dirty="0">
                <a:solidFill>
                  <a:srgbClr val="00D4FF"/>
                </a:solidFill>
                <a:latin typeface="Calibri" pitchFamily="34" charset="0"/>
                <a:ea typeface="Calibri" pitchFamily="34" charset="-122"/>
                <a:cs typeface="Calibri" pitchFamily="34" charset="-120"/>
              </a:rPr>
              <a:t>1</a:t>
            </a:r>
            <a:endParaRPr lang="en-US" sz="900" dirty="0"/>
          </a:p>
        </p:txBody>
      </p:sp>
      <p:sp>
        <p:nvSpPr>
          <p:cNvPr id="7" name="Text 5"/>
          <p:cNvSpPr/>
          <p:nvPr/>
        </p:nvSpPr>
        <p:spPr>
          <a:xfrm>
            <a:off x="731520" y="841248"/>
            <a:ext cx="8229600" cy="310896"/>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Guillem96. kitsune-pytorch GitHub Repository. github.com/Guillem96/kitsune-pytorch</a:t>
            </a:r>
            <a:endParaRPr lang="en-US" sz="950" dirty="0"/>
          </a:p>
        </p:txBody>
      </p:sp>
      <p:sp>
        <p:nvSpPr>
          <p:cNvPr id="8" name="Shape 6"/>
          <p:cNvSpPr/>
          <p:nvPr/>
        </p:nvSpPr>
        <p:spPr>
          <a:xfrm>
            <a:off x="320040" y="1280160"/>
            <a:ext cx="320040" cy="329184"/>
          </a:xfrm>
          <a:prstGeom prst="rect">
            <a:avLst/>
          </a:prstGeom>
          <a:solidFill>
            <a:srgbClr val="00D4FF">
              <a:alpha val="75000"/>
            </a:srgbClr>
          </a:solidFill>
          <a:ln w="6350">
            <a:solidFill>
              <a:srgbClr val="00D4FF"/>
            </a:solidFill>
            <a:prstDash val="solid"/>
          </a:ln>
        </p:spPr>
      </p:sp>
      <p:sp>
        <p:nvSpPr>
          <p:cNvPr id="9" name="Text 7"/>
          <p:cNvSpPr/>
          <p:nvPr/>
        </p:nvSpPr>
        <p:spPr>
          <a:xfrm>
            <a:off x="320040" y="1280160"/>
            <a:ext cx="320040" cy="329184"/>
          </a:xfrm>
          <a:prstGeom prst="rect">
            <a:avLst/>
          </a:prstGeom>
          <a:noFill/>
          <a:ln/>
        </p:spPr>
        <p:txBody>
          <a:bodyPr wrap="square" rtlCol="0" anchor="ctr"/>
          <a:lstStyle/>
          <a:p>
            <a:pPr algn="ctr" indent="0" marL="0">
              <a:buNone/>
            </a:pPr>
            <a:r>
              <a:rPr lang="en-US" sz="900" b="1" dirty="0">
                <a:solidFill>
                  <a:srgbClr val="00D4FF"/>
                </a:solidFill>
                <a:latin typeface="Calibri" pitchFamily="34" charset="0"/>
                <a:ea typeface="Calibri" pitchFamily="34" charset="-122"/>
                <a:cs typeface="Calibri" pitchFamily="34" charset="-120"/>
              </a:rPr>
              <a:t>2</a:t>
            </a:r>
            <a:endParaRPr lang="en-US" sz="900" dirty="0"/>
          </a:p>
        </p:txBody>
      </p:sp>
      <p:sp>
        <p:nvSpPr>
          <p:cNvPr id="10" name="Text 8"/>
          <p:cNvSpPr/>
          <p:nvPr/>
        </p:nvSpPr>
        <p:spPr>
          <a:xfrm>
            <a:off x="731520" y="1298448"/>
            <a:ext cx="8229600" cy="310896"/>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Kaggle. Network Traffic / Cybersecurity Dataset — ARP MitM traffic &amp; packet capture samples.</a:t>
            </a:r>
            <a:endParaRPr lang="en-US" sz="950" dirty="0"/>
          </a:p>
        </p:txBody>
      </p:sp>
      <p:sp>
        <p:nvSpPr>
          <p:cNvPr id="11" name="Shape 9"/>
          <p:cNvSpPr/>
          <p:nvPr/>
        </p:nvSpPr>
        <p:spPr>
          <a:xfrm>
            <a:off x="320040" y="1737360"/>
            <a:ext cx="320040" cy="329184"/>
          </a:xfrm>
          <a:prstGeom prst="rect">
            <a:avLst/>
          </a:prstGeom>
          <a:solidFill>
            <a:srgbClr val="FF6B35">
              <a:alpha val="75000"/>
            </a:srgbClr>
          </a:solidFill>
          <a:ln w="6350">
            <a:solidFill>
              <a:srgbClr val="FF6B35"/>
            </a:solidFill>
            <a:prstDash val="solid"/>
          </a:ln>
        </p:spPr>
      </p:sp>
      <p:sp>
        <p:nvSpPr>
          <p:cNvPr id="12" name="Text 10"/>
          <p:cNvSpPr/>
          <p:nvPr/>
        </p:nvSpPr>
        <p:spPr>
          <a:xfrm>
            <a:off x="320040" y="1737360"/>
            <a:ext cx="320040" cy="329184"/>
          </a:xfrm>
          <a:prstGeom prst="rect">
            <a:avLst/>
          </a:prstGeom>
          <a:noFill/>
          <a:ln/>
        </p:spPr>
        <p:txBody>
          <a:bodyPr wrap="square" rtlCol="0" anchor="ctr"/>
          <a:lstStyle/>
          <a:p>
            <a:pPr algn="ctr" indent="0" marL="0">
              <a:buNone/>
            </a:pPr>
            <a:r>
              <a:rPr lang="en-US" sz="900" b="1" dirty="0">
                <a:solidFill>
                  <a:srgbClr val="FF6B35"/>
                </a:solidFill>
                <a:latin typeface="Calibri" pitchFamily="34" charset="0"/>
                <a:ea typeface="Calibri" pitchFamily="34" charset="-122"/>
                <a:cs typeface="Calibri" pitchFamily="34" charset="-120"/>
              </a:rPr>
              <a:t>3</a:t>
            </a:r>
            <a:endParaRPr lang="en-US" sz="900" dirty="0"/>
          </a:p>
        </p:txBody>
      </p:sp>
      <p:sp>
        <p:nvSpPr>
          <p:cNvPr id="13" name="Text 11"/>
          <p:cNvSpPr/>
          <p:nvPr/>
        </p:nvSpPr>
        <p:spPr>
          <a:xfrm>
            <a:off x="731520" y="1755648"/>
            <a:ext cx="8229600" cy="310896"/>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Mirsky, Y. et al. Kitsune: An Ensemble of Autoencoders for Online Network Intrusion Detection. NDSS, 2018.</a:t>
            </a:r>
            <a:endParaRPr lang="en-US" sz="950" dirty="0"/>
          </a:p>
        </p:txBody>
      </p:sp>
      <p:sp>
        <p:nvSpPr>
          <p:cNvPr id="14" name="Shape 12"/>
          <p:cNvSpPr/>
          <p:nvPr/>
        </p:nvSpPr>
        <p:spPr>
          <a:xfrm>
            <a:off x="320040" y="2194560"/>
            <a:ext cx="320040" cy="329184"/>
          </a:xfrm>
          <a:prstGeom prst="rect">
            <a:avLst/>
          </a:prstGeom>
          <a:solidFill>
            <a:srgbClr val="B0D4F1">
              <a:alpha val="75000"/>
            </a:srgbClr>
          </a:solidFill>
          <a:ln w="6350">
            <a:solidFill>
              <a:srgbClr val="B0D4F1"/>
            </a:solidFill>
            <a:prstDash val="solid"/>
          </a:ln>
        </p:spPr>
      </p:sp>
      <p:sp>
        <p:nvSpPr>
          <p:cNvPr id="15" name="Text 13"/>
          <p:cNvSpPr/>
          <p:nvPr/>
        </p:nvSpPr>
        <p:spPr>
          <a:xfrm>
            <a:off x="320040" y="2194560"/>
            <a:ext cx="320040" cy="329184"/>
          </a:xfrm>
          <a:prstGeom prst="rect">
            <a:avLst/>
          </a:prstGeom>
          <a:noFill/>
          <a:ln/>
        </p:spPr>
        <p:txBody>
          <a:bodyPr wrap="square" rtlCol="0" anchor="ctr"/>
          <a:lstStyle/>
          <a:p>
            <a:pPr algn="ctr" indent="0" marL="0">
              <a:buNone/>
            </a:pPr>
            <a:r>
              <a:rPr lang="en-US" sz="900" b="1" dirty="0">
                <a:solidFill>
                  <a:srgbClr val="B0D4F1"/>
                </a:solidFill>
                <a:latin typeface="Calibri" pitchFamily="34" charset="0"/>
                <a:ea typeface="Calibri" pitchFamily="34" charset="-122"/>
                <a:cs typeface="Calibri" pitchFamily="34" charset="-120"/>
              </a:rPr>
              <a:t>4</a:t>
            </a:r>
            <a:endParaRPr lang="en-US" sz="900" dirty="0"/>
          </a:p>
        </p:txBody>
      </p:sp>
      <p:sp>
        <p:nvSpPr>
          <p:cNvPr id="16" name="Text 14"/>
          <p:cNvSpPr/>
          <p:nvPr/>
        </p:nvSpPr>
        <p:spPr>
          <a:xfrm>
            <a:off x="731520" y="2212848"/>
            <a:ext cx="8229600" cy="310896"/>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Python Software Foundation. Python Programming Language Documentation.</a:t>
            </a:r>
            <a:endParaRPr lang="en-US" sz="950" dirty="0"/>
          </a:p>
        </p:txBody>
      </p:sp>
      <p:sp>
        <p:nvSpPr>
          <p:cNvPr id="17" name="Shape 15"/>
          <p:cNvSpPr/>
          <p:nvPr/>
        </p:nvSpPr>
        <p:spPr>
          <a:xfrm>
            <a:off x="320040" y="2651760"/>
            <a:ext cx="320040" cy="329184"/>
          </a:xfrm>
          <a:prstGeom prst="rect">
            <a:avLst/>
          </a:prstGeom>
          <a:solidFill>
            <a:srgbClr val="B0D4F1">
              <a:alpha val="75000"/>
            </a:srgbClr>
          </a:solidFill>
          <a:ln w="6350">
            <a:solidFill>
              <a:srgbClr val="B0D4F1"/>
            </a:solidFill>
            <a:prstDash val="solid"/>
          </a:ln>
        </p:spPr>
      </p:sp>
      <p:sp>
        <p:nvSpPr>
          <p:cNvPr id="18" name="Text 16"/>
          <p:cNvSpPr/>
          <p:nvPr/>
        </p:nvSpPr>
        <p:spPr>
          <a:xfrm>
            <a:off x="320040" y="2651760"/>
            <a:ext cx="320040" cy="329184"/>
          </a:xfrm>
          <a:prstGeom prst="rect">
            <a:avLst/>
          </a:prstGeom>
          <a:noFill/>
          <a:ln/>
        </p:spPr>
        <p:txBody>
          <a:bodyPr wrap="square" rtlCol="0" anchor="ctr"/>
          <a:lstStyle/>
          <a:p>
            <a:pPr algn="ctr" indent="0" marL="0">
              <a:buNone/>
            </a:pPr>
            <a:r>
              <a:rPr lang="en-US" sz="900" b="1" dirty="0">
                <a:solidFill>
                  <a:srgbClr val="B0D4F1"/>
                </a:solidFill>
                <a:latin typeface="Calibri" pitchFamily="34" charset="0"/>
                <a:ea typeface="Calibri" pitchFamily="34" charset="-122"/>
                <a:cs typeface="Calibri" pitchFamily="34" charset="-120"/>
              </a:rPr>
              <a:t>5</a:t>
            </a:r>
            <a:endParaRPr lang="en-US" sz="900" dirty="0"/>
          </a:p>
        </p:txBody>
      </p:sp>
      <p:sp>
        <p:nvSpPr>
          <p:cNvPr id="19" name="Text 17"/>
          <p:cNvSpPr/>
          <p:nvPr/>
        </p:nvSpPr>
        <p:spPr>
          <a:xfrm>
            <a:off x="731520" y="2670048"/>
            <a:ext cx="8229600" cy="310896"/>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Pedregosa et al. Scikit-learn: Machine Learning in Python. Used for normalization and metrics.</a:t>
            </a:r>
            <a:endParaRPr lang="en-US" sz="950" dirty="0"/>
          </a:p>
        </p:txBody>
      </p:sp>
      <p:sp>
        <p:nvSpPr>
          <p:cNvPr id="20" name="Shape 18"/>
          <p:cNvSpPr/>
          <p:nvPr/>
        </p:nvSpPr>
        <p:spPr>
          <a:xfrm>
            <a:off x="320040" y="3108960"/>
            <a:ext cx="320040" cy="329184"/>
          </a:xfrm>
          <a:prstGeom prst="rect">
            <a:avLst/>
          </a:prstGeom>
          <a:solidFill>
            <a:srgbClr val="B0D4F1">
              <a:alpha val="75000"/>
            </a:srgbClr>
          </a:solidFill>
          <a:ln w="6350">
            <a:solidFill>
              <a:srgbClr val="B0D4F1"/>
            </a:solidFill>
            <a:prstDash val="solid"/>
          </a:ln>
        </p:spPr>
      </p:sp>
      <p:sp>
        <p:nvSpPr>
          <p:cNvPr id="21" name="Text 19"/>
          <p:cNvSpPr/>
          <p:nvPr/>
        </p:nvSpPr>
        <p:spPr>
          <a:xfrm>
            <a:off x="320040" y="3108960"/>
            <a:ext cx="320040" cy="329184"/>
          </a:xfrm>
          <a:prstGeom prst="rect">
            <a:avLst/>
          </a:prstGeom>
          <a:noFill/>
          <a:ln/>
        </p:spPr>
        <p:txBody>
          <a:bodyPr wrap="square" rtlCol="0" anchor="ctr"/>
          <a:lstStyle/>
          <a:p>
            <a:pPr algn="ctr" indent="0" marL="0">
              <a:buNone/>
            </a:pPr>
            <a:r>
              <a:rPr lang="en-US" sz="900" b="1" dirty="0">
                <a:solidFill>
                  <a:srgbClr val="B0D4F1"/>
                </a:solidFill>
                <a:latin typeface="Calibri" pitchFamily="34" charset="0"/>
                <a:ea typeface="Calibri" pitchFamily="34" charset="-122"/>
                <a:cs typeface="Calibri" pitchFamily="34" charset="-120"/>
              </a:rPr>
              <a:t>6</a:t>
            </a:r>
            <a:endParaRPr lang="en-US" sz="900" dirty="0"/>
          </a:p>
        </p:txBody>
      </p:sp>
      <p:sp>
        <p:nvSpPr>
          <p:cNvPr id="22" name="Text 20"/>
          <p:cNvSpPr/>
          <p:nvPr/>
        </p:nvSpPr>
        <p:spPr>
          <a:xfrm>
            <a:off x="731520" y="3127248"/>
            <a:ext cx="8229600" cy="310896"/>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McKinney, W. Pandas Library Documentation. Used for dataset handling and analysis.</a:t>
            </a:r>
            <a:endParaRPr lang="en-US" sz="950" dirty="0"/>
          </a:p>
        </p:txBody>
      </p:sp>
      <p:sp>
        <p:nvSpPr>
          <p:cNvPr id="23" name="Shape 21"/>
          <p:cNvSpPr/>
          <p:nvPr/>
        </p:nvSpPr>
        <p:spPr>
          <a:xfrm>
            <a:off x="320040" y="3566160"/>
            <a:ext cx="320040" cy="329184"/>
          </a:xfrm>
          <a:prstGeom prst="rect">
            <a:avLst/>
          </a:prstGeom>
          <a:solidFill>
            <a:srgbClr val="B0D4F1">
              <a:alpha val="75000"/>
            </a:srgbClr>
          </a:solidFill>
          <a:ln w="6350">
            <a:solidFill>
              <a:srgbClr val="B0D4F1"/>
            </a:solidFill>
            <a:prstDash val="solid"/>
          </a:ln>
        </p:spPr>
      </p:sp>
      <p:sp>
        <p:nvSpPr>
          <p:cNvPr id="24" name="Text 22"/>
          <p:cNvSpPr/>
          <p:nvPr/>
        </p:nvSpPr>
        <p:spPr>
          <a:xfrm>
            <a:off x="320040" y="3566160"/>
            <a:ext cx="320040" cy="329184"/>
          </a:xfrm>
          <a:prstGeom prst="rect">
            <a:avLst/>
          </a:prstGeom>
          <a:noFill/>
          <a:ln/>
        </p:spPr>
        <p:txBody>
          <a:bodyPr wrap="square" rtlCol="0" anchor="ctr"/>
          <a:lstStyle/>
          <a:p>
            <a:pPr algn="ctr" indent="0" marL="0">
              <a:buNone/>
            </a:pPr>
            <a:r>
              <a:rPr lang="en-US" sz="900" b="1" dirty="0">
                <a:solidFill>
                  <a:srgbClr val="B0D4F1"/>
                </a:solidFill>
                <a:latin typeface="Calibri" pitchFamily="34" charset="0"/>
                <a:ea typeface="Calibri" pitchFamily="34" charset="-122"/>
                <a:cs typeface="Calibri" pitchFamily="34" charset="-120"/>
              </a:rPr>
              <a:t>7</a:t>
            </a:r>
            <a:endParaRPr lang="en-US" sz="900" dirty="0"/>
          </a:p>
        </p:txBody>
      </p:sp>
      <p:sp>
        <p:nvSpPr>
          <p:cNvPr id="25" name="Text 23"/>
          <p:cNvSpPr/>
          <p:nvPr/>
        </p:nvSpPr>
        <p:spPr>
          <a:xfrm>
            <a:off x="731520" y="3584448"/>
            <a:ext cx="8229600" cy="310896"/>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Wireshark Foundation. TShark Command-Line Packet Analyzer Documentation.</a:t>
            </a:r>
            <a:endParaRPr lang="en-US" sz="950" dirty="0"/>
          </a:p>
        </p:txBody>
      </p:sp>
      <p:sp>
        <p:nvSpPr>
          <p:cNvPr id="26" name="Shape 24"/>
          <p:cNvSpPr/>
          <p:nvPr/>
        </p:nvSpPr>
        <p:spPr>
          <a:xfrm>
            <a:off x="320040" y="4023360"/>
            <a:ext cx="320040" cy="329184"/>
          </a:xfrm>
          <a:prstGeom prst="rect">
            <a:avLst/>
          </a:prstGeom>
          <a:solidFill>
            <a:srgbClr val="00FF9D">
              <a:alpha val="75000"/>
            </a:srgbClr>
          </a:solidFill>
          <a:ln w="6350">
            <a:solidFill>
              <a:srgbClr val="00FF9D"/>
            </a:solidFill>
            <a:prstDash val="solid"/>
          </a:ln>
        </p:spPr>
      </p:sp>
      <p:sp>
        <p:nvSpPr>
          <p:cNvPr id="27" name="Text 25"/>
          <p:cNvSpPr/>
          <p:nvPr/>
        </p:nvSpPr>
        <p:spPr>
          <a:xfrm>
            <a:off x="320040" y="4023360"/>
            <a:ext cx="320040" cy="329184"/>
          </a:xfrm>
          <a:prstGeom prst="rect">
            <a:avLst/>
          </a:prstGeom>
          <a:noFill/>
          <a:ln/>
        </p:spPr>
        <p:txBody>
          <a:bodyPr wrap="square" rtlCol="0" anchor="ctr"/>
          <a:lstStyle/>
          <a:p>
            <a:pPr algn="ctr" indent="0" marL="0">
              <a:buNone/>
            </a:pPr>
            <a:r>
              <a:rPr lang="en-US" sz="900" b="1" dirty="0">
                <a:solidFill>
                  <a:srgbClr val="00FF9D"/>
                </a:solidFill>
                <a:latin typeface="Calibri" pitchFamily="34" charset="0"/>
                <a:ea typeface="Calibri" pitchFamily="34" charset="-122"/>
                <a:cs typeface="Calibri" pitchFamily="34" charset="-120"/>
              </a:rPr>
              <a:t>8</a:t>
            </a:r>
            <a:endParaRPr lang="en-US" sz="900" dirty="0"/>
          </a:p>
        </p:txBody>
      </p:sp>
      <p:sp>
        <p:nvSpPr>
          <p:cNvPr id="28" name="Text 26"/>
          <p:cNvSpPr/>
          <p:nvPr/>
        </p:nvSpPr>
        <p:spPr>
          <a:xfrm>
            <a:off x="731520" y="4041648"/>
            <a:ext cx="8229600" cy="310896"/>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OpenAI. ChatGPT — Debugging assistance, technical explanations, and documentation support.</a:t>
            </a:r>
            <a:endParaRPr lang="en-US" sz="950" dirty="0"/>
          </a:p>
        </p:txBody>
      </p:sp>
      <p:sp>
        <p:nvSpPr>
          <p:cNvPr id="29" name="Shape 27"/>
          <p:cNvSpPr/>
          <p:nvPr/>
        </p:nvSpPr>
        <p:spPr>
          <a:xfrm>
            <a:off x="320040" y="4480560"/>
            <a:ext cx="320040" cy="329184"/>
          </a:xfrm>
          <a:prstGeom prst="rect">
            <a:avLst/>
          </a:prstGeom>
          <a:solidFill>
            <a:srgbClr val="00FF9D">
              <a:alpha val="75000"/>
            </a:srgbClr>
          </a:solidFill>
          <a:ln w="6350">
            <a:solidFill>
              <a:srgbClr val="00FF9D"/>
            </a:solidFill>
            <a:prstDash val="solid"/>
          </a:ln>
        </p:spPr>
      </p:sp>
      <p:sp>
        <p:nvSpPr>
          <p:cNvPr id="30" name="Text 28"/>
          <p:cNvSpPr/>
          <p:nvPr/>
        </p:nvSpPr>
        <p:spPr>
          <a:xfrm>
            <a:off x="320040" y="4480560"/>
            <a:ext cx="320040" cy="329184"/>
          </a:xfrm>
          <a:prstGeom prst="rect">
            <a:avLst/>
          </a:prstGeom>
          <a:noFill/>
          <a:ln/>
        </p:spPr>
        <p:txBody>
          <a:bodyPr wrap="square" rtlCol="0" anchor="ctr"/>
          <a:lstStyle/>
          <a:p>
            <a:pPr algn="ctr" indent="0" marL="0">
              <a:buNone/>
            </a:pPr>
            <a:r>
              <a:rPr lang="en-US" sz="900" b="1" dirty="0">
                <a:solidFill>
                  <a:srgbClr val="00FF9D"/>
                </a:solidFill>
                <a:latin typeface="Calibri" pitchFamily="34" charset="0"/>
                <a:ea typeface="Calibri" pitchFamily="34" charset="-122"/>
                <a:cs typeface="Calibri" pitchFamily="34" charset="-120"/>
              </a:rPr>
              <a:t>9</a:t>
            </a:r>
            <a:endParaRPr lang="en-US" sz="900" dirty="0"/>
          </a:p>
        </p:txBody>
      </p:sp>
      <p:sp>
        <p:nvSpPr>
          <p:cNvPr id="31" name="Text 29"/>
          <p:cNvSpPr/>
          <p:nvPr/>
        </p:nvSpPr>
        <p:spPr>
          <a:xfrm>
            <a:off x="731520" y="4498848"/>
            <a:ext cx="8229600" cy="310896"/>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Google. Gemini — Ideation, explanations, and project workflow assistance.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51429"/>
          </a:solidFill>
          <a:ln w="12700">
            <a:solidFill>
              <a:srgbClr val="051429"/>
            </a:solidFill>
            <a:prstDash val="solid"/>
          </a:ln>
        </p:spPr>
      </p:sp>
      <p:sp>
        <p:nvSpPr>
          <p:cNvPr id="3" name="Shape 1"/>
          <p:cNvSpPr/>
          <p:nvPr/>
        </p:nvSpPr>
        <p:spPr>
          <a:xfrm>
            <a:off x="0" y="658368"/>
            <a:ext cx="9144000" cy="36576"/>
          </a:xfrm>
          <a:prstGeom prst="rect">
            <a:avLst/>
          </a:prstGeom>
          <a:solidFill>
            <a:srgbClr val="00FF9D"/>
          </a:solidFill>
          <a:ln w="12700">
            <a:solidFill>
              <a:srgbClr val="00FF9D"/>
            </a:solidFill>
            <a:prstDash val="solid"/>
          </a:ln>
        </p:spPr>
      </p:sp>
      <p:sp>
        <p:nvSpPr>
          <p:cNvPr id="4" name="Text 2"/>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AI TOOLS USED</a:t>
            </a:r>
            <a:endParaRPr lang="en-US" sz="2200" dirty="0"/>
          </a:p>
        </p:txBody>
      </p:sp>
      <p:sp>
        <p:nvSpPr>
          <p:cNvPr id="5" name="Shape 3"/>
          <p:cNvSpPr/>
          <p:nvPr/>
        </p:nvSpPr>
        <p:spPr>
          <a:xfrm>
            <a:off x="320040" y="841248"/>
            <a:ext cx="4114800" cy="1371600"/>
          </a:xfrm>
          <a:prstGeom prst="rect">
            <a:avLst/>
          </a:prstGeom>
          <a:solidFill>
            <a:srgbClr val="111C35"/>
          </a:solidFill>
          <a:ln w="25400">
            <a:solidFill>
              <a:srgbClr val="00D4FF"/>
            </a:solidFill>
            <a:prstDash val="solid"/>
          </a:ln>
        </p:spPr>
      </p:sp>
      <p:sp>
        <p:nvSpPr>
          <p:cNvPr id="6" name="Text 4"/>
          <p:cNvSpPr/>
          <p:nvPr/>
        </p:nvSpPr>
        <p:spPr>
          <a:xfrm>
            <a:off x="457200" y="914400"/>
            <a:ext cx="822960" cy="822960"/>
          </a:xfrm>
          <a:prstGeom prst="rect">
            <a:avLst/>
          </a:prstGeom>
          <a:noFill/>
          <a:ln/>
        </p:spPr>
        <p:txBody>
          <a:bodyPr wrap="square" rtlCol="0" anchor="ctr"/>
          <a:lstStyle/>
          <a:p>
            <a:pPr algn="ctr" indent="0" marL="0">
              <a:buNone/>
            </a:pPr>
            <a:r>
              <a:rPr lang="en-US" sz="3800" dirty="0">
                <a:solidFill>
                  <a:srgbClr val="000000"/>
                </a:solidFill>
                <a:latin typeface="Calibri" pitchFamily="34" charset="0"/>
                <a:ea typeface="Calibri" pitchFamily="34" charset="-122"/>
                <a:cs typeface="Calibri" pitchFamily="34" charset="-120"/>
              </a:rPr>
              <a:t>🤖</a:t>
            </a:r>
            <a:endParaRPr lang="en-US" sz="3800" dirty="0"/>
          </a:p>
        </p:txBody>
      </p:sp>
      <p:sp>
        <p:nvSpPr>
          <p:cNvPr id="7" name="Text 5"/>
          <p:cNvSpPr/>
          <p:nvPr/>
        </p:nvSpPr>
        <p:spPr>
          <a:xfrm>
            <a:off x="1325880" y="1005840"/>
            <a:ext cx="2926080" cy="411480"/>
          </a:xfrm>
          <a:prstGeom prst="rect">
            <a:avLst/>
          </a:prstGeom>
          <a:noFill/>
          <a:ln/>
        </p:spPr>
        <p:txBody>
          <a:bodyPr wrap="square" rtlCol="0" anchor="ctr"/>
          <a:lstStyle/>
          <a:p>
            <a:pPr indent="0" marL="0">
              <a:buNone/>
            </a:pPr>
            <a:r>
              <a:rPr lang="en-US" sz="2200" b="1" dirty="0">
                <a:solidFill>
                  <a:srgbClr val="00D4FF"/>
                </a:solidFill>
                <a:latin typeface="Calibri" pitchFamily="34" charset="0"/>
                <a:ea typeface="Calibri" pitchFamily="34" charset="-122"/>
                <a:cs typeface="Calibri" pitchFamily="34" charset="-120"/>
              </a:rPr>
              <a:t>ChatGPT</a:t>
            </a:r>
            <a:endParaRPr lang="en-US" sz="2200" dirty="0"/>
          </a:p>
        </p:txBody>
      </p:sp>
      <p:sp>
        <p:nvSpPr>
          <p:cNvPr id="8" name="Text 6"/>
          <p:cNvSpPr/>
          <p:nvPr/>
        </p:nvSpPr>
        <p:spPr>
          <a:xfrm>
            <a:off x="1325880" y="1426464"/>
            <a:ext cx="2926080" cy="274320"/>
          </a:xfrm>
          <a:prstGeom prst="rect">
            <a:avLst/>
          </a:prstGeom>
          <a:noFill/>
          <a:ln/>
        </p:spPr>
        <p:txBody>
          <a:bodyPr wrap="square" rtlCol="0" anchor="ctr"/>
          <a:lstStyle/>
          <a:p>
            <a:pPr indent="0" marL="0">
              <a:buNone/>
            </a:pPr>
            <a:r>
              <a:rPr lang="en-US" sz="1200" dirty="0">
                <a:solidFill>
                  <a:srgbClr val="8899AA"/>
                </a:solidFill>
                <a:latin typeface="Calibri" pitchFamily="34" charset="0"/>
                <a:ea typeface="Calibri" pitchFamily="34" charset="-122"/>
                <a:cs typeface="Calibri" pitchFamily="34" charset="-120"/>
              </a:rPr>
              <a:t>OpenAI</a:t>
            </a:r>
            <a:endParaRPr lang="en-US" sz="1200" dirty="0"/>
          </a:p>
        </p:txBody>
      </p:sp>
      <p:sp>
        <p:nvSpPr>
          <p:cNvPr id="9" name="Shape 7"/>
          <p:cNvSpPr/>
          <p:nvPr/>
        </p:nvSpPr>
        <p:spPr>
          <a:xfrm>
            <a:off x="4800600" y="841248"/>
            <a:ext cx="4114800" cy="1371600"/>
          </a:xfrm>
          <a:prstGeom prst="rect">
            <a:avLst/>
          </a:prstGeom>
          <a:solidFill>
            <a:srgbClr val="111C35"/>
          </a:solidFill>
          <a:ln w="25400">
            <a:solidFill>
              <a:srgbClr val="00FF9D"/>
            </a:solidFill>
            <a:prstDash val="solid"/>
          </a:ln>
        </p:spPr>
      </p:sp>
      <p:sp>
        <p:nvSpPr>
          <p:cNvPr id="10" name="Text 8"/>
          <p:cNvSpPr/>
          <p:nvPr/>
        </p:nvSpPr>
        <p:spPr>
          <a:xfrm>
            <a:off x="4937760" y="914400"/>
            <a:ext cx="822960" cy="822960"/>
          </a:xfrm>
          <a:prstGeom prst="rect">
            <a:avLst/>
          </a:prstGeom>
          <a:noFill/>
          <a:ln/>
        </p:spPr>
        <p:txBody>
          <a:bodyPr wrap="square" rtlCol="0" anchor="ctr"/>
          <a:lstStyle/>
          <a:p>
            <a:pPr algn="ctr" indent="0" marL="0">
              <a:buNone/>
            </a:pPr>
            <a:r>
              <a:rPr lang="en-US" sz="3800" dirty="0">
                <a:solidFill>
                  <a:srgbClr val="000000"/>
                </a:solidFill>
                <a:latin typeface="Calibri" pitchFamily="34" charset="0"/>
                <a:ea typeface="Calibri" pitchFamily="34" charset="-122"/>
                <a:cs typeface="Calibri" pitchFamily="34" charset="-120"/>
              </a:rPr>
              <a:t>✨</a:t>
            </a:r>
            <a:endParaRPr lang="en-US" sz="3800" dirty="0"/>
          </a:p>
        </p:txBody>
      </p:sp>
      <p:sp>
        <p:nvSpPr>
          <p:cNvPr id="11" name="Text 9"/>
          <p:cNvSpPr/>
          <p:nvPr/>
        </p:nvSpPr>
        <p:spPr>
          <a:xfrm>
            <a:off x="5806440" y="1005840"/>
            <a:ext cx="2926080" cy="411480"/>
          </a:xfrm>
          <a:prstGeom prst="rect">
            <a:avLst/>
          </a:prstGeom>
          <a:noFill/>
          <a:ln/>
        </p:spPr>
        <p:txBody>
          <a:bodyPr wrap="square" rtlCol="0" anchor="ctr"/>
          <a:lstStyle/>
          <a:p>
            <a:pPr indent="0" marL="0">
              <a:buNone/>
            </a:pPr>
            <a:r>
              <a:rPr lang="en-US" sz="2200" b="1" dirty="0">
                <a:solidFill>
                  <a:srgbClr val="00FF9D"/>
                </a:solidFill>
                <a:latin typeface="Calibri" pitchFamily="34" charset="0"/>
                <a:ea typeface="Calibri" pitchFamily="34" charset="-122"/>
                <a:cs typeface="Calibri" pitchFamily="34" charset="-120"/>
              </a:rPr>
              <a:t>Gemini</a:t>
            </a:r>
            <a:endParaRPr lang="en-US" sz="2200" dirty="0"/>
          </a:p>
        </p:txBody>
      </p:sp>
      <p:sp>
        <p:nvSpPr>
          <p:cNvPr id="12" name="Text 10"/>
          <p:cNvSpPr/>
          <p:nvPr/>
        </p:nvSpPr>
        <p:spPr>
          <a:xfrm>
            <a:off x="5806440" y="1426464"/>
            <a:ext cx="2926080" cy="274320"/>
          </a:xfrm>
          <a:prstGeom prst="rect">
            <a:avLst/>
          </a:prstGeom>
          <a:noFill/>
          <a:ln/>
        </p:spPr>
        <p:txBody>
          <a:bodyPr wrap="square" rtlCol="0" anchor="ctr"/>
          <a:lstStyle/>
          <a:p>
            <a:pPr indent="0" marL="0">
              <a:buNone/>
            </a:pPr>
            <a:r>
              <a:rPr lang="en-US" sz="1200" dirty="0">
                <a:solidFill>
                  <a:srgbClr val="8899AA"/>
                </a:solidFill>
                <a:latin typeface="Calibri" pitchFamily="34" charset="0"/>
                <a:ea typeface="Calibri" pitchFamily="34" charset="-122"/>
                <a:cs typeface="Calibri" pitchFamily="34" charset="-120"/>
              </a:rPr>
              <a:t>Google</a:t>
            </a:r>
            <a:endParaRPr lang="en-US" sz="1200" dirty="0"/>
          </a:p>
        </p:txBody>
      </p:sp>
      <p:sp>
        <p:nvSpPr>
          <p:cNvPr id="13" name="Shape 11"/>
          <p:cNvSpPr/>
          <p:nvPr/>
        </p:nvSpPr>
        <p:spPr>
          <a:xfrm>
            <a:off x="320040" y="2359152"/>
            <a:ext cx="2697480" cy="1097280"/>
          </a:xfrm>
          <a:prstGeom prst="rect">
            <a:avLst/>
          </a:prstGeom>
          <a:solidFill>
            <a:srgbClr val="111C35"/>
          </a:solidFill>
          <a:ln w="12700">
            <a:solidFill>
              <a:srgbClr val="1A3A5C"/>
            </a:solidFill>
            <a:prstDash val="solid"/>
          </a:ln>
        </p:spPr>
      </p:sp>
      <p:sp>
        <p:nvSpPr>
          <p:cNvPr id="14" name="Text 12"/>
          <p:cNvSpPr/>
          <p:nvPr/>
        </p:nvSpPr>
        <p:spPr>
          <a:xfrm>
            <a:off x="411480" y="2450592"/>
            <a:ext cx="2514600" cy="32004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 Coding Assistance</a:t>
            </a:r>
            <a:endParaRPr lang="en-US" sz="1100" dirty="0"/>
          </a:p>
        </p:txBody>
      </p:sp>
      <p:sp>
        <p:nvSpPr>
          <p:cNvPr id="15" name="Text 13"/>
          <p:cNvSpPr/>
          <p:nvPr/>
        </p:nvSpPr>
        <p:spPr>
          <a:xfrm>
            <a:off x="411480" y="2798064"/>
            <a:ext cx="2514600" cy="594360"/>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Script writing, syntax help, and code improvement during preprocessing and evaluation</a:t>
            </a:r>
            <a:endParaRPr lang="en-US" sz="950" dirty="0"/>
          </a:p>
        </p:txBody>
      </p:sp>
      <p:sp>
        <p:nvSpPr>
          <p:cNvPr id="16" name="Shape 14"/>
          <p:cNvSpPr/>
          <p:nvPr/>
        </p:nvSpPr>
        <p:spPr>
          <a:xfrm>
            <a:off x="3246120" y="2359152"/>
            <a:ext cx="2697480" cy="1097280"/>
          </a:xfrm>
          <a:prstGeom prst="rect">
            <a:avLst/>
          </a:prstGeom>
          <a:solidFill>
            <a:srgbClr val="111C35"/>
          </a:solidFill>
          <a:ln w="12700">
            <a:solidFill>
              <a:srgbClr val="1A3A5C"/>
            </a:solidFill>
            <a:prstDash val="solid"/>
          </a:ln>
        </p:spPr>
      </p:sp>
      <p:sp>
        <p:nvSpPr>
          <p:cNvPr id="17" name="Text 15"/>
          <p:cNvSpPr/>
          <p:nvPr/>
        </p:nvSpPr>
        <p:spPr>
          <a:xfrm>
            <a:off x="3337560" y="2450592"/>
            <a:ext cx="2514600" cy="32004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 Debugging</a:t>
            </a:r>
            <a:endParaRPr lang="en-US" sz="1100" dirty="0"/>
          </a:p>
        </p:txBody>
      </p:sp>
      <p:sp>
        <p:nvSpPr>
          <p:cNvPr id="18" name="Text 16"/>
          <p:cNvSpPr/>
          <p:nvPr/>
        </p:nvSpPr>
        <p:spPr>
          <a:xfrm>
            <a:off x="3337560" y="2798064"/>
            <a:ext cx="2514600" cy="594360"/>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Fixing dependency errors, Colab issues, and runtime exceptions</a:t>
            </a:r>
            <a:endParaRPr lang="en-US" sz="950" dirty="0"/>
          </a:p>
        </p:txBody>
      </p:sp>
      <p:sp>
        <p:nvSpPr>
          <p:cNvPr id="19" name="Shape 17"/>
          <p:cNvSpPr/>
          <p:nvPr/>
        </p:nvSpPr>
        <p:spPr>
          <a:xfrm>
            <a:off x="6172200" y="2359152"/>
            <a:ext cx="2697480" cy="1097280"/>
          </a:xfrm>
          <a:prstGeom prst="rect">
            <a:avLst/>
          </a:prstGeom>
          <a:solidFill>
            <a:srgbClr val="111C35"/>
          </a:solidFill>
          <a:ln w="12700">
            <a:solidFill>
              <a:srgbClr val="1A3A5C"/>
            </a:solidFill>
            <a:prstDash val="solid"/>
          </a:ln>
        </p:spPr>
      </p:sp>
      <p:sp>
        <p:nvSpPr>
          <p:cNvPr id="20" name="Text 18"/>
          <p:cNvSpPr/>
          <p:nvPr/>
        </p:nvSpPr>
        <p:spPr>
          <a:xfrm>
            <a:off x="6263640" y="2450592"/>
            <a:ext cx="2514600" cy="32004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 Framework Understanding</a:t>
            </a:r>
            <a:endParaRPr lang="en-US" sz="1100" dirty="0"/>
          </a:p>
        </p:txBody>
      </p:sp>
      <p:sp>
        <p:nvSpPr>
          <p:cNvPr id="21" name="Text 19"/>
          <p:cNvSpPr/>
          <p:nvPr/>
        </p:nvSpPr>
        <p:spPr>
          <a:xfrm>
            <a:off x="6263640" y="2798064"/>
            <a:ext cx="2514600" cy="594360"/>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Explaining Kitsune internals, autoencoder concepts, and workflow logic</a:t>
            </a:r>
            <a:endParaRPr lang="en-US" sz="950" dirty="0"/>
          </a:p>
        </p:txBody>
      </p:sp>
      <p:sp>
        <p:nvSpPr>
          <p:cNvPr id="22" name="Shape 20"/>
          <p:cNvSpPr/>
          <p:nvPr/>
        </p:nvSpPr>
        <p:spPr>
          <a:xfrm>
            <a:off x="320040" y="3639312"/>
            <a:ext cx="2697480" cy="1097280"/>
          </a:xfrm>
          <a:prstGeom prst="rect">
            <a:avLst/>
          </a:prstGeom>
          <a:solidFill>
            <a:srgbClr val="111C35"/>
          </a:solidFill>
          <a:ln w="12700">
            <a:solidFill>
              <a:srgbClr val="1A3A5C"/>
            </a:solidFill>
            <a:prstDash val="solid"/>
          </a:ln>
        </p:spPr>
      </p:sp>
      <p:sp>
        <p:nvSpPr>
          <p:cNvPr id="23" name="Text 21"/>
          <p:cNvSpPr/>
          <p:nvPr/>
        </p:nvSpPr>
        <p:spPr>
          <a:xfrm>
            <a:off x="411480" y="3730752"/>
            <a:ext cx="2514600" cy="32004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 Data Preprocessing</a:t>
            </a:r>
            <a:endParaRPr lang="en-US" sz="1100" dirty="0"/>
          </a:p>
        </p:txBody>
      </p:sp>
      <p:sp>
        <p:nvSpPr>
          <p:cNvPr id="24" name="Text 22"/>
          <p:cNvSpPr/>
          <p:nvPr/>
        </p:nvSpPr>
        <p:spPr>
          <a:xfrm>
            <a:off x="411480" y="4078224"/>
            <a:ext cx="2514600" cy="594360"/>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Suggestions for handling 115-feature formatting and normalization steps</a:t>
            </a:r>
            <a:endParaRPr lang="en-US" sz="950" dirty="0"/>
          </a:p>
        </p:txBody>
      </p:sp>
      <p:sp>
        <p:nvSpPr>
          <p:cNvPr id="25" name="Shape 23"/>
          <p:cNvSpPr/>
          <p:nvPr/>
        </p:nvSpPr>
        <p:spPr>
          <a:xfrm>
            <a:off x="3246120" y="3639312"/>
            <a:ext cx="2697480" cy="1097280"/>
          </a:xfrm>
          <a:prstGeom prst="rect">
            <a:avLst/>
          </a:prstGeom>
          <a:solidFill>
            <a:srgbClr val="111C35"/>
          </a:solidFill>
          <a:ln w="12700">
            <a:solidFill>
              <a:srgbClr val="1A3A5C"/>
            </a:solidFill>
            <a:prstDash val="solid"/>
          </a:ln>
        </p:spPr>
      </p:sp>
      <p:sp>
        <p:nvSpPr>
          <p:cNvPr id="26" name="Text 24"/>
          <p:cNvSpPr/>
          <p:nvPr/>
        </p:nvSpPr>
        <p:spPr>
          <a:xfrm>
            <a:off x="3337560" y="3730752"/>
            <a:ext cx="2514600" cy="32004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 Documentation</a:t>
            </a:r>
            <a:endParaRPr lang="en-US" sz="1100" dirty="0"/>
          </a:p>
        </p:txBody>
      </p:sp>
      <p:sp>
        <p:nvSpPr>
          <p:cNvPr id="27" name="Text 25"/>
          <p:cNvSpPr/>
          <p:nvPr/>
        </p:nvSpPr>
        <p:spPr>
          <a:xfrm>
            <a:off x="3337560" y="4078224"/>
            <a:ext cx="2514600" cy="594360"/>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Report writing, README generation, and result interpretation support</a:t>
            </a:r>
            <a:endParaRPr lang="en-US" sz="950" dirty="0"/>
          </a:p>
        </p:txBody>
      </p:sp>
      <p:sp>
        <p:nvSpPr>
          <p:cNvPr id="28" name="Shape 26"/>
          <p:cNvSpPr/>
          <p:nvPr/>
        </p:nvSpPr>
        <p:spPr>
          <a:xfrm>
            <a:off x="6172200" y="3639312"/>
            <a:ext cx="2697480" cy="1097280"/>
          </a:xfrm>
          <a:prstGeom prst="rect">
            <a:avLst/>
          </a:prstGeom>
          <a:solidFill>
            <a:srgbClr val="111C35"/>
          </a:solidFill>
          <a:ln w="12700">
            <a:solidFill>
              <a:srgbClr val="1A3A5C"/>
            </a:solidFill>
            <a:prstDash val="solid"/>
          </a:ln>
        </p:spPr>
      </p:sp>
      <p:sp>
        <p:nvSpPr>
          <p:cNvPr id="29" name="Text 27"/>
          <p:cNvSpPr/>
          <p:nvPr/>
        </p:nvSpPr>
        <p:spPr>
          <a:xfrm>
            <a:off x="6263640" y="3730752"/>
            <a:ext cx="2514600" cy="32004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 Prompt Records</a:t>
            </a:r>
            <a:endParaRPr lang="en-US" sz="1100" dirty="0"/>
          </a:p>
        </p:txBody>
      </p:sp>
      <p:sp>
        <p:nvSpPr>
          <p:cNvPr id="30" name="Text 28"/>
          <p:cNvSpPr/>
          <p:nvPr/>
        </p:nvSpPr>
        <p:spPr>
          <a:xfrm>
            <a:off x="6263640" y="4078224"/>
            <a:ext cx="2514600" cy="594360"/>
          </a:xfrm>
          <a:prstGeom prst="rect">
            <a:avLst/>
          </a:prstGeom>
          <a:noFill/>
          <a:ln/>
        </p:spPr>
        <p:txBody>
          <a:bodyPr wrap="square" rtlCol="0" anchor="ctr"/>
          <a:lstStyle/>
          <a:p>
            <a:pPr indent="0" marL="0">
              <a:buNone/>
            </a:pPr>
            <a:r>
              <a:rPr lang="en-US" sz="950" dirty="0">
                <a:solidFill>
                  <a:srgbClr val="B0D4F1"/>
                </a:solidFill>
                <a:latin typeface="Calibri" pitchFamily="34" charset="0"/>
                <a:ea typeface="Calibri" pitchFamily="34" charset="-122"/>
                <a:cs typeface="Calibri" pitchFamily="34" charset="-120"/>
              </a:rPr>
              <a:t>All prompts stored in LLM_Prompts/ folder per submission requirements</a:t>
            </a:r>
            <a:endParaRPr lang="en-US" sz="950" dirty="0"/>
          </a:p>
        </p:txBody>
      </p:sp>
      <p:sp>
        <p:nvSpPr>
          <p:cNvPr id="31" name="Text 29"/>
          <p:cNvSpPr/>
          <p:nvPr/>
        </p:nvSpPr>
        <p:spPr>
          <a:xfrm>
            <a:off x="320040" y="4754880"/>
            <a:ext cx="8503920" cy="256032"/>
          </a:xfrm>
          <a:prstGeom prst="rect">
            <a:avLst/>
          </a:prstGeom>
          <a:noFill/>
          <a:ln/>
        </p:spPr>
        <p:txBody>
          <a:bodyPr wrap="square" rtlCol="0" anchor="ctr"/>
          <a:lstStyle/>
          <a:p>
            <a:pPr algn="ctr" indent="0" marL="0">
              <a:buNone/>
            </a:pPr>
            <a:r>
              <a:rPr lang="en-US" sz="850" i="1" dirty="0">
                <a:solidFill>
                  <a:srgbClr val="8899AA"/>
                </a:solidFill>
                <a:latin typeface="Calibri" pitchFamily="34" charset="0"/>
                <a:ea typeface="Calibri" pitchFamily="34" charset="-122"/>
                <a:cs typeface="Calibri" pitchFamily="34" charset="-120"/>
              </a:rPr>
              <a:t>Note: All final implementation decisions, testing, and verification were carried out by the project team.</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Anomaly Detection using Kitsune Framework</dc:title>
  <dc:subject>PptxGenJS Presentation</dc:subject>
  <dc:creator>PptxGenJS</dc:creator>
  <cp:lastModifiedBy>PptxGenJS</cp:lastModifiedBy>
  <cp:revision>1</cp:revision>
  <dcterms:created xsi:type="dcterms:W3CDTF">2026-05-09T04:35:23Z</dcterms:created>
  <dcterms:modified xsi:type="dcterms:W3CDTF">2026-05-09T04:35:23Z</dcterms:modified>
</cp:coreProperties>
</file>